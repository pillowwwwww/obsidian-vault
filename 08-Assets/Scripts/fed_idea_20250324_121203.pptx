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1" r:id="rId2"/>
    <p:sldId id="262" r:id="rId3"/>
    <p:sldId id="266" r:id="rId4"/>
    <p:sldId id="265" r:id="rId5"/>
    <p:sldId id="263" r:id="rId6"/>
    <p:sldId id="267" r:id="rId7"/>
    <p:sldId id="268" r:id="rId8"/>
    <p:sldId id="264" r:id="rId9"/>
    <p:sldId id="269"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85" userDrawn="1">
          <p15:clr>
            <a:srgbClr val="A4A3A4"/>
          </p15:clr>
        </p15:guide>
        <p15:guide id="2" pos="50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4E3"/>
    <a:srgbClr val="F0746E"/>
    <a:srgbClr val="969FFB"/>
    <a:srgbClr val="089099"/>
    <a:srgbClr val="7C1D6F"/>
    <a:srgbClr val="C00300"/>
    <a:srgbClr val="9BD8A8"/>
    <a:srgbClr val="303AF6"/>
    <a:srgbClr val="001E50"/>
    <a:srgbClr val="D7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78475" autoAdjust="0"/>
  </p:normalViewPr>
  <p:slideViewPr>
    <p:cSldViewPr snapToGrid="0" showGuides="1">
      <p:cViewPr varScale="1">
        <p:scale>
          <a:sx n="124" d="100"/>
          <a:sy n="124" d="100"/>
        </p:scale>
        <p:origin x="1644" y="108"/>
      </p:cViewPr>
      <p:guideLst>
        <p:guide orient="horz" pos="3385"/>
        <p:guide pos="50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3BE9D-ED3A-425C-B66C-44C4E2604C3D}" type="datetimeFigureOut">
              <a:rPr lang="zh-CN" altLang="en-US" smtClean="0"/>
              <a:t>2025/4/22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2A5E6A-83C3-4A4D-AF52-F5D0A434169B}" type="slidenum">
              <a:rPr lang="zh-CN" altLang="en-US" smtClean="0"/>
              <a:t>‹#›</a:t>
            </a:fld>
            <a:endParaRPr lang="zh-CN" altLang="en-US"/>
          </a:p>
        </p:txBody>
      </p:sp>
    </p:spTree>
    <p:extLst>
      <p:ext uri="{BB962C8B-B14F-4D97-AF65-F5344CB8AC3E}">
        <p14:creationId xmlns:p14="http://schemas.microsoft.com/office/powerpoint/2010/main" val="2198315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B2A5E6A-83C3-4A4D-AF52-F5D0A434169B}" type="slidenum">
              <a:rPr lang="zh-CN" altLang="en-US" smtClean="0"/>
              <a:t>1</a:t>
            </a:fld>
            <a:endParaRPr lang="zh-CN" altLang="en-US"/>
          </a:p>
        </p:txBody>
      </p:sp>
    </p:spTree>
    <p:extLst>
      <p:ext uri="{BB962C8B-B14F-4D97-AF65-F5344CB8AC3E}">
        <p14:creationId xmlns:p14="http://schemas.microsoft.com/office/powerpoint/2010/main" val="3414581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None/>
            </a:pPr>
            <a:r>
              <a:rPr lang="zh-CN" altLang="en-US" b="1" dirty="0"/>
              <a:t>二、什么是“正交表征”？</a:t>
            </a:r>
          </a:p>
          <a:p>
            <a:pPr>
              <a:buNone/>
            </a:pPr>
            <a:r>
              <a:rPr lang="zh-CN" altLang="en-US" b="1" dirty="0"/>
              <a:t>✅ 定义：</a:t>
            </a:r>
          </a:p>
          <a:p>
            <a:pPr>
              <a:buNone/>
            </a:pPr>
            <a:r>
              <a:rPr lang="zh-CN" altLang="en-US" b="1" dirty="0"/>
              <a:t>正交表征（</a:t>
            </a:r>
            <a:r>
              <a:rPr lang="en-US" altLang="zh-CN" b="1" dirty="0"/>
              <a:t>orthogonal representations</a:t>
            </a:r>
            <a:r>
              <a:rPr lang="zh-CN" altLang="en-US" b="1" dirty="0"/>
              <a:t>）指的是不同模态或不同任务之间的特征表示具有正交性</a:t>
            </a:r>
            <a:r>
              <a:rPr lang="zh-CN" altLang="en-US" dirty="0"/>
              <a:t>，即</a:t>
            </a:r>
            <a:r>
              <a:rPr lang="zh-CN" altLang="en-US" b="1" dirty="0"/>
              <a:t>互不干扰、互不冗余</a:t>
            </a:r>
            <a:r>
              <a:rPr lang="zh-CN" altLang="en-US" dirty="0"/>
              <a:t>。</a:t>
            </a:r>
          </a:p>
          <a:p>
            <a:pPr>
              <a:buNone/>
            </a:pPr>
            <a:r>
              <a:rPr lang="zh-CN" altLang="en-US" dirty="0"/>
              <a:t>数学上，两个向量 </a:t>
            </a:r>
            <a:r>
              <a:rPr lang="en-US" altLang="zh-CN" dirty="0"/>
              <a:t>x </a:t>
            </a:r>
            <a:r>
              <a:rPr lang="zh-CN" altLang="en-US" dirty="0"/>
              <a:t>和 </a:t>
            </a:r>
            <a:r>
              <a:rPr lang="en-US" altLang="zh-CN" dirty="0"/>
              <a:t>y </a:t>
            </a:r>
            <a:r>
              <a:rPr lang="zh-CN" altLang="en-US" dirty="0"/>
              <a:t>满足：</a:t>
            </a:r>
          </a:p>
          <a:p>
            <a:pPr>
              <a:buNone/>
            </a:pPr>
            <a:r>
              <a:rPr lang="en-US" altLang="zh-CN" dirty="0" err="1"/>
              <a:t>xT⋅y</a:t>
            </a:r>
            <a:r>
              <a:rPr lang="en-US" altLang="zh-CN" dirty="0"/>
              <a:t>=0</a:t>
            </a:r>
            <a:r>
              <a:rPr lang="zh-CN" altLang="en-US" dirty="0"/>
              <a:t>（内积为</a:t>
            </a:r>
            <a:r>
              <a:rPr lang="en-US" altLang="zh-CN" dirty="0"/>
              <a:t>0</a:t>
            </a:r>
            <a:r>
              <a:rPr lang="zh-CN" altLang="en-US" dirty="0"/>
              <a:t>）</a:t>
            </a:r>
            <a:r>
              <a:rPr lang="en-US" altLang="zh-CN" dirty="0"/>
              <a:t>xᵀ·y = 0 </a:t>
            </a:r>
            <a:r>
              <a:rPr lang="zh-CN" altLang="en-US" dirty="0"/>
              <a:t>（内积为 </a:t>
            </a:r>
            <a:r>
              <a:rPr lang="en-US" altLang="zh-CN" dirty="0"/>
              <a:t>0</a:t>
            </a:r>
            <a:r>
              <a:rPr lang="zh-CN" altLang="en-US" dirty="0"/>
              <a:t>） </a:t>
            </a:r>
            <a:r>
              <a:rPr lang="en-US" altLang="zh-CN" dirty="0" err="1"/>
              <a:t>xT⋅y</a:t>
            </a:r>
            <a:r>
              <a:rPr lang="en-US" altLang="zh-CN" dirty="0"/>
              <a:t>=0</a:t>
            </a:r>
            <a:r>
              <a:rPr lang="zh-CN" altLang="en-US" dirty="0"/>
              <a:t>（内积为</a:t>
            </a:r>
            <a:r>
              <a:rPr lang="en-US" altLang="zh-CN" dirty="0"/>
              <a:t>0</a:t>
            </a:r>
            <a:r>
              <a:rPr lang="zh-CN" altLang="en-US" dirty="0"/>
              <a:t>） 就说明它们正交，表示在不同的方向上携带信息。</a:t>
            </a:r>
          </a:p>
          <a:p>
            <a:pPr>
              <a:buNone/>
            </a:pPr>
            <a:r>
              <a:rPr lang="zh-CN" altLang="en-US" b="1" dirty="0"/>
              <a:t>✅ 在多模态中的意义：</a:t>
            </a:r>
          </a:p>
          <a:p>
            <a:pPr>
              <a:buFont typeface="Arial" panose="020B0604020202020204" pitchFamily="34" charset="0"/>
              <a:buChar char="•"/>
            </a:pPr>
            <a:r>
              <a:rPr lang="zh-CN" altLang="en-US" b="1" dirty="0"/>
              <a:t>正交性</a:t>
            </a:r>
            <a:r>
              <a:rPr lang="zh-CN" altLang="en-US" dirty="0"/>
              <a:t>帮助模型区分不同模态的“独特信息”；</a:t>
            </a:r>
          </a:p>
          <a:p>
            <a:pPr>
              <a:buFont typeface="Arial" panose="020B0604020202020204" pitchFamily="34" charset="0"/>
              <a:buChar char="•"/>
            </a:pPr>
            <a:r>
              <a:rPr lang="zh-CN" altLang="en-US" dirty="0"/>
              <a:t>它可以避免在融合过程中</a:t>
            </a:r>
            <a:r>
              <a:rPr lang="zh-CN" altLang="en-US" b="1" dirty="0"/>
              <a:t>冗余信息冲突</a:t>
            </a:r>
            <a:r>
              <a:rPr lang="zh-CN" altLang="en-US" dirty="0"/>
              <a:t>，提升融合效率；</a:t>
            </a:r>
          </a:p>
          <a:p>
            <a:pPr>
              <a:buFont typeface="Arial" panose="020B0604020202020204" pitchFamily="34" charset="0"/>
              <a:buChar char="•"/>
            </a:pPr>
            <a:r>
              <a:rPr lang="zh-CN" altLang="en-US" dirty="0"/>
              <a:t>在多模态模型中，合理建模哪些信息是</a:t>
            </a:r>
            <a:r>
              <a:rPr lang="zh-CN" altLang="en-US" b="1" dirty="0"/>
              <a:t>共享的</a:t>
            </a:r>
            <a:r>
              <a:rPr lang="zh-CN" altLang="en-US" dirty="0"/>
              <a:t>，哪些是</a:t>
            </a:r>
            <a:r>
              <a:rPr lang="zh-CN" altLang="en-US" b="1" dirty="0"/>
              <a:t>模态特有的</a:t>
            </a:r>
            <a:r>
              <a:rPr lang="zh-CN" altLang="en-US" dirty="0"/>
              <a:t>，是非常关键的。</a:t>
            </a:r>
          </a:p>
          <a:p>
            <a:pPr>
              <a:buNone/>
            </a:pPr>
            <a:r>
              <a:rPr lang="zh-CN" altLang="en-US" b="1" dirty="0"/>
              <a:t>🔍 三、为什么说 </a:t>
            </a:r>
            <a:r>
              <a:rPr lang="en-US" altLang="zh-CN" b="1" dirty="0" err="1"/>
              <a:t>FedMBridge</a:t>
            </a:r>
            <a:r>
              <a:rPr lang="en-US" altLang="zh-CN" b="1" dirty="0"/>
              <a:t> </a:t>
            </a:r>
            <a:r>
              <a:rPr lang="zh-CN" altLang="en-US" b="1" dirty="0"/>
              <a:t>没有利用这些关系？</a:t>
            </a:r>
          </a:p>
          <a:p>
            <a:pPr>
              <a:buNone/>
            </a:pPr>
            <a:r>
              <a:rPr lang="en-US" altLang="zh-CN" dirty="0" err="1"/>
              <a:t>FedMBridge</a:t>
            </a:r>
            <a:r>
              <a:rPr lang="en-US" altLang="zh-CN" dirty="0"/>
              <a:t> </a:t>
            </a:r>
            <a:r>
              <a:rPr lang="zh-CN" altLang="en-US" dirty="0"/>
              <a:t>的核心是基于 </a:t>
            </a:r>
            <a:r>
              <a:rPr lang="zh-CN" altLang="en-US" b="1" dirty="0"/>
              <a:t>模型结构图（</a:t>
            </a:r>
            <a:r>
              <a:rPr lang="en-US" altLang="zh-CN" b="1" dirty="0"/>
              <a:t>topology</a:t>
            </a:r>
            <a:r>
              <a:rPr lang="zh-CN" altLang="en-US" b="1" dirty="0"/>
              <a:t>）</a:t>
            </a:r>
            <a:r>
              <a:rPr lang="en-US" altLang="zh-CN" b="1" dirty="0"/>
              <a:t>+ </a:t>
            </a:r>
            <a:r>
              <a:rPr lang="zh-CN" altLang="en-US" b="1" dirty="0"/>
              <a:t>任务嵌入</a:t>
            </a:r>
            <a:r>
              <a:rPr lang="zh-CN" altLang="en-US" dirty="0"/>
              <a:t> 构建桥接函数 </a:t>
            </a:r>
            <a:r>
              <a:rPr lang="en-US" altLang="zh-CN" dirty="0"/>
              <a:t>h(Aᵢ, cᵢ; φ) </a:t>
            </a:r>
            <a:r>
              <a:rPr lang="zh-CN" altLang="en-US" dirty="0"/>
              <a:t>来聚合权重，但它</a:t>
            </a:r>
            <a:r>
              <a:rPr lang="zh-CN" altLang="en-US" b="1" dirty="0"/>
              <a:t>并不建模表征空间的几何结构</a:t>
            </a:r>
            <a:r>
              <a:rPr lang="zh-CN" altLang="en-US" dirty="0"/>
              <a:t>，即：</a:t>
            </a:r>
          </a:p>
          <a:p>
            <a:pPr>
              <a:buFont typeface="Arial" panose="020B0604020202020204" pitchFamily="34" charset="0"/>
              <a:buChar char="•"/>
            </a:pPr>
            <a:r>
              <a:rPr lang="zh-CN" altLang="en-US" dirty="0"/>
              <a:t>没有判断两个客户端的表征是否靠近；</a:t>
            </a:r>
          </a:p>
          <a:p>
            <a:pPr>
              <a:buFont typeface="Arial" panose="020B0604020202020204" pitchFamily="34" charset="0"/>
              <a:buChar char="•"/>
            </a:pPr>
            <a:r>
              <a:rPr lang="zh-CN" altLang="en-US" dirty="0"/>
              <a:t>没有对齐模态间共享语义空间；</a:t>
            </a:r>
          </a:p>
          <a:p>
            <a:pPr>
              <a:buFont typeface="Arial" panose="020B0604020202020204" pitchFamily="34" charset="0"/>
              <a:buChar char="•"/>
            </a:pPr>
            <a:r>
              <a:rPr lang="zh-CN" altLang="en-US" dirty="0"/>
              <a:t>没有考虑不同表征是否冗余或正交。</a:t>
            </a:r>
          </a:p>
          <a:p>
            <a:pPr>
              <a:buNone/>
            </a:pPr>
            <a:r>
              <a:rPr lang="zh-CN" altLang="en-US" b="1" dirty="0"/>
              <a:t>📌 与之对比：</a:t>
            </a:r>
          </a:p>
          <a:p>
            <a:pPr>
              <a:buFont typeface="Arial" panose="020B0604020202020204" pitchFamily="34" charset="0"/>
              <a:buChar char="•"/>
            </a:pPr>
            <a:r>
              <a:rPr lang="en-US" altLang="zh-CN" b="1" dirty="0" err="1"/>
              <a:t>CreamFL</a:t>
            </a:r>
            <a:r>
              <a:rPr lang="zh-CN" altLang="en-US" dirty="0"/>
              <a:t> 使用对比学习，将客户端表征对齐到</a:t>
            </a:r>
            <a:r>
              <a:rPr lang="zh-CN" altLang="en-US" b="1" dirty="0"/>
              <a:t>共享语义空间</a:t>
            </a:r>
            <a:r>
              <a:rPr lang="zh-CN" altLang="en-US" dirty="0"/>
              <a:t>；</a:t>
            </a:r>
          </a:p>
          <a:p>
            <a:pPr>
              <a:buFont typeface="Arial" panose="020B0604020202020204" pitchFamily="34" charset="0"/>
              <a:buChar char="•"/>
            </a:pPr>
            <a:r>
              <a:rPr lang="en-US" altLang="zh-CN" b="1" dirty="0" err="1"/>
              <a:t>MoE</a:t>
            </a:r>
            <a:r>
              <a:rPr lang="en-US" altLang="zh-CN" b="1" dirty="0"/>
              <a:t>-based MFL</a:t>
            </a:r>
            <a:r>
              <a:rPr lang="zh-CN" altLang="en-US" b="1" dirty="0"/>
              <a:t>（如 </a:t>
            </a:r>
            <a:r>
              <a:rPr lang="en-US" altLang="zh-CN" b="1" dirty="0" err="1"/>
              <a:t>FedMoe</a:t>
            </a:r>
            <a:r>
              <a:rPr lang="en-US" altLang="zh-CN" b="1" dirty="0"/>
              <a:t>, </a:t>
            </a:r>
            <a:r>
              <a:rPr lang="en-US" altLang="zh-CN" b="1" dirty="0" err="1"/>
              <a:t>FedMBridge+latent</a:t>
            </a:r>
            <a:r>
              <a:rPr lang="en-US" altLang="zh-CN" b="1" dirty="0"/>
              <a:t> mixture</a:t>
            </a:r>
            <a:r>
              <a:rPr lang="zh-CN" altLang="en-US" b="1" dirty="0"/>
              <a:t>）</a:t>
            </a:r>
            <a:r>
              <a:rPr lang="zh-CN" altLang="en-US" dirty="0"/>
              <a:t> 会建模</a:t>
            </a:r>
            <a:r>
              <a:rPr lang="zh-CN" altLang="en-US" b="1" dirty="0"/>
              <a:t>共享专家 </a:t>
            </a:r>
            <a:r>
              <a:rPr lang="en-US" altLang="zh-CN" b="1" dirty="0"/>
              <a:t>vs </a:t>
            </a:r>
            <a:r>
              <a:rPr lang="zh-CN" altLang="en-US" b="1" dirty="0"/>
              <a:t>私有专家结构</a:t>
            </a:r>
            <a:r>
              <a:rPr lang="zh-CN" altLang="en-US" dirty="0"/>
              <a:t>，可支持正交子空间；</a:t>
            </a:r>
          </a:p>
          <a:p>
            <a:pPr>
              <a:buFont typeface="Arial" panose="020B0604020202020204" pitchFamily="34" charset="0"/>
              <a:buChar char="•"/>
            </a:pPr>
            <a:r>
              <a:rPr lang="zh-CN" altLang="en-US" b="1" dirty="0"/>
              <a:t>多模态 </a:t>
            </a:r>
            <a:r>
              <a:rPr lang="en-US" altLang="zh-CN" b="1" dirty="0"/>
              <a:t>Transformer</a:t>
            </a:r>
            <a:r>
              <a:rPr lang="zh-CN" altLang="en-US" dirty="0"/>
              <a:t> 中 </a:t>
            </a:r>
            <a:r>
              <a:rPr lang="en-US" altLang="zh-CN" dirty="0"/>
              <a:t>cross-attention </a:t>
            </a:r>
            <a:r>
              <a:rPr lang="zh-CN" altLang="en-US" dirty="0"/>
              <a:t>层，部分实现了</a:t>
            </a:r>
            <a:r>
              <a:rPr lang="zh-CN" altLang="en-US" b="1" dirty="0"/>
              <a:t>动态建模互补与冗余信息</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fld id="{CB2A5E6A-83C3-4A4D-AF52-F5D0A434169B}" type="slidenum">
              <a:rPr lang="zh-CN" altLang="en-US" smtClean="0"/>
              <a:t>5</a:t>
            </a:fld>
            <a:endParaRPr lang="zh-CN" altLang="en-US"/>
          </a:p>
        </p:txBody>
      </p:sp>
    </p:spTree>
    <p:extLst>
      <p:ext uri="{BB962C8B-B14F-4D97-AF65-F5344CB8AC3E}">
        <p14:creationId xmlns:p14="http://schemas.microsoft.com/office/powerpoint/2010/main" val="709645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B2A5E6A-83C3-4A4D-AF52-F5D0A434169B}" type="slidenum">
              <a:rPr lang="zh-CN" altLang="en-US" smtClean="0"/>
              <a:t>7</a:t>
            </a:fld>
            <a:endParaRPr lang="zh-CN" altLang="en-US"/>
          </a:p>
        </p:txBody>
      </p:sp>
    </p:spTree>
    <p:extLst>
      <p:ext uri="{BB962C8B-B14F-4D97-AF65-F5344CB8AC3E}">
        <p14:creationId xmlns:p14="http://schemas.microsoft.com/office/powerpoint/2010/main" val="2520819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37551-C211-7B99-60D0-AAC760FC10A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28C3968-2E2C-2B98-84A0-BB9825AC99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2166122-2561-FF73-2EE8-3795BA88CB3F}"/>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5" name="Footer Placeholder 4">
            <a:extLst>
              <a:ext uri="{FF2B5EF4-FFF2-40B4-BE49-F238E27FC236}">
                <a16:creationId xmlns:a16="http://schemas.microsoft.com/office/drawing/2014/main" id="{0568DDF5-5DC5-79F5-438F-918831EA67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E9835C-1202-91D4-14E1-D235487DF36D}"/>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685347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FD5BC-085C-B39B-FAAD-F78C2DBC7D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5A47A25-7684-F84C-C374-A18E9F976F0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D84E1B-CF08-A784-BB38-0AC7336DC97A}"/>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5" name="Footer Placeholder 4">
            <a:extLst>
              <a:ext uri="{FF2B5EF4-FFF2-40B4-BE49-F238E27FC236}">
                <a16:creationId xmlns:a16="http://schemas.microsoft.com/office/drawing/2014/main" id="{94F94343-C27B-46FF-EAE2-CBF997DE4B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D2F2E1-F7FF-58DF-E276-1050B28BF303}"/>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3696029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064C6-5B4E-430B-73BE-F00B6CB2104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8C24FBD-0496-6B8C-708D-29F887619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132164D-0D65-FD5F-026A-2F5575709A26}"/>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5" name="Footer Placeholder 4">
            <a:extLst>
              <a:ext uri="{FF2B5EF4-FFF2-40B4-BE49-F238E27FC236}">
                <a16:creationId xmlns:a16="http://schemas.microsoft.com/office/drawing/2014/main" id="{D6B393A1-061E-90BE-D16C-EAE363F8B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688C7A-A9FD-D191-2078-C373DBFA9EE7}"/>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1635094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B4DD-B8E0-83AB-CF94-ED5C71097C8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393FCD-719D-E78E-BDD9-A44ED28F275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2718133-E20A-14A8-2007-6549E51E633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54C7751-0E7D-EAAA-DAB9-3A12E36C3ADD}"/>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6" name="Footer Placeholder 5">
            <a:extLst>
              <a:ext uri="{FF2B5EF4-FFF2-40B4-BE49-F238E27FC236}">
                <a16:creationId xmlns:a16="http://schemas.microsoft.com/office/drawing/2014/main" id="{26299877-3533-97C4-11D3-B4CB83ACB7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94CFA6-B283-0D58-2394-45DB0A81AEFB}"/>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1240705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66DFC-14FF-A53C-6165-DDA6653F333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8EECD1B-8793-DE3D-EF05-1BD23C21F5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48944A3-B087-AE68-9ACD-E4F18409837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0618ED5-AA50-C765-3185-65EDB62A16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8BA15E-3A93-9D87-2404-A7EEF4587E6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D00831B-A0CD-1108-4719-C72A7E1E38BC}"/>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8" name="Footer Placeholder 7">
            <a:extLst>
              <a:ext uri="{FF2B5EF4-FFF2-40B4-BE49-F238E27FC236}">
                <a16:creationId xmlns:a16="http://schemas.microsoft.com/office/drawing/2014/main" id="{4404B5F5-82D2-4409-07C2-F947D28590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443239-9685-21CD-F580-C77BE953C198}"/>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1127655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35DD7-C859-02B6-1F17-F09CD884CFA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4B49177-1900-E2A4-D3B7-30B533654123}"/>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4" name="Footer Placeholder 3">
            <a:extLst>
              <a:ext uri="{FF2B5EF4-FFF2-40B4-BE49-F238E27FC236}">
                <a16:creationId xmlns:a16="http://schemas.microsoft.com/office/drawing/2014/main" id="{7C012CBD-BA31-15FD-44FB-785806F70E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E0BF7B-6551-7578-5989-7AE9E7582D3E}"/>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218134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00F54F-454A-B07D-1725-417B82D8B770}"/>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3" name="Footer Placeholder 2">
            <a:extLst>
              <a:ext uri="{FF2B5EF4-FFF2-40B4-BE49-F238E27FC236}">
                <a16:creationId xmlns:a16="http://schemas.microsoft.com/office/drawing/2014/main" id="{87E5E028-DDCF-7E35-D546-89D8C506D4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CBBC08-251E-41C9-D5D0-D840B7C305F6}"/>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246625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9687C-D298-1FED-C1A2-7752CD4CCF9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2232D53-2382-E7BE-86D4-EB922A495E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3563EFC-1B0D-7003-AABA-0E5763590E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EBD0CCF-A211-A0A7-AA59-77B3F0C786C8}"/>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6" name="Footer Placeholder 5">
            <a:extLst>
              <a:ext uri="{FF2B5EF4-FFF2-40B4-BE49-F238E27FC236}">
                <a16:creationId xmlns:a16="http://schemas.microsoft.com/office/drawing/2014/main" id="{D3D4CA7C-755B-E539-CADF-7B982A33E3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018E97-CE89-84E4-CE69-7CEB17A7115C}"/>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1146326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DC87-09E0-AF2B-7AA0-3D119EDCB48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01766C-84D4-3AE3-71F0-FFC2FF721A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F8FB10-E471-AE99-01BE-119F8EFF14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468856-DC73-15EC-6C6B-01B28EADFADA}"/>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6" name="Footer Placeholder 5">
            <a:extLst>
              <a:ext uri="{FF2B5EF4-FFF2-40B4-BE49-F238E27FC236}">
                <a16:creationId xmlns:a16="http://schemas.microsoft.com/office/drawing/2014/main" id="{B7C4849C-FCB5-D25E-79EA-5D6B0FAB13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1185EB-46D6-3488-1E63-1EF15BCFFD5A}"/>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4243058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9D2C4-842C-D6FB-D745-DBE71BBBA34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531C9A6-8F1D-9F6F-CE7E-9390935C83C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C335AA-6271-B206-E158-2D74CB9ADBD5}"/>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5" name="Footer Placeholder 4">
            <a:extLst>
              <a:ext uri="{FF2B5EF4-FFF2-40B4-BE49-F238E27FC236}">
                <a16:creationId xmlns:a16="http://schemas.microsoft.com/office/drawing/2014/main" id="{D1A6A57F-49B5-4212-7A6D-F4E7C19B4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2F059-E764-B1CA-684D-237B8E805462}"/>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2899895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44A87B-71B2-8DB9-0A7C-329C81F5141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1A15A0D-E2C3-0A7C-E246-921AE1608E8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E1639E-B715-222B-7A88-69B837500A9E}"/>
              </a:ext>
            </a:extLst>
          </p:cNvPr>
          <p:cNvSpPr>
            <a:spLocks noGrp="1"/>
          </p:cNvSpPr>
          <p:nvPr>
            <p:ph type="dt" sz="half" idx="10"/>
          </p:nvPr>
        </p:nvSpPr>
        <p:spPr/>
        <p:txBody>
          <a:bodyPr/>
          <a:lstStyle/>
          <a:p>
            <a:fld id="{1FDE49AB-9D7B-3645-BC96-F09EAD51E35D}" type="datetimeFigureOut">
              <a:rPr lang="en-US" smtClean="0"/>
              <a:t>4/22/2025</a:t>
            </a:fld>
            <a:endParaRPr lang="en-US"/>
          </a:p>
        </p:txBody>
      </p:sp>
      <p:sp>
        <p:nvSpPr>
          <p:cNvPr id="5" name="Footer Placeholder 4">
            <a:extLst>
              <a:ext uri="{FF2B5EF4-FFF2-40B4-BE49-F238E27FC236}">
                <a16:creationId xmlns:a16="http://schemas.microsoft.com/office/drawing/2014/main" id="{578C4229-A4C6-EE8E-EBEE-4546B9E748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4268FC-7FF5-DDA0-4999-507F99C6FB58}"/>
              </a:ext>
            </a:extLst>
          </p:cNvPr>
          <p:cNvSpPr>
            <a:spLocks noGrp="1"/>
          </p:cNvSpPr>
          <p:nvPr>
            <p:ph type="sldNum" sz="quarter" idx="12"/>
          </p:nvPr>
        </p:nvSpPr>
        <p:spPr/>
        <p:txBody>
          <a:bodyPr/>
          <a:lstStyle/>
          <a:p>
            <a:fld id="{299F9B26-476B-8743-A4DF-5E6F5F8374BA}" type="slidenum">
              <a:rPr lang="en-US" smtClean="0"/>
              <a:t>‹#›</a:t>
            </a:fld>
            <a:endParaRPr lang="en-US"/>
          </a:p>
        </p:txBody>
      </p:sp>
    </p:spTree>
    <p:extLst>
      <p:ext uri="{BB962C8B-B14F-4D97-AF65-F5344CB8AC3E}">
        <p14:creationId xmlns:p14="http://schemas.microsoft.com/office/powerpoint/2010/main" val="2154814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699D16-D065-70A9-E87E-D5C8F88C8C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970833D-8FB4-B689-DB4A-642E675F2F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A7785A-7A5D-FC5D-B677-A207D9EA3E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DE49AB-9D7B-3645-BC96-F09EAD51E35D}" type="datetimeFigureOut">
              <a:rPr lang="en-US" smtClean="0"/>
              <a:t>4/22/2025</a:t>
            </a:fld>
            <a:endParaRPr lang="en-US"/>
          </a:p>
        </p:txBody>
      </p:sp>
      <p:sp>
        <p:nvSpPr>
          <p:cNvPr id="5" name="Footer Placeholder 4">
            <a:extLst>
              <a:ext uri="{FF2B5EF4-FFF2-40B4-BE49-F238E27FC236}">
                <a16:creationId xmlns:a16="http://schemas.microsoft.com/office/drawing/2014/main" id="{47CA6979-423A-47CE-B33D-6C3BF7088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333CD2-A61A-B2F6-3C28-D452A5AC1A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9F9B26-476B-8743-A4DF-5E6F5F8374BA}" type="slidenum">
              <a:rPr lang="en-US" smtClean="0"/>
              <a:t>‹#›</a:t>
            </a:fld>
            <a:endParaRPr lang="en-US"/>
          </a:p>
        </p:txBody>
      </p:sp>
    </p:spTree>
    <p:extLst>
      <p:ext uri="{BB962C8B-B14F-4D97-AF65-F5344CB8AC3E}">
        <p14:creationId xmlns:p14="http://schemas.microsoft.com/office/powerpoint/2010/main" val="3884726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F0814-B1AB-B4A3-F9BC-AAA6077A1C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59D16A-6352-388B-6570-20B497B5E826}"/>
              </a:ext>
            </a:extLst>
          </p:cNvPr>
          <p:cNvSpPr>
            <a:spLocks noGrp="1"/>
          </p:cNvSpPr>
          <p:nvPr>
            <p:ph type="title"/>
          </p:nvPr>
        </p:nvSpPr>
        <p:spPr>
          <a:xfrm>
            <a:off x="302491" y="272762"/>
            <a:ext cx="4371109" cy="429202"/>
          </a:xfrm>
        </p:spPr>
        <p:txBody>
          <a:bodyPr>
            <a:noAutofit/>
          </a:bodyPr>
          <a:lstStyle/>
          <a:p>
            <a:r>
              <a:rPr lang="zh-CN" altLang="en-US" sz="3600" b="1" dirty="0">
                <a:highlight>
                  <a:srgbClr val="FFFF00"/>
                </a:highlight>
                <a:latin typeface="新宋体" panose="02010609030101010101" pitchFamily="49" charset="-122"/>
                <a:ea typeface="新宋体" panose="02010609030101010101" pitchFamily="49" charset="-122"/>
                <a:cs typeface="ADLaM Display" panose="020F0502020204030204" pitchFamily="2" charset="0"/>
              </a:rPr>
              <a:t>模态异构</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场景描述</a:t>
            </a:r>
          </a:p>
        </p:txBody>
      </p:sp>
      <p:sp>
        <p:nvSpPr>
          <p:cNvPr id="4" name="标题 1">
            <a:extLst>
              <a:ext uri="{FF2B5EF4-FFF2-40B4-BE49-F238E27FC236}">
                <a16:creationId xmlns:a16="http://schemas.microsoft.com/office/drawing/2014/main" id="{A660B547-3742-4CD0-19FC-8E1EC242A6EE}"/>
              </a:ext>
            </a:extLst>
          </p:cNvPr>
          <p:cNvSpPr txBox="1">
            <a:spLocks/>
          </p:cNvSpPr>
          <p:nvPr/>
        </p:nvSpPr>
        <p:spPr>
          <a:xfrm>
            <a:off x="302491" y="2657189"/>
            <a:ext cx="3537527"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400" b="1" dirty="0">
                <a:latin typeface="新宋体" panose="02010609030101010101" pitchFamily="49" charset="-122"/>
                <a:ea typeface="新宋体" panose="02010609030101010101" pitchFamily="49" charset="-122"/>
                <a:cs typeface="ADLaM Display" panose="020F0502020204030204" pitchFamily="2" charset="0"/>
              </a:rPr>
              <a:t>多模态联邦学习挑战</a:t>
            </a:r>
          </a:p>
        </p:txBody>
      </p:sp>
      <p:sp>
        <p:nvSpPr>
          <p:cNvPr id="5" name="标题 1">
            <a:extLst>
              <a:ext uri="{FF2B5EF4-FFF2-40B4-BE49-F238E27FC236}">
                <a16:creationId xmlns:a16="http://schemas.microsoft.com/office/drawing/2014/main" id="{978DE807-4040-CC4B-6628-FC9174E0163D}"/>
              </a:ext>
            </a:extLst>
          </p:cNvPr>
          <p:cNvSpPr txBox="1">
            <a:spLocks/>
          </p:cNvSpPr>
          <p:nvPr/>
        </p:nvSpPr>
        <p:spPr>
          <a:xfrm>
            <a:off x="302491" y="1094093"/>
            <a:ext cx="3382818"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latin typeface="新宋体" panose="02010609030101010101" pitchFamily="49" charset="-122"/>
                <a:ea typeface="新宋体" panose="02010609030101010101" pitchFamily="49" charset="-122"/>
                <a:cs typeface="ADLaM Display" panose="020F0502020204030204" pitchFamily="2" charset="0"/>
              </a:rPr>
              <a:t>多模态联邦学习定义</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9BDC0BC-D15E-0140-D8B6-AAB2354B2F68}"/>
                  </a:ext>
                </a:extLst>
              </p:cNvPr>
              <p:cNvSpPr txBox="1"/>
              <p:nvPr/>
            </p:nvSpPr>
            <p:spPr>
              <a:xfrm>
                <a:off x="424872" y="1607621"/>
                <a:ext cx="10954327" cy="1415772"/>
              </a:xfrm>
              <a:prstGeom prst="rect">
                <a:avLst/>
              </a:prstGeom>
              <a:noFill/>
            </p:spPr>
            <p:txBody>
              <a:bodyPr wrap="square" rtlCol="0">
                <a:spAutoFit/>
              </a:bodyPr>
              <a:lstStyle/>
              <a:p>
                <a:pPr lvl="0" indent="317500" eaLnBrk="0" fontAlgn="base" hangingPunct="0">
                  <a:spcBef>
                    <a:spcPct val="0"/>
                  </a:spcBef>
                  <a:spcAft>
                    <a:spcPct val="0"/>
                  </a:spcAft>
                </a:pPr>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在</a:t>
                </a:r>
                <a:r>
                  <a:rPr kumimoji="0" lang="en-US" altLang="zh-CN"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Multimodal Federated Learning (MFL)</a:t>
                </a:r>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中，给定</a:t>
                </a:r>
                <a:r>
                  <a:rPr kumimoji="0" lang="en-US" altLang="zh-CN"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K</a:t>
                </a:r>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个客户端，和模态种类数量，其中</a:t>
                </a:r>
                <a:r>
                  <a:rPr kumimoji="0" lang="zh-CN" altLang="zh-CN"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𝐾≥2 </a:t>
                </a:r>
                <a:r>
                  <a:rPr lang="en-US" altLang="zh-CN" dirty="0">
                    <a:latin typeface="新宋体" panose="02010609030101010101" pitchFamily="49" charset="-122"/>
                    <a:ea typeface="新宋体" panose="02010609030101010101" pitchFamily="49" charset="-122"/>
                  </a:rPr>
                  <a:t>, </a:t>
                </a:r>
                <a:r>
                  <a:rPr lang="zh-CN" altLang="en-US" dirty="0">
                    <a:latin typeface="新宋体" panose="02010609030101010101" pitchFamily="49" charset="-122"/>
                    <a:ea typeface="新宋体" panose="02010609030101010101" pitchFamily="49" charset="-122"/>
                  </a:rPr>
                  <a:t>并且</a:t>
                </a:r>
                <a:r>
                  <a:rPr kumimoji="0" lang="zh-CN" altLang="zh-CN"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𝑀≥2 </a:t>
                </a:r>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。假定每个客户端都有权限访问本地数据集</a:t>
                </a:r>
                <a14:m>
                  <m:oMath xmlns:m="http://schemas.openxmlformats.org/officeDocument/2006/math">
                    <m:sSub>
                      <m:sSubPr>
                        <m:ctrlPr>
                          <a:rPr kumimoji="0" lang="en-US" altLang="zh-CN" b="0" i="1" u="none" strike="noStrike" cap="none" normalizeH="0" baseline="0" smtClean="0">
                            <a:ln>
                              <a:noFill/>
                            </a:ln>
                            <a:solidFill>
                              <a:schemeClr val="tx1"/>
                            </a:solidFill>
                            <a:effectLst/>
                            <a:latin typeface="Cambria Math" panose="02040503050406030204" pitchFamily="18" charset="0"/>
                          </a:rPr>
                        </m:ctrlPr>
                      </m:sSubPr>
                      <m:e>
                        <m:r>
                          <a:rPr kumimoji="0" lang="en-US" altLang="zh-CN" b="0" i="1" u="none" strike="noStrike" cap="none" normalizeH="0" baseline="0" smtClean="0">
                            <a:ln>
                              <a:noFill/>
                            </a:ln>
                            <a:solidFill>
                              <a:schemeClr val="tx1"/>
                            </a:solidFill>
                            <a:effectLst/>
                            <a:latin typeface="Cambria Math" panose="02040503050406030204" pitchFamily="18" charset="0"/>
                          </a:rPr>
                          <m:t>𝐷</m:t>
                        </m:r>
                      </m:e>
                      <m:sub>
                        <m:r>
                          <m:rPr>
                            <m:sty m:val="p"/>
                          </m:rPr>
                          <a:rPr lang="en-US" altLang="zh-CN" i="1">
                            <a:latin typeface="Cambria Math" panose="02040503050406030204" pitchFamily="18" charset="0"/>
                          </a:rPr>
                          <m:t>k</m:t>
                        </m:r>
                      </m:sub>
                    </m:sSub>
                  </m:oMath>
                </a14:m>
                <a:r>
                  <a:rPr kumimoji="0" lang="en-US" altLang="zh-CN"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a:t>
                </a:r>
                <a:r>
                  <a:rPr kumimoji="0" lang="en-US" altLang="zh-CN" b="0" i="0" u="none" strike="noStrike" cap="none" normalizeH="0" dirty="0">
                    <a:ln>
                      <a:noFill/>
                    </a:ln>
                    <a:solidFill>
                      <a:schemeClr val="tx1"/>
                    </a:solidFill>
                    <a:effectLst/>
                    <a:latin typeface="新宋体" panose="02010609030101010101" pitchFamily="49" charset="-122"/>
                    <a:ea typeface="新宋体" panose="02010609030101010101" pitchFamily="49" charset="-122"/>
                  </a:rPr>
                  <a:t> </a:t>
                </a:r>
                <a:r>
                  <a:rPr kumimoji="0" lang="zh-CN" altLang="en-US" b="0" i="0" u="none" strike="noStrike" cap="none" normalizeH="0" dirty="0">
                    <a:ln>
                      <a:noFill/>
                    </a:ln>
                    <a:solidFill>
                      <a:schemeClr val="tx1"/>
                    </a:solidFill>
                    <a:effectLst/>
                    <a:latin typeface="新宋体" panose="02010609030101010101" pitchFamily="49" charset="-122"/>
                    <a:ea typeface="新宋体" panose="02010609030101010101" pitchFamily="49" charset="-122"/>
                  </a:rPr>
                  <a:t>数据集的大小为</a:t>
                </a:r>
                <a14:m>
                  <m:oMath xmlns:m="http://schemas.openxmlformats.org/officeDocument/2006/math">
                    <m:d>
                      <m:dPr>
                        <m:begChr m:val="‖"/>
                        <m:endChr m:val="‖"/>
                        <m:ctrlPr>
                          <a:rPr kumimoji="0" lang="en-US" altLang="zh-CN" b="0" i="1" u="none" strike="noStrike" cap="none" normalizeH="0" smtClean="0">
                            <a:ln>
                              <a:noFill/>
                            </a:ln>
                            <a:solidFill>
                              <a:schemeClr val="tx1"/>
                            </a:solidFill>
                            <a:effectLst/>
                            <a:latin typeface="Cambria Math" panose="02040503050406030204" pitchFamily="18" charset="0"/>
                          </a:rPr>
                        </m:ctrlPr>
                      </m:dPr>
                      <m:e>
                        <m:sSub>
                          <m:sSubPr>
                            <m:ctrlPr>
                              <a:rPr kumimoji="0" lang="en-US" altLang="zh-CN" b="0" i="1" u="none" strike="noStrike" cap="none" normalizeH="0" smtClean="0">
                                <a:ln>
                                  <a:noFill/>
                                </a:ln>
                                <a:solidFill>
                                  <a:schemeClr val="tx1"/>
                                </a:solidFill>
                                <a:effectLst/>
                                <a:latin typeface="Cambria Math" panose="02040503050406030204" pitchFamily="18" charset="0"/>
                              </a:rPr>
                            </m:ctrlPr>
                          </m:sSubPr>
                          <m:e>
                            <m:r>
                              <a:rPr kumimoji="0" lang="en-US" altLang="zh-CN" b="0" i="1" u="none" strike="noStrike" cap="none" normalizeH="0" smtClean="0">
                                <a:ln>
                                  <a:noFill/>
                                </a:ln>
                                <a:solidFill>
                                  <a:schemeClr val="tx1"/>
                                </a:solidFill>
                                <a:effectLst/>
                                <a:latin typeface="Cambria Math" panose="02040503050406030204" pitchFamily="18" charset="0"/>
                              </a:rPr>
                              <m:t>𝐷</m:t>
                            </m:r>
                          </m:e>
                          <m:sub>
                            <m:r>
                              <a:rPr kumimoji="0" lang="en-US" altLang="zh-CN" b="0" i="1" u="none" strike="noStrike" cap="none" normalizeH="0" smtClean="0">
                                <a:ln>
                                  <a:noFill/>
                                </a:ln>
                                <a:solidFill>
                                  <a:schemeClr val="tx1"/>
                                </a:solidFill>
                                <a:effectLst/>
                                <a:latin typeface="Cambria Math" panose="02040503050406030204" pitchFamily="18" charset="0"/>
                              </a:rPr>
                              <m:t>𝑘</m:t>
                            </m:r>
                          </m:sub>
                        </m:sSub>
                      </m:e>
                    </m:d>
                  </m:oMath>
                </a14:m>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a:t>
                </a:r>
                <a14:m>
                  <m:oMath xmlns:m="http://schemas.openxmlformats.org/officeDocument/2006/math">
                    <m:sSub>
                      <m:sSubPr>
                        <m:ctrlPr>
                          <a:rPr kumimoji="0" lang="en-US" altLang="zh-CN" b="0" i="1" u="none" strike="noStrike" cap="none" normalizeH="0" baseline="0" dirty="0" smtClean="0">
                            <a:ln>
                              <a:noFill/>
                            </a:ln>
                            <a:solidFill>
                              <a:schemeClr val="tx1"/>
                            </a:solidFill>
                            <a:effectLst/>
                            <a:latin typeface="Cambria Math" panose="02040503050406030204" pitchFamily="18" charset="0"/>
                          </a:rPr>
                        </m:ctrlPr>
                      </m:sSubPr>
                      <m:e>
                        <m:r>
                          <a:rPr kumimoji="0" lang="en-US" altLang="zh-CN" b="0" i="1" u="none" strike="noStrike" cap="none" normalizeH="0" baseline="0" dirty="0" smtClean="0">
                            <a:ln>
                              <a:noFill/>
                            </a:ln>
                            <a:solidFill>
                              <a:schemeClr val="tx1"/>
                            </a:solidFill>
                            <a:effectLst/>
                            <a:latin typeface="Cambria Math" panose="02040503050406030204" pitchFamily="18" charset="0"/>
                          </a:rPr>
                          <m:t>𝑀</m:t>
                        </m:r>
                      </m:e>
                      <m:sub>
                        <m:r>
                          <a:rPr kumimoji="0" lang="en-US" altLang="zh-CN" b="0" i="1" u="none" strike="noStrike" cap="none" normalizeH="0" baseline="0" dirty="0" smtClean="0">
                            <a:ln>
                              <a:noFill/>
                            </a:ln>
                            <a:solidFill>
                              <a:schemeClr val="tx1"/>
                            </a:solidFill>
                            <a:effectLst/>
                            <a:latin typeface="Cambria Math" panose="02040503050406030204" pitchFamily="18" charset="0"/>
                          </a:rPr>
                          <m:t>𝑘</m:t>
                        </m:r>
                      </m:sub>
                    </m:sSub>
                    <m:r>
                      <a:rPr lang="zh-CN" altLang="en-US" i="1" dirty="0">
                        <a:latin typeface="Cambria Math" panose="02040503050406030204" pitchFamily="18" charset="0"/>
                      </a:rPr>
                      <m:t>代表</m:t>
                    </m:r>
                  </m:oMath>
                </a14:m>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了客户端</a:t>
                </a:r>
                <a14:m>
                  <m:oMath xmlns:m="http://schemas.openxmlformats.org/officeDocument/2006/math">
                    <m:r>
                      <m:rPr>
                        <m:sty m:val="p"/>
                      </m:rPr>
                      <a:rPr lang="en-US" altLang="zh-CN" dirty="0">
                        <a:latin typeface="Cambria Math" panose="02040503050406030204" pitchFamily="18" charset="0"/>
                      </a:rPr>
                      <m:t>k</m:t>
                    </m:r>
                  </m:oMath>
                </a14:m>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总的模态数量，并且</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𝑀</m:t>
                        </m:r>
                      </m:e>
                      <m:sub>
                        <m:r>
                          <a:rPr lang="en-US" altLang="zh-CN" i="1" dirty="0">
                            <a:latin typeface="Cambria Math" panose="02040503050406030204" pitchFamily="18" charset="0"/>
                          </a:rPr>
                          <m:t>𝑘</m:t>
                        </m:r>
                      </m:sub>
                    </m:sSub>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[1,</m:t>
                    </m:r>
                    <m:r>
                      <a:rPr lang="en-US" altLang="zh-CN" b="0" i="1" dirty="0" smtClean="0">
                        <a:latin typeface="Cambria Math" panose="02040503050406030204" pitchFamily="18" charset="0"/>
                        <a:ea typeface="Cambria Math" panose="02040503050406030204" pitchFamily="18" charset="0"/>
                      </a:rPr>
                      <m:t>𝑀</m:t>
                    </m:r>
                    <m:r>
                      <a:rPr lang="en-US" altLang="zh-CN" b="0" i="1" dirty="0" smtClean="0">
                        <a:latin typeface="Cambria Math" panose="02040503050406030204" pitchFamily="18" charset="0"/>
                        <a:ea typeface="Cambria Math" panose="02040503050406030204" pitchFamily="18" charset="0"/>
                      </a:rPr>
                      <m:t>]。</m:t>
                    </m:r>
                  </m:oMath>
                </a14:m>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如果</a:t>
                </a:r>
                <a14:m>
                  <m:oMath xmlns:m="http://schemas.openxmlformats.org/officeDocument/2006/math">
                    <m:r>
                      <a:rPr lang="en-US" altLang="zh-CN" i="1" dirty="0">
                        <a:latin typeface="Cambria Math" panose="02040503050406030204" pitchFamily="18" charset="0"/>
                        <a:ea typeface="Cambria Math" panose="02040503050406030204" pitchFamily="18" charset="0"/>
                      </a:rPr>
                      <m:t>𝑀</m:t>
                    </m:r>
                    <m:r>
                      <a:rPr lang="en-US" altLang="zh-CN" b="0" i="1" dirty="0" smtClean="0">
                        <a:latin typeface="Cambria Math" panose="02040503050406030204" pitchFamily="18" charset="0"/>
                        <a:ea typeface="Cambria Math" panose="02040503050406030204" pitchFamily="18" charset="0"/>
                      </a:rPr>
                      <m:t>=1</m:t>
                    </m:r>
                  </m:oMath>
                </a14:m>
                <a:r>
                  <a:rPr kumimoji="0" lang="zh-CN" altLang="en-US"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rPr>
                  <a:t>，则该客户端是单模态客户端。其它约束遵从联邦学习原本的约束。</a:t>
                </a:r>
                <a:br>
                  <a:rPr kumimoji="0" lang="zh-CN" altLang="zh-CN" b="0" i="0" u="none" strike="noStrike" cap="none" normalizeH="0" baseline="0" dirty="0">
                    <a:ln>
                      <a:noFill/>
                    </a:ln>
                    <a:solidFill>
                      <a:srgbClr val="222222"/>
                    </a:solidFill>
                    <a:effectLst/>
                    <a:latin typeface="新宋体" panose="02010609030101010101" pitchFamily="49" charset="-122"/>
                    <a:ea typeface="新宋体" panose="02010609030101010101" pitchFamily="49" charset="-122"/>
                    <a:cs typeface="Arial" panose="020B0604020202020204" pitchFamily="34" charset="0"/>
                  </a:rPr>
                </a:br>
                <a:endParaRPr kumimoji="0" lang="zh-CN" altLang="zh-CN" b="0" i="0" u="none" strike="noStrike" cap="none" normalizeH="0" baseline="0" dirty="0">
                  <a:ln>
                    <a:noFill/>
                  </a:ln>
                  <a:solidFill>
                    <a:schemeClr val="tx1"/>
                  </a:solidFill>
                  <a:effectLst/>
                  <a:latin typeface="新宋体" panose="02010609030101010101" pitchFamily="49" charset="-122"/>
                  <a:ea typeface="新宋体" panose="02010609030101010101" pitchFamily="49" charset="-122"/>
                </a:endParaRPr>
              </a:p>
              <a:p>
                <a:endParaRPr lang="zh-CN" altLang="en-US" sz="1400" dirty="0">
                  <a:latin typeface="新宋体" panose="02010609030101010101" pitchFamily="49" charset="-122"/>
                  <a:ea typeface="新宋体" panose="02010609030101010101" pitchFamily="49" charset="-122"/>
                </a:endParaRPr>
              </a:p>
            </p:txBody>
          </p:sp>
        </mc:Choice>
        <mc:Fallback xmlns="">
          <p:sp>
            <p:nvSpPr>
              <p:cNvPr id="8" name="文本框 7">
                <a:extLst>
                  <a:ext uri="{FF2B5EF4-FFF2-40B4-BE49-F238E27FC236}">
                    <a16:creationId xmlns:a16="http://schemas.microsoft.com/office/drawing/2014/main" id="{F9BDC0BC-D15E-0140-D8B6-AAB2354B2F68}"/>
                  </a:ext>
                </a:extLst>
              </p:cNvPr>
              <p:cNvSpPr txBox="1">
                <a:spLocks noRot="1" noChangeAspect="1" noMove="1" noResize="1" noEditPoints="1" noAdjustHandles="1" noChangeArrowheads="1" noChangeShapeType="1" noTextEdit="1"/>
              </p:cNvSpPr>
              <p:nvPr/>
            </p:nvSpPr>
            <p:spPr>
              <a:xfrm>
                <a:off x="424872" y="1607621"/>
                <a:ext cx="10954327" cy="1415772"/>
              </a:xfrm>
              <a:prstGeom prst="rect">
                <a:avLst/>
              </a:prstGeom>
              <a:blipFill>
                <a:blip r:embed="rId3"/>
                <a:stretch>
                  <a:fillRect l="-501" t="-3448" r="-445"/>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11C15153-F04A-4E0F-9C7D-214CC29B2949}"/>
              </a:ext>
            </a:extLst>
          </p:cNvPr>
          <p:cNvSpPr txBox="1"/>
          <p:nvPr/>
        </p:nvSpPr>
        <p:spPr>
          <a:xfrm>
            <a:off x="0" y="6583918"/>
            <a:ext cx="6096000" cy="246221"/>
          </a:xfrm>
          <a:prstGeom prst="rect">
            <a:avLst/>
          </a:prstGeom>
          <a:noFill/>
        </p:spPr>
        <p:txBody>
          <a:bodyPr wrap="square">
            <a:spAutoFit/>
          </a:bodyPr>
          <a:lstStyle/>
          <a:p>
            <a:r>
              <a:rPr lang="en-US" altLang="zh-CN" sz="1000" i="1" dirty="0">
                <a:solidFill>
                  <a:srgbClr val="222222"/>
                </a:solidFill>
                <a:latin typeface="Arial" panose="020B0604020202020204" pitchFamily="34" charset="0"/>
              </a:rPr>
              <a:t>Che, Liwei, et al. "Multimodal federated learning: A survey." Sensors 23.15 (2023): 6986.</a:t>
            </a:r>
            <a:endParaRPr lang="zh-CN" altLang="en-US" sz="1000" i="1" dirty="0">
              <a:solidFill>
                <a:srgbClr val="222222"/>
              </a:solidFill>
              <a:latin typeface="Arial" panose="020B0604020202020204" pitchFamily="34" charset="0"/>
            </a:endParaRPr>
          </a:p>
        </p:txBody>
      </p:sp>
      <p:sp>
        <p:nvSpPr>
          <p:cNvPr id="11" name="矩形: 圆角 10">
            <a:extLst>
              <a:ext uri="{FF2B5EF4-FFF2-40B4-BE49-F238E27FC236}">
                <a16:creationId xmlns:a16="http://schemas.microsoft.com/office/drawing/2014/main" id="{3F5FC88F-A9AD-2D2F-DB74-896CD1B781D3}"/>
              </a:ext>
            </a:extLst>
          </p:cNvPr>
          <p:cNvSpPr/>
          <p:nvPr/>
        </p:nvSpPr>
        <p:spPr>
          <a:xfrm>
            <a:off x="729670" y="4510130"/>
            <a:ext cx="1958109" cy="65975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MFL</a:t>
            </a:r>
            <a:endParaRPr lang="zh-CN" altLang="en-US" dirty="0">
              <a:solidFill>
                <a:schemeClr val="tx1"/>
              </a:solidFill>
            </a:endParaRPr>
          </a:p>
        </p:txBody>
      </p:sp>
      <p:sp>
        <p:nvSpPr>
          <p:cNvPr id="12" name="矩形: 圆角 11">
            <a:extLst>
              <a:ext uri="{FF2B5EF4-FFF2-40B4-BE49-F238E27FC236}">
                <a16:creationId xmlns:a16="http://schemas.microsoft.com/office/drawing/2014/main" id="{72DBCD44-D6EC-31EA-6A1E-B70FD369EF62}"/>
              </a:ext>
            </a:extLst>
          </p:cNvPr>
          <p:cNvSpPr/>
          <p:nvPr/>
        </p:nvSpPr>
        <p:spPr>
          <a:xfrm>
            <a:off x="3814616" y="3625454"/>
            <a:ext cx="1985819" cy="534215"/>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Inconsistent MFL</a:t>
            </a:r>
            <a:endParaRPr lang="zh-CN" altLang="en-US" dirty="0">
              <a:solidFill>
                <a:schemeClr val="tx1"/>
              </a:solidFill>
            </a:endParaRPr>
          </a:p>
        </p:txBody>
      </p:sp>
      <p:sp>
        <p:nvSpPr>
          <p:cNvPr id="13" name="矩形: 圆角 12">
            <a:extLst>
              <a:ext uri="{FF2B5EF4-FFF2-40B4-BE49-F238E27FC236}">
                <a16:creationId xmlns:a16="http://schemas.microsoft.com/office/drawing/2014/main" id="{595B5449-F876-574D-B1DC-8352FC526CF0}"/>
              </a:ext>
            </a:extLst>
          </p:cNvPr>
          <p:cNvSpPr/>
          <p:nvPr/>
        </p:nvSpPr>
        <p:spPr>
          <a:xfrm>
            <a:off x="3814616" y="4572900"/>
            <a:ext cx="1985819" cy="534215"/>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consistent MFL</a:t>
            </a:r>
            <a:endParaRPr lang="zh-CN" altLang="en-US" dirty="0">
              <a:solidFill>
                <a:schemeClr val="tx1"/>
              </a:solidFill>
            </a:endParaRPr>
          </a:p>
        </p:txBody>
      </p:sp>
      <p:sp>
        <p:nvSpPr>
          <p:cNvPr id="14" name="矩形: 圆角 13">
            <a:extLst>
              <a:ext uri="{FF2B5EF4-FFF2-40B4-BE49-F238E27FC236}">
                <a16:creationId xmlns:a16="http://schemas.microsoft.com/office/drawing/2014/main" id="{F1212DCC-93DB-963E-5E87-ADDA548A510F}"/>
              </a:ext>
            </a:extLst>
          </p:cNvPr>
          <p:cNvSpPr/>
          <p:nvPr/>
        </p:nvSpPr>
        <p:spPr>
          <a:xfrm>
            <a:off x="3814616" y="5539105"/>
            <a:ext cx="1985819" cy="534215"/>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Generic MFL</a:t>
            </a:r>
            <a:endParaRPr lang="zh-CN" altLang="en-US" dirty="0">
              <a:solidFill>
                <a:schemeClr val="tx1"/>
              </a:solidFill>
            </a:endParaRPr>
          </a:p>
        </p:txBody>
      </p:sp>
      <p:sp>
        <p:nvSpPr>
          <p:cNvPr id="15" name="矩形: 圆角 14">
            <a:extLst>
              <a:ext uri="{FF2B5EF4-FFF2-40B4-BE49-F238E27FC236}">
                <a16:creationId xmlns:a16="http://schemas.microsoft.com/office/drawing/2014/main" id="{F9DAD8BC-442D-260D-05BA-A5B104814A3D}"/>
              </a:ext>
            </a:extLst>
          </p:cNvPr>
          <p:cNvSpPr/>
          <p:nvPr/>
        </p:nvSpPr>
        <p:spPr>
          <a:xfrm>
            <a:off x="6652486" y="3376546"/>
            <a:ext cx="2600038" cy="299183"/>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Modality Heterogeneity</a:t>
            </a:r>
            <a:endParaRPr lang="zh-CN" altLang="en-US" dirty="0">
              <a:solidFill>
                <a:schemeClr val="tx1"/>
              </a:solidFill>
            </a:endParaRPr>
          </a:p>
        </p:txBody>
      </p:sp>
      <p:sp>
        <p:nvSpPr>
          <p:cNvPr id="16" name="矩形: 圆角 15">
            <a:extLst>
              <a:ext uri="{FF2B5EF4-FFF2-40B4-BE49-F238E27FC236}">
                <a16:creationId xmlns:a16="http://schemas.microsoft.com/office/drawing/2014/main" id="{BEB0CCE6-4FF3-A3A8-1483-665232A0861F}"/>
              </a:ext>
            </a:extLst>
          </p:cNvPr>
          <p:cNvSpPr/>
          <p:nvPr/>
        </p:nvSpPr>
        <p:spPr>
          <a:xfrm>
            <a:off x="6652486" y="3889952"/>
            <a:ext cx="3454397" cy="299183"/>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Inconsistent Multimodal Tasks</a:t>
            </a:r>
            <a:endParaRPr lang="zh-CN" altLang="en-US" dirty="0">
              <a:solidFill>
                <a:schemeClr val="tx1"/>
              </a:solidFill>
            </a:endParaRPr>
          </a:p>
        </p:txBody>
      </p:sp>
      <p:sp>
        <p:nvSpPr>
          <p:cNvPr id="17" name="矩形: 圆角 16">
            <a:extLst>
              <a:ext uri="{FF2B5EF4-FFF2-40B4-BE49-F238E27FC236}">
                <a16:creationId xmlns:a16="http://schemas.microsoft.com/office/drawing/2014/main" id="{E5142B5C-2D3C-BE7A-D615-6CDC48921637}"/>
              </a:ext>
            </a:extLst>
          </p:cNvPr>
          <p:cNvSpPr/>
          <p:nvPr/>
        </p:nvSpPr>
        <p:spPr>
          <a:xfrm>
            <a:off x="6652485" y="4953436"/>
            <a:ext cx="3098799" cy="29918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Modality Incompleteness</a:t>
            </a:r>
            <a:endParaRPr lang="zh-CN" altLang="en-US" dirty="0">
              <a:solidFill>
                <a:schemeClr val="tx1"/>
              </a:solidFill>
            </a:endParaRPr>
          </a:p>
        </p:txBody>
      </p:sp>
      <p:sp>
        <p:nvSpPr>
          <p:cNvPr id="18" name="矩形: 圆角 17">
            <a:extLst>
              <a:ext uri="{FF2B5EF4-FFF2-40B4-BE49-F238E27FC236}">
                <a16:creationId xmlns:a16="http://schemas.microsoft.com/office/drawing/2014/main" id="{6AF087CC-8C39-BA14-06E9-A567C155154A}"/>
              </a:ext>
            </a:extLst>
          </p:cNvPr>
          <p:cNvSpPr/>
          <p:nvPr/>
        </p:nvSpPr>
        <p:spPr>
          <a:xfrm>
            <a:off x="6652485" y="5645826"/>
            <a:ext cx="4052460" cy="29918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Communication, insufficient samples</a:t>
            </a:r>
            <a:endParaRPr lang="zh-CN" altLang="en-US" dirty="0">
              <a:solidFill>
                <a:schemeClr val="tx1"/>
              </a:solidFill>
            </a:endParaRPr>
          </a:p>
        </p:txBody>
      </p:sp>
      <p:sp>
        <p:nvSpPr>
          <p:cNvPr id="19" name="矩形: 圆角 18">
            <a:extLst>
              <a:ext uri="{FF2B5EF4-FFF2-40B4-BE49-F238E27FC236}">
                <a16:creationId xmlns:a16="http://schemas.microsoft.com/office/drawing/2014/main" id="{C9B39BC4-FA8F-B688-716A-100A71FFE74A}"/>
              </a:ext>
            </a:extLst>
          </p:cNvPr>
          <p:cNvSpPr/>
          <p:nvPr/>
        </p:nvSpPr>
        <p:spPr>
          <a:xfrm>
            <a:off x="6652486" y="4457854"/>
            <a:ext cx="2600038" cy="29918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Model Heterogeneity</a:t>
            </a:r>
            <a:endParaRPr lang="zh-CN" altLang="en-US" dirty="0">
              <a:solidFill>
                <a:schemeClr val="tx1"/>
              </a:solidFill>
            </a:endParaRPr>
          </a:p>
        </p:txBody>
      </p:sp>
      <p:cxnSp>
        <p:nvCxnSpPr>
          <p:cNvPr id="21" name="直接箭头连接符 20">
            <a:extLst>
              <a:ext uri="{FF2B5EF4-FFF2-40B4-BE49-F238E27FC236}">
                <a16:creationId xmlns:a16="http://schemas.microsoft.com/office/drawing/2014/main" id="{79E61E2F-FC49-C9D6-9BF3-5467163DE1CA}"/>
              </a:ext>
            </a:extLst>
          </p:cNvPr>
          <p:cNvCxnSpPr>
            <a:stCxn id="12" idx="3"/>
            <a:endCxn id="15" idx="1"/>
          </p:cNvCxnSpPr>
          <p:nvPr/>
        </p:nvCxnSpPr>
        <p:spPr>
          <a:xfrm flipV="1">
            <a:off x="5800435" y="3526138"/>
            <a:ext cx="852051" cy="366424"/>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直接箭头连接符 22">
            <a:extLst>
              <a:ext uri="{FF2B5EF4-FFF2-40B4-BE49-F238E27FC236}">
                <a16:creationId xmlns:a16="http://schemas.microsoft.com/office/drawing/2014/main" id="{9B00C218-1BF6-1848-EF4B-EE3DEA9C55DA}"/>
              </a:ext>
            </a:extLst>
          </p:cNvPr>
          <p:cNvCxnSpPr>
            <a:stCxn id="12" idx="3"/>
            <a:endCxn id="16" idx="1"/>
          </p:cNvCxnSpPr>
          <p:nvPr/>
        </p:nvCxnSpPr>
        <p:spPr>
          <a:xfrm>
            <a:off x="5800435" y="3892562"/>
            <a:ext cx="852051" cy="146982"/>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175DE8BF-2A78-4057-986E-593FB4E87D7E}"/>
              </a:ext>
            </a:extLst>
          </p:cNvPr>
          <p:cNvCxnSpPr>
            <a:stCxn id="13" idx="3"/>
            <a:endCxn id="19" idx="1"/>
          </p:cNvCxnSpPr>
          <p:nvPr/>
        </p:nvCxnSpPr>
        <p:spPr>
          <a:xfrm flipV="1">
            <a:off x="5800435" y="4607446"/>
            <a:ext cx="852051" cy="232562"/>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直接箭头连接符 26">
            <a:extLst>
              <a:ext uri="{FF2B5EF4-FFF2-40B4-BE49-F238E27FC236}">
                <a16:creationId xmlns:a16="http://schemas.microsoft.com/office/drawing/2014/main" id="{322266B3-2066-0963-4272-E4FA3064F173}"/>
              </a:ext>
            </a:extLst>
          </p:cNvPr>
          <p:cNvCxnSpPr>
            <a:stCxn id="13" idx="3"/>
            <a:endCxn id="17" idx="1"/>
          </p:cNvCxnSpPr>
          <p:nvPr/>
        </p:nvCxnSpPr>
        <p:spPr>
          <a:xfrm>
            <a:off x="5800435" y="4840008"/>
            <a:ext cx="852050" cy="263020"/>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直接箭头连接符 28">
            <a:extLst>
              <a:ext uri="{FF2B5EF4-FFF2-40B4-BE49-F238E27FC236}">
                <a16:creationId xmlns:a16="http://schemas.microsoft.com/office/drawing/2014/main" id="{8B382E1E-070F-8845-8157-BD186AC9EFC6}"/>
              </a:ext>
            </a:extLst>
          </p:cNvPr>
          <p:cNvCxnSpPr>
            <a:cxnSpLocks/>
            <a:stCxn id="14" idx="3"/>
            <a:endCxn id="18" idx="1"/>
          </p:cNvCxnSpPr>
          <p:nvPr/>
        </p:nvCxnSpPr>
        <p:spPr>
          <a:xfrm flipV="1">
            <a:off x="5800435" y="5795418"/>
            <a:ext cx="852050" cy="10795"/>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接箭头连接符 30">
            <a:extLst>
              <a:ext uri="{FF2B5EF4-FFF2-40B4-BE49-F238E27FC236}">
                <a16:creationId xmlns:a16="http://schemas.microsoft.com/office/drawing/2014/main" id="{2ED659D8-91F9-7DA5-D66C-00D990774E54}"/>
              </a:ext>
            </a:extLst>
          </p:cNvPr>
          <p:cNvCxnSpPr>
            <a:stCxn id="11" idx="3"/>
            <a:endCxn id="12" idx="1"/>
          </p:cNvCxnSpPr>
          <p:nvPr/>
        </p:nvCxnSpPr>
        <p:spPr>
          <a:xfrm flipV="1">
            <a:off x="2687779" y="3892562"/>
            <a:ext cx="1126837" cy="947445"/>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直接箭头连接符 34">
            <a:extLst>
              <a:ext uri="{FF2B5EF4-FFF2-40B4-BE49-F238E27FC236}">
                <a16:creationId xmlns:a16="http://schemas.microsoft.com/office/drawing/2014/main" id="{796209CC-E95E-169A-D166-43C7830D9A49}"/>
              </a:ext>
            </a:extLst>
          </p:cNvPr>
          <p:cNvCxnSpPr>
            <a:stCxn id="11" idx="3"/>
            <a:endCxn id="13" idx="1"/>
          </p:cNvCxnSpPr>
          <p:nvPr/>
        </p:nvCxnSpPr>
        <p:spPr>
          <a:xfrm>
            <a:off x="2687779" y="4840007"/>
            <a:ext cx="1126837" cy="1"/>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直接箭头连接符 36">
            <a:extLst>
              <a:ext uri="{FF2B5EF4-FFF2-40B4-BE49-F238E27FC236}">
                <a16:creationId xmlns:a16="http://schemas.microsoft.com/office/drawing/2014/main" id="{17300282-22D0-EF0D-044D-683FA090D414}"/>
              </a:ext>
            </a:extLst>
          </p:cNvPr>
          <p:cNvCxnSpPr>
            <a:stCxn id="11" idx="3"/>
            <a:endCxn id="14" idx="1"/>
          </p:cNvCxnSpPr>
          <p:nvPr/>
        </p:nvCxnSpPr>
        <p:spPr>
          <a:xfrm>
            <a:off x="2687779" y="4840007"/>
            <a:ext cx="1126837" cy="966206"/>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F6A2EFBD-0A44-16BF-4571-917F54DD077B}"/>
              </a:ext>
            </a:extLst>
          </p:cNvPr>
          <p:cNvSpPr txBox="1"/>
          <p:nvPr/>
        </p:nvSpPr>
        <p:spPr>
          <a:xfrm>
            <a:off x="-7609" y="6422152"/>
            <a:ext cx="9630267" cy="246221"/>
          </a:xfrm>
          <a:prstGeom prst="rect">
            <a:avLst/>
          </a:prstGeom>
          <a:noFill/>
        </p:spPr>
        <p:txBody>
          <a:bodyPr wrap="square" rtlCol="0">
            <a:spAutoFit/>
          </a:bodyPr>
          <a:lstStyle/>
          <a:p>
            <a:r>
              <a:rPr lang="en-US" altLang="zh-CN" sz="1000" b="0" i="1" dirty="0">
                <a:solidFill>
                  <a:srgbClr val="222222"/>
                </a:solidFill>
                <a:effectLst/>
                <a:latin typeface="Arial" panose="020B0604020202020204" pitchFamily="34" charset="0"/>
              </a:rPr>
              <a:t>Huang, Wei, et al. "Multimodal federated learning: Concept, methods, applications and future directions." Information Fusion 112 (2024): 102576.</a:t>
            </a:r>
            <a:endParaRPr lang="zh-CN" altLang="en-US" sz="1000" i="1" dirty="0"/>
          </a:p>
        </p:txBody>
      </p:sp>
    </p:spTree>
    <p:extLst>
      <p:ext uri="{BB962C8B-B14F-4D97-AF65-F5344CB8AC3E}">
        <p14:creationId xmlns:p14="http://schemas.microsoft.com/office/powerpoint/2010/main" val="1536367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99EE0-6F42-14F2-23BE-06A18655C329}"/>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B74B834C-D2C6-D06F-4F43-9D88C6A910BC}"/>
              </a:ext>
            </a:extLst>
          </p:cNvPr>
          <p:cNvSpPr txBox="1"/>
          <p:nvPr/>
        </p:nvSpPr>
        <p:spPr>
          <a:xfrm>
            <a:off x="0" y="6611779"/>
            <a:ext cx="11418455" cy="246221"/>
          </a:xfrm>
          <a:prstGeom prst="rect">
            <a:avLst/>
          </a:prstGeom>
          <a:noFill/>
        </p:spPr>
        <p:txBody>
          <a:bodyPr wrap="square">
            <a:spAutoFit/>
          </a:bodyPr>
          <a:lstStyle/>
          <a:p>
            <a:r>
              <a:rPr lang="en-US" altLang="zh-CN" sz="1000" i="1" dirty="0">
                <a:solidFill>
                  <a:srgbClr val="222222"/>
                </a:solidFill>
                <a:latin typeface="Arial" panose="020B0604020202020204" pitchFamily="34" charset="0"/>
              </a:rPr>
              <a:t>Zhao, Yuchen, Payam </a:t>
            </a:r>
            <a:r>
              <a:rPr lang="en-US" altLang="zh-CN" sz="1000" i="1" dirty="0" err="1">
                <a:solidFill>
                  <a:srgbClr val="222222"/>
                </a:solidFill>
                <a:latin typeface="Arial" panose="020B0604020202020204" pitchFamily="34" charset="0"/>
              </a:rPr>
              <a:t>Barnaghi</a:t>
            </a:r>
            <a:r>
              <a:rPr lang="en-US" altLang="zh-CN" sz="1000" i="1" dirty="0">
                <a:solidFill>
                  <a:srgbClr val="222222"/>
                </a:solidFill>
                <a:latin typeface="Arial" panose="020B0604020202020204" pitchFamily="34" charset="0"/>
              </a:rPr>
              <a:t>, and Hamed Haddadi. "Multimodal federated learning on </a:t>
            </a:r>
            <a:r>
              <a:rPr lang="en-US" altLang="zh-CN" sz="1000" i="1" dirty="0" err="1">
                <a:solidFill>
                  <a:srgbClr val="222222"/>
                </a:solidFill>
                <a:latin typeface="Arial" panose="020B0604020202020204" pitchFamily="34" charset="0"/>
              </a:rPr>
              <a:t>iot</a:t>
            </a:r>
            <a:r>
              <a:rPr lang="en-US" altLang="zh-CN" sz="1000" i="1" dirty="0">
                <a:solidFill>
                  <a:srgbClr val="222222"/>
                </a:solidFill>
                <a:latin typeface="Arial" panose="020B0604020202020204" pitchFamily="34" charset="0"/>
              </a:rPr>
              <a:t> data." 2022 IEEE/ACM 17th </a:t>
            </a:r>
            <a:r>
              <a:rPr lang="en-US" altLang="zh-CN" sz="1000" i="1" dirty="0" err="1">
                <a:solidFill>
                  <a:srgbClr val="222222"/>
                </a:solidFill>
                <a:latin typeface="Arial" panose="020B0604020202020204" pitchFamily="34" charset="0"/>
              </a:rPr>
              <a:t>IoTDI</a:t>
            </a:r>
            <a:r>
              <a:rPr lang="en-US" altLang="zh-CN" sz="1000" i="1" dirty="0">
                <a:solidFill>
                  <a:srgbClr val="222222"/>
                </a:solidFill>
                <a:latin typeface="Arial" panose="020B0604020202020204" pitchFamily="34" charset="0"/>
              </a:rPr>
              <a:t>. IEEE, 2022.</a:t>
            </a:r>
            <a:endParaRPr lang="zh-CN" altLang="en-US" sz="1000" i="1" dirty="0">
              <a:solidFill>
                <a:srgbClr val="222222"/>
              </a:solidFill>
              <a:latin typeface="Arial" panose="020B0604020202020204" pitchFamily="34" charset="0"/>
            </a:endParaRPr>
          </a:p>
        </p:txBody>
      </p:sp>
      <p:pic>
        <p:nvPicPr>
          <p:cNvPr id="9" name="图片 8" descr="图示&#10;&#10;AI 生成的内容可能不正确。">
            <a:extLst>
              <a:ext uri="{FF2B5EF4-FFF2-40B4-BE49-F238E27FC236}">
                <a16:creationId xmlns:a16="http://schemas.microsoft.com/office/drawing/2014/main" id="{28EABDB2-5337-1B8D-FB40-5FCD4C08E4D7}"/>
              </a:ext>
            </a:extLst>
          </p:cNvPr>
          <p:cNvPicPr>
            <a:picLocks noChangeAspect="1"/>
          </p:cNvPicPr>
          <p:nvPr/>
        </p:nvPicPr>
        <p:blipFill>
          <a:blip r:embed="rId2"/>
          <a:stretch>
            <a:fillRect/>
          </a:stretch>
        </p:blipFill>
        <p:spPr>
          <a:xfrm>
            <a:off x="486825" y="1597891"/>
            <a:ext cx="11088647" cy="4848902"/>
          </a:xfrm>
          <a:prstGeom prst="rect">
            <a:avLst/>
          </a:prstGeom>
        </p:spPr>
      </p:pic>
      <p:sp>
        <p:nvSpPr>
          <p:cNvPr id="10" name="标题 1">
            <a:extLst>
              <a:ext uri="{FF2B5EF4-FFF2-40B4-BE49-F238E27FC236}">
                <a16:creationId xmlns:a16="http://schemas.microsoft.com/office/drawing/2014/main" id="{4C2B43DF-420C-9488-6B08-8132B7AD8C87}"/>
              </a:ext>
            </a:extLst>
          </p:cNvPr>
          <p:cNvSpPr txBox="1">
            <a:spLocks/>
          </p:cNvSpPr>
          <p:nvPr/>
        </p:nvSpPr>
        <p:spPr>
          <a:xfrm>
            <a:off x="210127" y="219616"/>
            <a:ext cx="4371109"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相关工作（</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2022</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a:t>
            </a:r>
          </a:p>
        </p:txBody>
      </p:sp>
      <p:sp>
        <p:nvSpPr>
          <p:cNvPr id="13" name="文本框 12">
            <a:extLst>
              <a:ext uri="{FF2B5EF4-FFF2-40B4-BE49-F238E27FC236}">
                <a16:creationId xmlns:a16="http://schemas.microsoft.com/office/drawing/2014/main" id="{FE012FB4-675F-E2DD-F1C0-3037DB27F401}"/>
              </a:ext>
            </a:extLst>
          </p:cNvPr>
          <p:cNvSpPr txBox="1"/>
          <p:nvPr/>
        </p:nvSpPr>
        <p:spPr>
          <a:xfrm>
            <a:off x="421973" y="971240"/>
            <a:ext cx="11218350" cy="923330"/>
          </a:xfrm>
          <a:prstGeom prst="rect">
            <a:avLst/>
          </a:prstGeom>
          <a:noFill/>
        </p:spPr>
        <p:txBody>
          <a:bodyPr wrap="square" rtlCol="0">
            <a:spAutoFit/>
          </a:bodyPr>
          <a:lstStyle/>
          <a:p>
            <a:r>
              <a:rPr lang="en-US" altLang="zh-CN" b="1" i="1" dirty="0" err="1">
                <a:latin typeface="新宋体" panose="02010609030101010101" pitchFamily="49" charset="-122"/>
                <a:ea typeface="新宋体" panose="02010609030101010101" pitchFamily="49" charset="-122"/>
              </a:rPr>
              <a:t>Fedag</a:t>
            </a:r>
            <a:r>
              <a:rPr lang="en-US" altLang="zh-CN" dirty="0">
                <a:latin typeface="新宋体" panose="02010609030101010101" pitchFamily="49" charset="-122"/>
                <a:ea typeface="新宋体" panose="02010609030101010101" pitchFamily="49" charset="-122"/>
              </a:rPr>
              <a:t>: </a:t>
            </a:r>
            <a:r>
              <a:rPr lang="zh-CN" altLang="en-US" dirty="0">
                <a:latin typeface="新宋体" panose="02010609030101010101" pitchFamily="49" charset="-122"/>
                <a:ea typeface="新宋体" panose="02010609030101010101" pitchFamily="49" charset="-122"/>
              </a:rPr>
              <a:t>这是最早提出</a:t>
            </a:r>
            <a:r>
              <a:rPr lang="en-US" altLang="zh-CN" dirty="0">
                <a:latin typeface="新宋体" panose="02010609030101010101" pitchFamily="49" charset="-122"/>
                <a:ea typeface="新宋体" panose="02010609030101010101" pitchFamily="49" charset="-122"/>
              </a:rPr>
              <a:t>MFL</a:t>
            </a:r>
            <a:r>
              <a:rPr lang="zh-CN" altLang="en-US" dirty="0">
                <a:latin typeface="新宋体" panose="02010609030101010101" pitchFamily="49" charset="-122"/>
                <a:ea typeface="新宋体" panose="02010609030101010101" pitchFamily="49" charset="-122"/>
              </a:rPr>
              <a:t>（</a:t>
            </a:r>
            <a:r>
              <a:rPr lang="en-US" altLang="zh-CN" dirty="0">
                <a:latin typeface="新宋体" panose="02010609030101010101" pitchFamily="49" charset="-122"/>
                <a:ea typeface="新宋体" panose="02010609030101010101" pitchFamily="49" charset="-122"/>
              </a:rPr>
              <a:t>Inconsistency</a:t>
            </a:r>
            <a:r>
              <a:rPr lang="zh-CN" altLang="en-US" dirty="0">
                <a:latin typeface="新宋体" panose="02010609030101010101" pitchFamily="49" charset="-122"/>
                <a:ea typeface="新宋体" panose="02010609030101010101" pitchFamily="49" charset="-122"/>
              </a:rPr>
              <a:t>）框架的文章之一。他们提出了一个多模态和半监督的联邦学习框架，该框架训练自编码器从客户端的不同本地数据模态中提取共享或相关表示。此外，他们还提出了一种多模态</a:t>
            </a:r>
            <a:r>
              <a:rPr lang="en-US" altLang="zh-CN" b="1" i="1" dirty="0" err="1">
                <a:latin typeface="新宋体" panose="02010609030101010101" pitchFamily="49" charset="-122"/>
                <a:ea typeface="新宋体" panose="02010609030101010101" pitchFamily="49" charset="-122"/>
              </a:rPr>
              <a:t>fedag</a:t>
            </a:r>
            <a:r>
              <a:rPr lang="zh-CN" altLang="en-US" dirty="0">
                <a:latin typeface="新宋体" panose="02010609030101010101" pitchFamily="49" charset="-122"/>
                <a:ea typeface="新宋体" panose="02010609030101010101" pitchFamily="49" charset="-122"/>
              </a:rPr>
              <a:t>算法来聚合在不同数据模态上训练的本地自编码器。</a:t>
            </a:r>
          </a:p>
        </p:txBody>
      </p:sp>
      <p:sp>
        <p:nvSpPr>
          <p:cNvPr id="14" name="文本框 13">
            <a:extLst>
              <a:ext uri="{FF2B5EF4-FFF2-40B4-BE49-F238E27FC236}">
                <a16:creationId xmlns:a16="http://schemas.microsoft.com/office/drawing/2014/main" id="{7A7BD568-D15F-F084-5355-C15A596D772E}"/>
              </a:ext>
            </a:extLst>
          </p:cNvPr>
          <p:cNvSpPr txBox="1"/>
          <p:nvPr/>
        </p:nvSpPr>
        <p:spPr>
          <a:xfrm>
            <a:off x="9550400" y="6474691"/>
            <a:ext cx="2641600" cy="369332"/>
          </a:xfrm>
          <a:prstGeom prst="rect">
            <a:avLst/>
          </a:prstGeom>
          <a:noFill/>
        </p:spPr>
        <p:txBody>
          <a:bodyPr wrap="square" rtlCol="0">
            <a:spAutoFit/>
          </a:bodyPr>
          <a:lstStyle/>
          <a:p>
            <a:r>
              <a:rPr lang="zh-CN" altLang="en-US" dirty="0"/>
              <a:t>难度：</a:t>
            </a:r>
            <a:r>
              <a:rPr lang="en-US" altLang="zh-CN" dirty="0"/>
              <a:t>2/5</a:t>
            </a:r>
            <a:endParaRPr lang="zh-CN" altLang="en-US" dirty="0"/>
          </a:p>
        </p:txBody>
      </p:sp>
    </p:spTree>
    <p:extLst>
      <p:ext uri="{BB962C8B-B14F-4D97-AF65-F5344CB8AC3E}">
        <p14:creationId xmlns:p14="http://schemas.microsoft.com/office/powerpoint/2010/main" val="3680307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85D4F-7A3B-B6D7-D06E-1571C3CC0B90}"/>
            </a:ext>
          </a:extLst>
        </p:cNvPr>
        <p:cNvGrpSpPr/>
        <p:nvPr/>
      </p:nvGrpSpPr>
      <p:grpSpPr>
        <a:xfrm>
          <a:off x="0" y="0"/>
          <a:ext cx="0" cy="0"/>
          <a:chOff x="0" y="0"/>
          <a:chExt cx="0" cy="0"/>
        </a:xfrm>
      </p:grpSpPr>
      <p:pic>
        <p:nvPicPr>
          <p:cNvPr id="3" name="图片 2" descr="图形用户界面, 应用程序&#10;&#10;AI 生成的内容可能不正确。">
            <a:extLst>
              <a:ext uri="{FF2B5EF4-FFF2-40B4-BE49-F238E27FC236}">
                <a16:creationId xmlns:a16="http://schemas.microsoft.com/office/drawing/2014/main" id="{94D83BB9-5325-D2C4-437A-9EE7C7DA6A46}"/>
              </a:ext>
            </a:extLst>
          </p:cNvPr>
          <p:cNvPicPr>
            <a:picLocks noChangeAspect="1"/>
          </p:cNvPicPr>
          <p:nvPr/>
        </p:nvPicPr>
        <p:blipFill>
          <a:blip r:embed="rId2"/>
          <a:stretch>
            <a:fillRect/>
          </a:stretch>
        </p:blipFill>
        <p:spPr>
          <a:xfrm>
            <a:off x="329808" y="2508903"/>
            <a:ext cx="11088647" cy="3829584"/>
          </a:xfrm>
          <a:prstGeom prst="rect">
            <a:avLst/>
          </a:prstGeom>
        </p:spPr>
      </p:pic>
      <p:sp>
        <p:nvSpPr>
          <p:cNvPr id="7" name="文本框 6">
            <a:extLst>
              <a:ext uri="{FF2B5EF4-FFF2-40B4-BE49-F238E27FC236}">
                <a16:creationId xmlns:a16="http://schemas.microsoft.com/office/drawing/2014/main" id="{2A2F38FE-759F-5E92-B068-002697C6B94B}"/>
              </a:ext>
            </a:extLst>
          </p:cNvPr>
          <p:cNvSpPr txBox="1"/>
          <p:nvPr/>
        </p:nvSpPr>
        <p:spPr>
          <a:xfrm>
            <a:off x="0" y="6611779"/>
            <a:ext cx="11418455" cy="246221"/>
          </a:xfrm>
          <a:prstGeom prst="rect">
            <a:avLst/>
          </a:prstGeom>
          <a:noFill/>
        </p:spPr>
        <p:txBody>
          <a:bodyPr wrap="square">
            <a:spAutoFit/>
          </a:bodyPr>
          <a:lstStyle/>
          <a:p>
            <a:r>
              <a:rPr lang="en-US" altLang="zh-CN" sz="1000" b="0" i="1" dirty="0">
                <a:solidFill>
                  <a:srgbClr val="222222"/>
                </a:solidFill>
                <a:effectLst/>
                <a:latin typeface="Arial" panose="020B0604020202020204" pitchFamily="34" charset="0"/>
              </a:rPr>
              <a:t>Yu, </a:t>
            </a:r>
            <a:r>
              <a:rPr lang="en-US" altLang="zh-CN" sz="1000" b="0" i="1" dirty="0" err="1">
                <a:solidFill>
                  <a:srgbClr val="222222"/>
                </a:solidFill>
                <a:effectLst/>
                <a:latin typeface="Arial" panose="020B0604020202020204" pitchFamily="34" charset="0"/>
              </a:rPr>
              <a:t>Qiying</a:t>
            </a:r>
            <a:r>
              <a:rPr lang="en-US" altLang="zh-CN" sz="1000" b="0" i="1" dirty="0">
                <a:solidFill>
                  <a:srgbClr val="222222"/>
                </a:solidFill>
                <a:effectLst/>
                <a:latin typeface="Arial" panose="020B0604020202020204" pitchFamily="34" charset="0"/>
              </a:rPr>
              <a:t>, et al. "Multimodal federated learning via contrastive representation ensemble." ICLR (2023).</a:t>
            </a:r>
            <a:endParaRPr lang="zh-CN" altLang="en-US" sz="1000" i="1" dirty="0">
              <a:solidFill>
                <a:srgbClr val="222222"/>
              </a:solidFill>
              <a:latin typeface="Arial" panose="020B0604020202020204" pitchFamily="34" charset="0"/>
            </a:endParaRPr>
          </a:p>
        </p:txBody>
      </p:sp>
      <p:sp>
        <p:nvSpPr>
          <p:cNvPr id="10" name="标题 1">
            <a:extLst>
              <a:ext uri="{FF2B5EF4-FFF2-40B4-BE49-F238E27FC236}">
                <a16:creationId xmlns:a16="http://schemas.microsoft.com/office/drawing/2014/main" id="{2A589C67-2D2B-C15F-E963-191D7BCBA8F7}"/>
              </a:ext>
            </a:extLst>
          </p:cNvPr>
          <p:cNvSpPr txBox="1">
            <a:spLocks/>
          </p:cNvSpPr>
          <p:nvPr/>
        </p:nvSpPr>
        <p:spPr>
          <a:xfrm>
            <a:off x="210127" y="219616"/>
            <a:ext cx="4371109"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相关工作（</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2023</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a:t>
            </a:r>
          </a:p>
        </p:txBody>
      </p:sp>
      <p:sp>
        <p:nvSpPr>
          <p:cNvPr id="13" name="文本框 12">
            <a:extLst>
              <a:ext uri="{FF2B5EF4-FFF2-40B4-BE49-F238E27FC236}">
                <a16:creationId xmlns:a16="http://schemas.microsoft.com/office/drawing/2014/main" id="{B0CE8B47-92B4-6803-1866-203EE4B4C88A}"/>
              </a:ext>
            </a:extLst>
          </p:cNvPr>
          <p:cNvSpPr txBox="1"/>
          <p:nvPr/>
        </p:nvSpPr>
        <p:spPr>
          <a:xfrm>
            <a:off x="357121" y="895371"/>
            <a:ext cx="11218350" cy="1477328"/>
          </a:xfrm>
          <a:prstGeom prst="rect">
            <a:avLst/>
          </a:prstGeom>
          <a:noFill/>
        </p:spPr>
        <p:txBody>
          <a:bodyPr wrap="square" rtlCol="0">
            <a:spAutoFit/>
          </a:bodyPr>
          <a:lstStyle/>
          <a:p>
            <a:r>
              <a:rPr lang="en-US" altLang="zh-CN" b="1" i="1" dirty="0" err="1">
                <a:latin typeface="新宋体" panose="02010609030101010101" pitchFamily="49" charset="-122"/>
                <a:ea typeface="新宋体" panose="02010609030101010101" pitchFamily="49" charset="-122"/>
              </a:rPr>
              <a:t>CreamFL</a:t>
            </a:r>
            <a:r>
              <a:rPr lang="en-US" altLang="zh-CN" dirty="0">
                <a:latin typeface="新宋体" panose="02010609030101010101" pitchFamily="49" charset="-122"/>
                <a:ea typeface="新宋体" panose="02010609030101010101" pitchFamily="49" charset="-122"/>
              </a:rPr>
              <a:t>: </a:t>
            </a:r>
            <a:r>
              <a:rPr lang="zh-CN" altLang="en-US" dirty="0">
                <a:latin typeface="新宋体" panose="02010609030101010101" pitchFamily="49" charset="-122"/>
                <a:ea typeface="新宋体" panose="02010609030101010101" pitchFamily="49" charset="-122"/>
              </a:rPr>
              <a:t>他们设计了一个全局</a:t>
            </a:r>
            <a:r>
              <a:rPr lang="en-US" altLang="zh-CN" dirty="0">
                <a:latin typeface="新宋体" panose="02010609030101010101" pitchFamily="49" charset="-122"/>
                <a:ea typeface="新宋体" panose="02010609030101010101" pitchFamily="49" charset="-122"/>
              </a:rPr>
              <a:t>-</a:t>
            </a:r>
            <a:r>
              <a:rPr lang="zh-CN" altLang="en-US" dirty="0">
                <a:latin typeface="新宋体" panose="02010609030101010101" pitchFamily="49" charset="-122"/>
                <a:ea typeface="新宋体" panose="02010609030101010101" pitchFamily="49" charset="-122"/>
              </a:rPr>
              <a:t>局部跨模态集成策略来聚合客户端</a:t>
            </a:r>
            <a:r>
              <a:rPr lang="en-US" altLang="zh-CN" dirty="0">
                <a:latin typeface="新宋体" panose="02010609030101010101" pitchFamily="49" charset="-122"/>
                <a:ea typeface="新宋体" panose="02010609030101010101" pitchFamily="49" charset="-122"/>
              </a:rPr>
              <a:t>representations</a:t>
            </a:r>
            <a:r>
              <a:rPr lang="zh-CN" altLang="en-US" dirty="0">
                <a:latin typeface="新宋体" panose="02010609030101010101" pitchFamily="49" charset="-122"/>
                <a:ea typeface="新宋体" panose="02010609030101010101" pitchFamily="49" charset="-122"/>
              </a:rPr>
              <a:t>。为了减轻由多模态差异（模态差距和任务差距）引起的两个前所未有的异质性（每个客户端模态类型可能都不一样）因素造成的局部模型漂移（每个客户端模型训练出来都可能不一样），我们进一步提出了两种模态间（文本和图像）和模态内（文本内部也会存在异质性）对比来规范局部训练，这补充了单模态客户的缺失模态信息（</a:t>
            </a:r>
            <a:r>
              <a:rPr lang="en-US" altLang="zh-CN" dirty="0">
                <a:latin typeface="新宋体" panose="02010609030101010101" pitchFamily="49" charset="-122"/>
                <a:ea typeface="新宋体" panose="02010609030101010101" pitchFamily="49" charset="-122"/>
              </a:rPr>
              <a:t>server</a:t>
            </a:r>
            <a:r>
              <a:rPr lang="zh-CN" altLang="en-US" dirty="0">
                <a:latin typeface="新宋体" panose="02010609030101010101" pitchFamily="49" charset="-122"/>
                <a:ea typeface="新宋体" panose="02010609030101010101" pitchFamily="49" charset="-122"/>
              </a:rPr>
              <a:t>聚合全部客客户端的</a:t>
            </a:r>
            <a:r>
              <a:rPr lang="en-US" altLang="zh-CN" dirty="0">
                <a:latin typeface="新宋体" panose="02010609030101010101" pitchFamily="49" charset="-122"/>
                <a:ea typeface="新宋体" panose="02010609030101010101" pitchFamily="49" charset="-122"/>
              </a:rPr>
              <a:t>representations</a:t>
            </a:r>
            <a:r>
              <a:rPr lang="zh-CN" altLang="en-US" dirty="0">
                <a:latin typeface="新宋体" panose="02010609030101010101" pitchFamily="49" charset="-122"/>
                <a:ea typeface="新宋体" panose="02010609030101010101" pitchFamily="49" charset="-122"/>
              </a:rPr>
              <a:t>来获取全局知识包括文本和图像）。本篇文章也用了知识蒸馏用于模型信息传递。</a:t>
            </a:r>
          </a:p>
        </p:txBody>
      </p:sp>
      <p:sp>
        <p:nvSpPr>
          <p:cNvPr id="4" name="文本框 3">
            <a:extLst>
              <a:ext uri="{FF2B5EF4-FFF2-40B4-BE49-F238E27FC236}">
                <a16:creationId xmlns:a16="http://schemas.microsoft.com/office/drawing/2014/main" id="{0E35AAC4-FCF2-F3F0-7213-007F94AA356A}"/>
              </a:ext>
            </a:extLst>
          </p:cNvPr>
          <p:cNvSpPr txBox="1"/>
          <p:nvPr/>
        </p:nvSpPr>
        <p:spPr>
          <a:xfrm>
            <a:off x="9550400" y="6474691"/>
            <a:ext cx="2641600" cy="369332"/>
          </a:xfrm>
          <a:prstGeom prst="rect">
            <a:avLst/>
          </a:prstGeom>
          <a:noFill/>
        </p:spPr>
        <p:txBody>
          <a:bodyPr wrap="square" rtlCol="0">
            <a:spAutoFit/>
          </a:bodyPr>
          <a:lstStyle/>
          <a:p>
            <a:r>
              <a:rPr lang="zh-CN" altLang="en-US" dirty="0"/>
              <a:t>难度：</a:t>
            </a:r>
            <a:r>
              <a:rPr lang="en-US" altLang="zh-CN" dirty="0"/>
              <a:t>3/5</a:t>
            </a:r>
            <a:endParaRPr lang="zh-CN" altLang="en-US" dirty="0"/>
          </a:p>
        </p:txBody>
      </p:sp>
    </p:spTree>
    <p:extLst>
      <p:ext uri="{BB962C8B-B14F-4D97-AF65-F5344CB8AC3E}">
        <p14:creationId xmlns:p14="http://schemas.microsoft.com/office/powerpoint/2010/main" val="2780638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C2A7C-1AEA-FEFA-7477-299797D17BE7}"/>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F9FD9993-5480-1F7E-AA99-7C945298E3BF}"/>
              </a:ext>
            </a:extLst>
          </p:cNvPr>
          <p:cNvSpPr txBox="1"/>
          <p:nvPr/>
        </p:nvSpPr>
        <p:spPr>
          <a:xfrm>
            <a:off x="0" y="6611779"/>
            <a:ext cx="11418455" cy="246221"/>
          </a:xfrm>
          <a:prstGeom prst="rect">
            <a:avLst/>
          </a:prstGeom>
          <a:noFill/>
        </p:spPr>
        <p:txBody>
          <a:bodyPr wrap="square">
            <a:spAutoFit/>
          </a:bodyPr>
          <a:lstStyle/>
          <a:p>
            <a:r>
              <a:rPr lang="en-US" altLang="zh-CN" sz="1000" b="0" i="0" dirty="0">
                <a:solidFill>
                  <a:srgbClr val="222222"/>
                </a:solidFill>
                <a:effectLst/>
                <a:latin typeface="Arial" panose="020B0604020202020204" pitchFamily="34" charset="0"/>
              </a:rPr>
              <a:t>Chen, Jiayi, and </a:t>
            </a:r>
            <a:r>
              <a:rPr lang="en-US" altLang="zh-CN" sz="1000" b="0" i="0" dirty="0" err="1">
                <a:solidFill>
                  <a:srgbClr val="222222"/>
                </a:solidFill>
                <a:effectLst/>
                <a:latin typeface="Arial" panose="020B0604020202020204" pitchFamily="34" charset="0"/>
              </a:rPr>
              <a:t>Aidong</a:t>
            </a:r>
            <a:r>
              <a:rPr lang="en-US" altLang="zh-CN" sz="1000" b="0" i="0" dirty="0">
                <a:solidFill>
                  <a:srgbClr val="222222"/>
                </a:solidFill>
                <a:effectLst/>
                <a:latin typeface="Arial" panose="020B0604020202020204" pitchFamily="34" charset="0"/>
              </a:rPr>
              <a:t> Zhang. "</a:t>
            </a:r>
            <a:r>
              <a:rPr lang="en-US" altLang="zh-CN" sz="1000" b="0" i="0" dirty="0" err="1">
                <a:solidFill>
                  <a:srgbClr val="222222"/>
                </a:solidFill>
                <a:effectLst/>
                <a:latin typeface="Arial" panose="020B0604020202020204" pitchFamily="34" charset="0"/>
              </a:rPr>
              <a:t>FedMBridge</a:t>
            </a:r>
            <a:r>
              <a:rPr lang="en-US" altLang="zh-CN" sz="1000" b="0" i="0" dirty="0">
                <a:solidFill>
                  <a:srgbClr val="222222"/>
                </a:solidFill>
                <a:effectLst/>
                <a:latin typeface="Arial" panose="020B0604020202020204" pitchFamily="34" charset="0"/>
              </a:rPr>
              <a:t>: bridgeable multimodal federated learning." </a:t>
            </a:r>
            <a:r>
              <a:rPr lang="en-US" altLang="zh-CN" sz="1000" b="0" i="1" dirty="0">
                <a:solidFill>
                  <a:srgbClr val="222222"/>
                </a:solidFill>
                <a:effectLst/>
                <a:latin typeface="Arial" panose="020B0604020202020204" pitchFamily="34" charset="0"/>
              </a:rPr>
              <a:t>Forty-first ICML</a:t>
            </a:r>
            <a:r>
              <a:rPr lang="en-US" altLang="zh-CN" sz="1000" b="0" i="0" dirty="0">
                <a:solidFill>
                  <a:srgbClr val="222222"/>
                </a:solidFill>
                <a:effectLst/>
                <a:latin typeface="Arial" panose="020B0604020202020204" pitchFamily="34" charset="0"/>
              </a:rPr>
              <a:t>. 2024</a:t>
            </a:r>
            <a:r>
              <a:rPr lang="en-US" altLang="zh-CN" sz="1000" b="0" i="1" dirty="0">
                <a:solidFill>
                  <a:srgbClr val="222222"/>
                </a:solidFill>
                <a:effectLst/>
                <a:latin typeface="Arial" panose="020B0604020202020204" pitchFamily="34" charset="0"/>
              </a:rPr>
              <a:t>.</a:t>
            </a:r>
            <a:endParaRPr lang="zh-CN" altLang="en-US" sz="1000" i="1" dirty="0">
              <a:solidFill>
                <a:srgbClr val="222222"/>
              </a:solidFill>
              <a:latin typeface="Arial" panose="020B0604020202020204" pitchFamily="34" charset="0"/>
            </a:endParaRPr>
          </a:p>
        </p:txBody>
      </p:sp>
      <p:sp>
        <p:nvSpPr>
          <p:cNvPr id="10" name="标题 1">
            <a:extLst>
              <a:ext uri="{FF2B5EF4-FFF2-40B4-BE49-F238E27FC236}">
                <a16:creationId xmlns:a16="http://schemas.microsoft.com/office/drawing/2014/main" id="{792C993B-603C-CDC9-B123-DA198CFEA93F}"/>
              </a:ext>
            </a:extLst>
          </p:cNvPr>
          <p:cNvSpPr txBox="1">
            <a:spLocks/>
          </p:cNvSpPr>
          <p:nvPr/>
        </p:nvSpPr>
        <p:spPr>
          <a:xfrm>
            <a:off x="210127" y="219616"/>
            <a:ext cx="4371109"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相关工作（</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2024</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a:t>
            </a:r>
          </a:p>
        </p:txBody>
      </p:sp>
      <p:sp>
        <p:nvSpPr>
          <p:cNvPr id="13" name="文本框 12">
            <a:extLst>
              <a:ext uri="{FF2B5EF4-FFF2-40B4-BE49-F238E27FC236}">
                <a16:creationId xmlns:a16="http://schemas.microsoft.com/office/drawing/2014/main" id="{90D4BE08-79DE-D7DA-609A-F1378A881D76}"/>
              </a:ext>
            </a:extLst>
          </p:cNvPr>
          <p:cNvSpPr txBox="1"/>
          <p:nvPr/>
        </p:nvSpPr>
        <p:spPr>
          <a:xfrm>
            <a:off x="357121" y="895371"/>
            <a:ext cx="11218350" cy="1200329"/>
          </a:xfrm>
          <a:prstGeom prst="rect">
            <a:avLst/>
          </a:prstGeom>
          <a:noFill/>
        </p:spPr>
        <p:txBody>
          <a:bodyPr wrap="square" rtlCol="0">
            <a:spAutoFit/>
          </a:bodyPr>
          <a:lstStyle/>
          <a:p>
            <a:r>
              <a:rPr lang="en-US" altLang="zh-CN" b="1" i="1" dirty="0" err="1">
                <a:solidFill>
                  <a:srgbClr val="111111"/>
                </a:solidFill>
                <a:effectLst/>
                <a:latin typeface="新宋体" panose="02010609030101010101" pitchFamily="49" charset="-122"/>
                <a:ea typeface="新宋体" panose="02010609030101010101" pitchFamily="49" charset="-122"/>
              </a:rPr>
              <a:t>FedMBridge</a:t>
            </a:r>
            <a:r>
              <a:rPr lang="zh-CN" altLang="en-US" b="1" i="0" dirty="0">
                <a:solidFill>
                  <a:srgbClr val="111111"/>
                </a:solidFill>
                <a:effectLst/>
                <a:latin typeface="Arial" panose="020B0604020202020204" pitchFamily="34" charset="0"/>
              </a:rPr>
              <a:t>：</a:t>
            </a:r>
            <a:r>
              <a:rPr lang="zh-CN" altLang="en-US" dirty="0">
                <a:latin typeface="新宋体" panose="02010609030101010101" pitchFamily="49" charset="-122"/>
                <a:ea typeface="新宋体" panose="02010609030101010101" pitchFamily="49" charset="-122"/>
              </a:rPr>
              <a:t>是一种新型的多模态联邦学习框架，旨在解决多模态联邦学习（</a:t>
            </a:r>
            <a:r>
              <a:rPr lang="en-US" altLang="zh-CN" dirty="0">
                <a:latin typeface="新宋体" panose="02010609030101010101" pitchFamily="49" charset="-122"/>
                <a:ea typeface="新宋体" panose="02010609030101010101" pitchFamily="49" charset="-122"/>
              </a:rPr>
              <a:t>MFL</a:t>
            </a:r>
            <a:r>
              <a:rPr lang="zh-CN" altLang="en-US" dirty="0">
                <a:latin typeface="新宋体" panose="02010609030101010101" pitchFamily="49" charset="-122"/>
                <a:ea typeface="新宋体" panose="02010609030101010101" pitchFamily="49" charset="-122"/>
              </a:rPr>
              <a:t>）中的关键挑战，如任务复杂性、多模态差异性和资源预算差异性。该框架引入了拓扑感知超网络（</a:t>
            </a:r>
            <a:r>
              <a:rPr lang="en-US" altLang="zh-CN" dirty="0">
                <a:latin typeface="新宋体" panose="02010609030101010101" pitchFamily="49" charset="-122"/>
                <a:ea typeface="新宋体" panose="02010609030101010101" pitchFamily="49" charset="-122"/>
              </a:rPr>
              <a:t>Topology-aware </a:t>
            </a:r>
            <a:r>
              <a:rPr lang="en-US" altLang="zh-CN" dirty="0" err="1">
                <a:latin typeface="新宋体" panose="02010609030101010101" pitchFamily="49" charset="-122"/>
                <a:ea typeface="新宋体" panose="02010609030101010101" pitchFamily="49" charset="-122"/>
              </a:rPr>
              <a:t>HyperNetwork</a:t>
            </a:r>
            <a:r>
              <a:rPr lang="en-US" altLang="zh-CN" dirty="0">
                <a:latin typeface="新宋体" panose="02010609030101010101" pitchFamily="49" charset="-122"/>
                <a:ea typeface="新宋体" panose="02010609030101010101" pitchFamily="49" charset="-122"/>
              </a:rPr>
              <a:t>, TAHN</a:t>
            </a:r>
            <a:r>
              <a:rPr lang="zh-CN" altLang="en-US" dirty="0">
                <a:latin typeface="新宋体" panose="02010609030101010101" pitchFamily="49" charset="-122"/>
                <a:ea typeface="新宋体" panose="02010609030101010101" pitchFamily="49" charset="-122"/>
              </a:rPr>
              <a:t>），支持任意架构的设计，允许客户端采用异构神经网络，通过全局共享拓扑空间和任务空间实现知识共享。</a:t>
            </a:r>
          </a:p>
        </p:txBody>
      </p:sp>
      <p:sp>
        <p:nvSpPr>
          <p:cNvPr id="4" name="文本框 3">
            <a:extLst>
              <a:ext uri="{FF2B5EF4-FFF2-40B4-BE49-F238E27FC236}">
                <a16:creationId xmlns:a16="http://schemas.microsoft.com/office/drawing/2014/main" id="{96BFD985-C556-D834-6220-B71CE6D6BA58}"/>
              </a:ext>
            </a:extLst>
          </p:cNvPr>
          <p:cNvSpPr txBox="1"/>
          <p:nvPr/>
        </p:nvSpPr>
        <p:spPr>
          <a:xfrm>
            <a:off x="9550400" y="6474691"/>
            <a:ext cx="2641600" cy="369332"/>
          </a:xfrm>
          <a:prstGeom prst="rect">
            <a:avLst/>
          </a:prstGeom>
          <a:noFill/>
        </p:spPr>
        <p:txBody>
          <a:bodyPr wrap="square" rtlCol="0">
            <a:spAutoFit/>
          </a:bodyPr>
          <a:lstStyle/>
          <a:p>
            <a:r>
              <a:rPr lang="zh-CN" altLang="en-US" dirty="0"/>
              <a:t>难度：</a:t>
            </a:r>
            <a:r>
              <a:rPr lang="en-US" altLang="zh-CN" dirty="0"/>
              <a:t>4.5/5</a:t>
            </a:r>
            <a:endParaRPr lang="zh-CN" altLang="en-US" dirty="0"/>
          </a:p>
        </p:txBody>
      </p:sp>
      <p:pic>
        <p:nvPicPr>
          <p:cNvPr id="6" name="图片 5" descr="图示&#10;&#10;AI 生成的内容可能不正确。">
            <a:extLst>
              <a:ext uri="{FF2B5EF4-FFF2-40B4-BE49-F238E27FC236}">
                <a16:creationId xmlns:a16="http://schemas.microsoft.com/office/drawing/2014/main" id="{5C5FE6DE-6706-88C8-9755-E41CF23C69A6}"/>
              </a:ext>
            </a:extLst>
          </p:cNvPr>
          <p:cNvPicPr>
            <a:picLocks noChangeAspect="1"/>
          </p:cNvPicPr>
          <p:nvPr/>
        </p:nvPicPr>
        <p:blipFill>
          <a:blip r:embed="rId2"/>
          <a:stretch>
            <a:fillRect/>
          </a:stretch>
        </p:blipFill>
        <p:spPr>
          <a:xfrm>
            <a:off x="0" y="2127835"/>
            <a:ext cx="12192000" cy="3834794"/>
          </a:xfrm>
          <a:prstGeom prst="rect">
            <a:avLst/>
          </a:prstGeom>
        </p:spPr>
      </p:pic>
    </p:spTree>
    <p:extLst>
      <p:ext uri="{BB962C8B-B14F-4D97-AF65-F5344CB8AC3E}">
        <p14:creationId xmlns:p14="http://schemas.microsoft.com/office/powerpoint/2010/main" val="1904457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9D196-5944-5D5C-4422-53CB37531FFA}"/>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FBE91B31-06D6-034C-1437-F1B0FE471555}"/>
              </a:ext>
            </a:extLst>
          </p:cNvPr>
          <p:cNvSpPr txBox="1">
            <a:spLocks/>
          </p:cNvSpPr>
          <p:nvPr/>
        </p:nvSpPr>
        <p:spPr>
          <a:xfrm>
            <a:off x="210127" y="219616"/>
            <a:ext cx="5479473"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潜在</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Methodology</a:t>
            </a:r>
            <a:endParaRPr lang="zh-CN" altLang="en-US" sz="3600" b="1" dirty="0">
              <a:latin typeface="新宋体" panose="02010609030101010101" pitchFamily="49" charset="-122"/>
              <a:ea typeface="新宋体" panose="02010609030101010101" pitchFamily="49" charset="-122"/>
              <a:cs typeface="ADLaM Display" panose="020F0502020204030204" pitchFamily="2" charset="0"/>
            </a:endParaRPr>
          </a:p>
        </p:txBody>
      </p:sp>
      <p:sp>
        <p:nvSpPr>
          <p:cNvPr id="10" name="文本框 9">
            <a:extLst>
              <a:ext uri="{FF2B5EF4-FFF2-40B4-BE49-F238E27FC236}">
                <a16:creationId xmlns:a16="http://schemas.microsoft.com/office/drawing/2014/main" id="{74BE4150-72D0-ED8B-97C8-6D9DD77B0E44}"/>
              </a:ext>
            </a:extLst>
          </p:cNvPr>
          <p:cNvSpPr txBox="1"/>
          <p:nvPr/>
        </p:nvSpPr>
        <p:spPr>
          <a:xfrm>
            <a:off x="210127" y="988583"/>
            <a:ext cx="11575473" cy="3693319"/>
          </a:xfrm>
          <a:prstGeom prst="rect">
            <a:avLst/>
          </a:prstGeom>
          <a:noFill/>
        </p:spPr>
        <p:txBody>
          <a:bodyPr wrap="square">
            <a:spAutoFit/>
          </a:bodyPr>
          <a:lstStyle/>
          <a:p>
            <a:r>
              <a:rPr lang="zh-CN" altLang="en-US" dirty="0"/>
              <a:t>多模态联邦学习，其中有三种模态，每个客户端可能拥有的模态都不一样。全局模型同时具备输入三个模态的能力。 </a:t>
            </a:r>
            <a:endParaRPr lang="en-US" altLang="zh-CN" dirty="0"/>
          </a:p>
          <a:p>
            <a:r>
              <a:rPr lang="zh-CN" altLang="en-US" dirty="0"/>
              <a:t>根据前面的现有相关工作： </a:t>
            </a:r>
            <a:endParaRPr lang="en-US" altLang="zh-CN" dirty="0"/>
          </a:p>
          <a:p>
            <a:r>
              <a:rPr lang="zh-CN" altLang="en-US" dirty="0"/>
              <a:t>（</a:t>
            </a:r>
            <a:r>
              <a:rPr lang="en-US" altLang="zh-CN" dirty="0"/>
              <a:t>1</a:t>
            </a:r>
            <a:r>
              <a:rPr lang="zh-CN" altLang="en-US" dirty="0"/>
              <a:t>）通过</a:t>
            </a:r>
            <a:r>
              <a:rPr lang="zh-CN" altLang="en-US" b="1" dirty="0"/>
              <a:t>模态间表征对比学习</a:t>
            </a:r>
            <a:r>
              <a:rPr lang="zh-CN" altLang="en-US" dirty="0"/>
              <a:t>将表征融合再与全局模型对比融合进全局模型中。（</a:t>
            </a:r>
            <a:r>
              <a:rPr lang="en-US" altLang="zh-CN" b="1" i="1" dirty="0">
                <a:latin typeface="新宋体" panose="02010609030101010101" pitchFamily="49" charset="-122"/>
                <a:ea typeface="新宋体" panose="02010609030101010101" pitchFamily="49" charset="-122"/>
              </a:rPr>
              <a:t> </a:t>
            </a:r>
            <a:r>
              <a:rPr lang="en-US" altLang="zh-CN" b="1" i="1" dirty="0" err="1">
                <a:latin typeface="新宋体" panose="02010609030101010101" pitchFamily="49" charset="-122"/>
                <a:ea typeface="新宋体" panose="02010609030101010101" pitchFamily="49" charset="-122"/>
              </a:rPr>
              <a:t>CreamFL</a:t>
            </a:r>
            <a:r>
              <a:rPr lang="en-US" altLang="zh-CN" b="1" i="1" dirty="0">
                <a:latin typeface="新宋体" panose="02010609030101010101" pitchFamily="49" charset="-122"/>
                <a:ea typeface="新宋体" panose="02010609030101010101" pitchFamily="49" charset="-122"/>
              </a:rPr>
              <a:t> </a:t>
            </a:r>
            <a:r>
              <a:rPr lang="zh-CN" altLang="en-US" dirty="0"/>
              <a:t>） </a:t>
            </a:r>
            <a:endParaRPr lang="en-US" altLang="zh-CN" dirty="0"/>
          </a:p>
          <a:p>
            <a:r>
              <a:rPr lang="zh-CN" altLang="en-US" dirty="0"/>
              <a:t>（</a:t>
            </a:r>
            <a:r>
              <a:rPr lang="en-US" altLang="zh-CN" dirty="0"/>
              <a:t>2</a:t>
            </a:r>
            <a:r>
              <a:rPr lang="zh-CN" altLang="en-US" dirty="0"/>
              <a:t>）每个客户端都学一个</a:t>
            </a:r>
            <a:r>
              <a:rPr lang="zh-CN" altLang="en-US" b="1" dirty="0"/>
              <a:t>相应模态的的</a:t>
            </a:r>
            <a:r>
              <a:rPr lang="en-US" altLang="zh-CN" b="1" dirty="0"/>
              <a:t>auto-encoder</a:t>
            </a:r>
            <a:r>
              <a:rPr lang="zh-CN" altLang="en-US" dirty="0"/>
              <a:t>，全局模型再聚合，这样每个全局模型具备所有模态</a:t>
            </a:r>
            <a:r>
              <a:rPr lang="en-US" altLang="zh-CN" dirty="0"/>
              <a:t>encoder</a:t>
            </a:r>
            <a:r>
              <a:rPr lang="zh-CN" altLang="en-US" dirty="0"/>
              <a:t>能力。（</a:t>
            </a:r>
            <a:r>
              <a:rPr lang="en-US" altLang="zh-CN" dirty="0"/>
              <a:t>2022</a:t>
            </a:r>
            <a:r>
              <a:rPr lang="zh-CN" altLang="en-US" dirty="0"/>
              <a:t>年）</a:t>
            </a:r>
            <a:br>
              <a:rPr lang="en-US" altLang="zh-CN" dirty="0"/>
            </a:br>
            <a:r>
              <a:rPr lang="zh-CN" altLang="en-US" dirty="0"/>
              <a:t>这两种方法都</a:t>
            </a:r>
            <a:r>
              <a:rPr lang="zh-CN" altLang="en-US" b="1" dirty="0"/>
              <a:t>不具备任务泛化的能力</a:t>
            </a:r>
            <a:r>
              <a:rPr lang="zh-CN" altLang="en-US" dirty="0"/>
              <a:t>。（第一种需要花费大量资源来进行对比学习）</a:t>
            </a:r>
            <a:endParaRPr lang="en-US" altLang="zh-CN" dirty="0"/>
          </a:p>
          <a:p>
            <a:r>
              <a:rPr lang="zh-CN" altLang="en-US" dirty="0"/>
              <a:t>（</a:t>
            </a:r>
            <a:r>
              <a:rPr lang="en-US" altLang="zh-CN" dirty="0"/>
              <a:t>3</a:t>
            </a:r>
            <a:r>
              <a:rPr lang="zh-CN" altLang="en-US" dirty="0"/>
              <a:t>）</a:t>
            </a:r>
            <a:r>
              <a:rPr lang="en-US" altLang="zh-CN" dirty="0"/>
              <a:t>2024</a:t>
            </a:r>
            <a:r>
              <a:rPr lang="zh-CN" altLang="en-US" dirty="0"/>
              <a:t>的</a:t>
            </a:r>
            <a:r>
              <a:rPr lang="en-US" altLang="zh-CN" dirty="0" err="1"/>
              <a:t>FedMbridge</a:t>
            </a:r>
            <a:r>
              <a:rPr lang="zh-CN" altLang="en-US" dirty="0"/>
              <a:t>是一个很好的例子，他们能够将不同模型架构聚合到全局模型中，但是处理流程相当复杂。？且以图的方式聚合没有很好地利用表征间潜在共同空间（或正交表征）这些关系？</a:t>
            </a:r>
            <a:br>
              <a:rPr lang="en-US" altLang="zh-CN" dirty="0"/>
            </a:br>
            <a:br>
              <a:rPr lang="en-US" altLang="zh-CN" dirty="0"/>
            </a:br>
            <a:br>
              <a:rPr lang="en-US" altLang="zh-CN" dirty="0"/>
            </a:br>
            <a:r>
              <a:rPr lang="zh-CN" altLang="en-US" dirty="0"/>
              <a:t>我们可以通过</a:t>
            </a:r>
            <a:r>
              <a:rPr lang="en-US" altLang="zh-CN" b="1" i="1" dirty="0" err="1"/>
              <a:t>MoE</a:t>
            </a:r>
            <a:r>
              <a:rPr lang="zh-CN" altLang="en-US" dirty="0"/>
              <a:t>机制来</a:t>
            </a:r>
            <a:r>
              <a:rPr lang="zh-CN" altLang="en-US" b="1" dirty="0"/>
              <a:t>实现不同客户端不同任务模态表征融合进全局模型</a:t>
            </a:r>
            <a:r>
              <a:rPr lang="zh-CN" altLang="en-US" dirty="0"/>
              <a:t>中（暂定认为全局模型支持所有模态的输入）。</a:t>
            </a:r>
          </a:p>
        </p:txBody>
      </p:sp>
    </p:spTree>
    <p:extLst>
      <p:ext uri="{BB962C8B-B14F-4D97-AF65-F5344CB8AC3E}">
        <p14:creationId xmlns:p14="http://schemas.microsoft.com/office/powerpoint/2010/main" val="2592131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80FF6E87-C714-4605-B588-6EF9E1375FFE}"/>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6C11CD68-9DCD-59BC-E625-6325DFA17FF2}"/>
              </a:ext>
            </a:extLst>
          </p:cNvPr>
          <p:cNvSpPr txBox="1">
            <a:spLocks/>
          </p:cNvSpPr>
          <p:nvPr/>
        </p:nvSpPr>
        <p:spPr>
          <a:xfrm>
            <a:off x="210127" y="219616"/>
            <a:ext cx="5479473"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潜在</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Methodology</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2024</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a:t>
            </a:r>
          </a:p>
        </p:txBody>
      </p:sp>
      <p:sp>
        <p:nvSpPr>
          <p:cNvPr id="3" name="文本框 2">
            <a:extLst>
              <a:ext uri="{FF2B5EF4-FFF2-40B4-BE49-F238E27FC236}">
                <a16:creationId xmlns:a16="http://schemas.microsoft.com/office/drawing/2014/main" id="{60A73BE8-0B87-5070-4AE0-8F7D0CFB5CE9}"/>
              </a:ext>
            </a:extLst>
          </p:cNvPr>
          <p:cNvSpPr txBox="1"/>
          <p:nvPr/>
        </p:nvSpPr>
        <p:spPr>
          <a:xfrm>
            <a:off x="302490" y="942999"/>
            <a:ext cx="11529292" cy="3970318"/>
          </a:xfrm>
          <a:prstGeom prst="rect">
            <a:avLst/>
          </a:prstGeom>
          <a:noFill/>
        </p:spPr>
        <p:txBody>
          <a:bodyPr wrap="square">
            <a:spAutoFit/>
          </a:bodyPr>
          <a:lstStyle/>
          <a:p>
            <a:pPr>
              <a:buNone/>
            </a:pPr>
            <a:r>
              <a:rPr lang="zh-CN" altLang="en-US" b="1" dirty="0">
                <a:latin typeface="新宋体" panose="02010609030101010101" pitchFamily="49" charset="-122"/>
                <a:ea typeface="新宋体" panose="02010609030101010101" pitchFamily="49" charset="-122"/>
              </a:rPr>
              <a:t>核心思路：</a:t>
            </a:r>
            <a:r>
              <a:rPr lang="en-US" altLang="zh-CN" b="1" dirty="0" err="1">
                <a:latin typeface="新宋体" panose="02010609030101010101" pitchFamily="49" charset="-122"/>
                <a:ea typeface="新宋体" panose="02010609030101010101" pitchFamily="49" charset="-122"/>
              </a:rPr>
              <a:t>MoE</a:t>
            </a:r>
            <a:r>
              <a:rPr lang="en-US" altLang="zh-CN" b="1" dirty="0">
                <a:latin typeface="新宋体" panose="02010609030101010101" pitchFamily="49" charset="-122"/>
                <a:ea typeface="新宋体" panose="02010609030101010101" pitchFamily="49" charset="-122"/>
              </a:rPr>
              <a:t> </a:t>
            </a:r>
            <a:r>
              <a:rPr lang="zh-CN" altLang="en-US" b="1" dirty="0">
                <a:latin typeface="新宋体" panose="02010609030101010101" pitchFamily="49" charset="-122"/>
                <a:ea typeface="新宋体" panose="02010609030101010101" pitchFamily="49" charset="-122"/>
              </a:rPr>
              <a:t>作为客户端表征的适配机制</a:t>
            </a:r>
          </a:p>
          <a:p>
            <a:pPr>
              <a:buNone/>
            </a:pPr>
            <a:r>
              <a:rPr lang="zh-CN" altLang="en-US" dirty="0">
                <a:latin typeface="新宋体" panose="02010609030101010101" pitchFamily="49" charset="-122"/>
                <a:ea typeface="新宋体" panose="02010609030101010101" pitchFamily="49" charset="-122"/>
              </a:rPr>
              <a:t>你可以把 </a:t>
            </a:r>
            <a:r>
              <a:rPr lang="en-US" altLang="zh-CN" dirty="0" err="1">
                <a:latin typeface="新宋体" panose="02010609030101010101" pitchFamily="49" charset="-122"/>
                <a:ea typeface="新宋体" panose="02010609030101010101" pitchFamily="49" charset="-122"/>
              </a:rPr>
              <a:t>MoE</a:t>
            </a:r>
            <a:r>
              <a:rPr lang="en-US" altLang="zh-CN" dirty="0">
                <a:latin typeface="新宋体" panose="02010609030101010101" pitchFamily="49" charset="-122"/>
                <a:ea typeface="新宋体" panose="02010609030101010101" pitchFamily="49" charset="-122"/>
              </a:rPr>
              <a:t> </a:t>
            </a:r>
            <a:r>
              <a:rPr lang="zh-CN" altLang="en-US" dirty="0">
                <a:latin typeface="新宋体" panose="02010609030101010101" pitchFamily="49" charset="-122"/>
                <a:ea typeface="新宋体" panose="02010609030101010101" pitchFamily="49" charset="-122"/>
              </a:rPr>
              <a:t>设计成</a:t>
            </a:r>
            <a:r>
              <a:rPr lang="zh-CN" altLang="en-US" b="1" dirty="0">
                <a:latin typeface="新宋体" panose="02010609030101010101" pitchFamily="49" charset="-122"/>
                <a:ea typeface="新宋体" panose="02010609030101010101" pitchFamily="49" charset="-122"/>
              </a:rPr>
              <a:t>不同客户端的模型架构之间的桥梁</a:t>
            </a:r>
            <a:r>
              <a:rPr lang="zh-CN" altLang="en-US" dirty="0">
                <a:latin typeface="新宋体" panose="02010609030101010101" pitchFamily="49" charset="-122"/>
                <a:ea typeface="新宋体" panose="02010609030101010101" pitchFamily="49" charset="-122"/>
              </a:rPr>
              <a:t>，让它们的表征能够被映射到全局模型。实现上，可以从以下几个方向考虑：</a:t>
            </a:r>
          </a:p>
          <a:p>
            <a:pPr>
              <a:buNone/>
            </a:pPr>
            <a:r>
              <a:rPr lang="en-US" altLang="zh-CN" b="1" dirty="0">
                <a:latin typeface="新宋体" panose="02010609030101010101" pitchFamily="49" charset="-122"/>
                <a:ea typeface="新宋体" panose="02010609030101010101" pitchFamily="49" charset="-122"/>
              </a:rPr>
              <a:t>(1) </a:t>
            </a:r>
            <a:r>
              <a:rPr lang="en-US" altLang="zh-CN" b="1" dirty="0" err="1">
                <a:latin typeface="新宋体" panose="02010609030101010101" pitchFamily="49" charset="-122"/>
                <a:ea typeface="新宋体" panose="02010609030101010101" pitchFamily="49" charset="-122"/>
              </a:rPr>
              <a:t>MoE</a:t>
            </a:r>
            <a:r>
              <a:rPr lang="en-US" altLang="zh-CN" b="1" dirty="0">
                <a:latin typeface="新宋体" panose="02010609030101010101" pitchFamily="49" charset="-122"/>
                <a:ea typeface="新宋体" panose="02010609030101010101" pitchFamily="49" charset="-122"/>
              </a:rPr>
              <a:t> </a:t>
            </a:r>
            <a:r>
              <a:rPr lang="zh-CN" altLang="en-US" b="1" dirty="0">
                <a:latin typeface="新宋体" panose="02010609030101010101" pitchFamily="49" charset="-122"/>
                <a:ea typeface="新宋体" panose="02010609030101010101" pitchFamily="49" charset="-122"/>
              </a:rPr>
              <a:t>作为跨客户端表征对齐的专家</a:t>
            </a:r>
          </a:p>
          <a:p>
            <a:pPr>
              <a:buFont typeface="Arial" panose="020B0604020202020204" pitchFamily="34" charset="0"/>
              <a:buChar char="•"/>
            </a:pPr>
            <a:r>
              <a:rPr lang="zh-CN" altLang="en-US" b="1" dirty="0">
                <a:latin typeface="新宋体" panose="02010609030101010101" pitchFamily="49" charset="-122"/>
                <a:ea typeface="新宋体" panose="02010609030101010101" pitchFamily="49" charset="-122"/>
              </a:rPr>
              <a:t>每个客户端的模型学习本地模态表征，并训练特定 </a:t>
            </a:r>
            <a:r>
              <a:rPr lang="en-US" altLang="zh-CN" b="1" dirty="0">
                <a:latin typeface="新宋体" panose="02010609030101010101" pitchFamily="49" charset="-122"/>
                <a:ea typeface="新宋体" panose="02010609030101010101" pitchFamily="49" charset="-122"/>
              </a:rPr>
              <a:t>expert</a:t>
            </a:r>
            <a:r>
              <a:rPr lang="zh-CN" altLang="en-US" dirty="0">
                <a:latin typeface="新宋体" panose="02010609030101010101" pitchFamily="49" charset="-122"/>
                <a:ea typeface="新宋体" panose="02010609030101010101" pitchFamily="49" charset="-122"/>
              </a:rPr>
              <a:t>。这些 </a:t>
            </a:r>
            <a:r>
              <a:rPr lang="en-US" altLang="zh-CN" dirty="0">
                <a:latin typeface="新宋体" panose="02010609030101010101" pitchFamily="49" charset="-122"/>
                <a:ea typeface="新宋体" panose="02010609030101010101" pitchFamily="49" charset="-122"/>
              </a:rPr>
              <a:t>expert </a:t>
            </a:r>
            <a:r>
              <a:rPr lang="zh-CN" altLang="en-US" dirty="0">
                <a:latin typeface="新宋体" panose="02010609030101010101" pitchFamily="49" charset="-122"/>
                <a:ea typeface="新宋体" panose="02010609030101010101" pitchFamily="49" charset="-122"/>
              </a:rPr>
              <a:t>代表该客户端特定模态的特征提取方式。</a:t>
            </a:r>
          </a:p>
          <a:p>
            <a:pPr>
              <a:buFont typeface="Arial" panose="020B0604020202020204" pitchFamily="34" charset="0"/>
              <a:buChar char="•"/>
            </a:pPr>
            <a:r>
              <a:rPr lang="zh-CN" altLang="en-US" b="1" dirty="0">
                <a:latin typeface="新宋体" panose="02010609030101010101" pitchFamily="49" charset="-122"/>
                <a:ea typeface="新宋体" panose="02010609030101010101" pitchFamily="49" charset="-122"/>
              </a:rPr>
              <a:t>全局模型的某些关键层（例如 </a:t>
            </a:r>
            <a:r>
              <a:rPr lang="en-US" altLang="zh-CN" b="1" dirty="0">
                <a:latin typeface="新宋体" panose="02010609030101010101" pitchFamily="49" charset="-122"/>
                <a:ea typeface="新宋体" panose="02010609030101010101" pitchFamily="49" charset="-122"/>
              </a:rPr>
              <a:t>Transformer </a:t>
            </a:r>
            <a:r>
              <a:rPr lang="zh-CN" altLang="en-US" b="1" dirty="0">
                <a:latin typeface="新宋体" panose="02010609030101010101" pitchFamily="49" charset="-122"/>
                <a:ea typeface="新宋体" panose="02010609030101010101" pitchFamily="49" charset="-122"/>
              </a:rPr>
              <a:t>的 </a:t>
            </a:r>
            <a:r>
              <a:rPr lang="en-US" altLang="zh-CN" b="1" dirty="0">
                <a:latin typeface="新宋体" panose="02010609030101010101" pitchFamily="49" charset="-122"/>
                <a:ea typeface="新宋体" panose="02010609030101010101" pitchFamily="49" charset="-122"/>
              </a:rPr>
              <a:t>MLP </a:t>
            </a:r>
            <a:r>
              <a:rPr lang="zh-CN" altLang="en-US" b="1" dirty="0">
                <a:latin typeface="新宋体" panose="02010609030101010101" pitchFamily="49" charset="-122"/>
                <a:ea typeface="新宋体" panose="02010609030101010101" pitchFamily="49" charset="-122"/>
              </a:rPr>
              <a:t>层或者某些 </a:t>
            </a:r>
            <a:r>
              <a:rPr lang="en-US" altLang="zh-CN" b="1" dirty="0">
                <a:latin typeface="新宋体" panose="02010609030101010101" pitchFamily="49" charset="-122"/>
                <a:ea typeface="新宋体" panose="02010609030101010101" pitchFamily="49" charset="-122"/>
              </a:rPr>
              <a:t>Attention </a:t>
            </a:r>
            <a:r>
              <a:rPr lang="zh-CN" altLang="en-US" b="1" dirty="0">
                <a:latin typeface="新宋体" panose="02010609030101010101" pitchFamily="49" charset="-122"/>
                <a:ea typeface="新宋体" panose="02010609030101010101" pitchFamily="49" charset="-122"/>
              </a:rPr>
              <a:t>头）被设计成 </a:t>
            </a:r>
            <a:r>
              <a:rPr lang="en-US" altLang="zh-CN" b="1" dirty="0" err="1">
                <a:latin typeface="新宋体" panose="02010609030101010101" pitchFamily="49" charset="-122"/>
                <a:ea typeface="新宋体" panose="02010609030101010101" pitchFamily="49" charset="-122"/>
              </a:rPr>
              <a:t>MoE</a:t>
            </a:r>
            <a:r>
              <a:rPr lang="en-US" altLang="zh-CN" b="1" dirty="0">
                <a:latin typeface="新宋体" panose="02010609030101010101" pitchFamily="49" charset="-122"/>
                <a:ea typeface="新宋体" panose="02010609030101010101" pitchFamily="49" charset="-122"/>
              </a:rPr>
              <a:t> </a:t>
            </a:r>
            <a:r>
              <a:rPr lang="zh-CN" altLang="en-US" b="1" dirty="0">
                <a:latin typeface="新宋体" panose="02010609030101010101" pitchFamily="49" charset="-122"/>
                <a:ea typeface="新宋体" panose="02010609030101010101" pitchFamily="49" charset="-122"/>
              </a:rPr>
              <a:t>结构</a:t>
            </a:r>
            <a:r>
              <a:rPr lang="zh-CN" altLang="en-US" dirty="0">
                <a:latin typeface="新宋体" panose="02010609030101010101" pitchFamily="49" charset="-122"/>
                <a:ea typeface="新宋体" panose="02010609030101010101" pitchFamily="49" charset="-122"/>
              </a:rPr>
              <a:t>，并在聚合时动态选择合适的 </a:t>
            </a:r>
            <a:r>
              <a:rPr lang="en-US" altLang="zh-CN" dirty="0">
                <a:latin typeface="新宋体" panose="02010609030101010101" pitchFamily="49" charset="-122"/>
                <a:ea typeface="新宋体" panose="02010609030101010101" pitchFamily="49" charset="-122"/>
              </a:rPr>
              <a:t>expert </a:t>
            </a:r>
            <a:r>
              <a:rPr lang="zh-CN" altLang="en-US" dirty="0">
                <a:latin typeface="新宋体" panose="02010609030101010101" pitchFamily="49" charset="-122"/>
                <a:ea typeface="新宋体" panose="02010609030101010101" pitchFamily="49" charset="-122"/>
              </a:rPr>
              <a:t>来整合不同客户端的特征。</a:t>
            </a:r>
          </a:p>
          <a:p>
            <a:pPr>
              <a:buNone/>
            </a:pPr>
            <a:r>
              <a:rPr lang="zh-CN" altLang="en-US" dirty="0">
                <a:latin typeface="新宋体" panose="02010609030101010101" pitchFamily="49" charset="-122"/>
                <a:ea typeface="新宋体" panose="02010609030101010101" pitchFamily="49" charset="-122"/>
              </a:rPr>
              <a:t>📌 </a:t>
            </a:r>
            <a:r>
              <a:rPr lang="zh-CN" altLang="en-US" b="1" dirty="0">
                <a:latin typeface="新宋体" panose="02010609030101010101" pitchFamily="49" charset="-122"/>
                <a:ea typeface="新宋体" panose="02010609030101010101" pitchFamily="49" charset="-122"/>
              </a:rPr>
              <a:t>实现方式</a:t>
            </a:r>
            <a:r>
              <a:rPr lang="zh-CN" altLang="en-US" dirty="0">
                <a:latin typeface="新宋体" panose="02010609030101010101" pitchFamily="49" charset="-122"/>
                <a:ea typeface="新宋体" panose="02010609030101010101" pitchFamily="49" charset="-122"/>
              </a:rPr>
              <a:t>：</a:t>
            </a:r>
          </a:p>
          <a:p>
            <a:pPr>
              <a:buFont typeface="Arial" panose="020B0604020202020204" pitchFamily="34" charset="0"/>
              <a:buChar char="•"/>
            </a:pPr>
            <a:r>
              <a:rPr lang="zh-CN" altLang="en-US" dirty="0">
                <a:latin typeface="新宋体" panose="02010609030101010101" pitchFamily="49" charset="-122"/>
                <a:ea typeface="新宋体" panose="02010609030101010101" pitchFamily="49" charset="-122"/>
              </a:rPr>
              <a:t>让每个客户端训练一个 </a:t>
            </a:r>
            <a:r>
              <a:rPr lang="en-US" altLang="zh-CN" dirty="0">
                <a:latin typeface="新宋体" panose="02010609030101010101" pitchFamily="49" charset="-122"/>
                <a:ea typeface="新宋体" panose="02010609030101010101" pitchFamily="49" charset="-122"/>
              </a:rPr>
              <a:t>local expert</a:t>
            </a:r>
            <a:r>
              <a:rPr lang="zh-CN" altLang="en-US" dirty="0">
                <a:latin typeface="新宋体" panose="02010609030101010101" pitchFamily="49" charset="-122"/>
                <a:ea typeface="新宋体" panose="02010609030101010101" pitchFamily="49" charset="-122"/>
              </a:rPr>
              <a:t>（可以是 </a:t>
            </a:r>
            <a:r>
              <a:rPr lang="en-US" altLang="zh-CN" dirty="0">
                <a:latin typeface="新宋体" panose="02010609030101010101" pitchFamily="49" charset="-122"/>
                <a:ea typeface="新宋体" panose="02010609030101010101" pitchFamily="49" charset="-122"/>
              </a:rPr>
              <a:t>autoencoder </a:t>
            </a:r>
            <a:r>
              <a:rPr lang="zh-CN" altLang="en-US" dirty="0">
                <a:latin typeface="新宋体" panose="02010609030101010101" pitchFamily="49" charset="-122"/>
                <a:ea typeface="新宋体" panose="02010609030101010101" pitchFamily="49" charset="-122"/>
              </a:rPr>
              <a:t>的瓶颈表征、</a:t>
            </a:r>
            <a:r>
              <a:rPr lang="en-US" altLang="zh-CN" dirty="0">
                <a:latin typeface="新宋体" panose="02010609030101010101" pitchFamily="49" charset="-122"/>
                <a:ea typeface="新宋体" panose="02010609030101010101" pitchFamily="49" charset="-122"/>
              </a:rPr>
              <a:t>Transformer hidden states </a:t>
            </a:r>
            <a:r>
              <a:rPr lang="zh-CN" altLang="en-US" dirty="0">
                <a:latin typeface="新宋体" panose="02010609030101010101" pitchFamily="49" charset="-122"/>
                <a:ea typeface="新宋体" panose="02010609030101010101" pitchFamily="49" charset="-122"/>
              </a:rPr>
              <a:t>等）。</a:t>
            </a:r>
          </a:p>
          <a:p>
            <a:pPr>
              <a:buFont typeface="Arial" panose="020B0604020202020204" pitchFamily="34" charset="0"/>
              <a:buChar char="•"/>
            </a:pPr>
            <a:r>
              <a:rPr lang="zh-CN" altLang="en-US" dirty="0">
                <a:latin typeface="新宋体" panose="02010609030101010101" pitchFamily="49" charset="-122"/>
                <a:ea typeface="新宋体" panose="02010609030101010101" pitchFamily="49" charset="-122"/>
              </a:rPr>
              <a:t>在全局模型聚合时，利用 </a:t>
            </a:r>
            <a:r>
              <a:rPr lang="en-US" altLang="zh-CN" dirty="0" err="1">
                <a:latin typeface="新宋体" panose="02010609030101010101" pitchFamily="49" charset="-122"/>
                <a:ea typeface="新宋体" panose="02010609030101010101" pitchFamily="49" charset="-122"/>
              </a:rPr>
              <a:t>MoE</a:t>
            </a:r>
            <a:r>
              <a:rPr lang="en-US" altLang="zh-CN" dirty="0">
                <a:latin typeface="新宋体" panose="02010609030101010101" pitchFamily="49" charset="-122"/>
                <a:ea typeface="新宋体" panose="02010609030101010101" pitchFamily="49" charset="-122"/>
              </a:rPr>
              <a:t> gating </a:t>
            </a:r>
            <a:r>
              <a:rPr lang="zh-CN" altLang="en-US" dirty="0">
                <a:latin typeface="新宋体" panose="02010609030101010101" pitchFamily="49" charset="-122"/>
                <a:ea typeface="新宋体" panose="02010609030101010101" pitchFamily="49" charset="-122"/>
              </a:rPr>
              <a:t>机制决定</a:t>
            </a:r>
            <a:r>
              <a:rPr lang="zh-CN" altLang="en-US" b="1" dirty="0">
                <a:latin typeface="新宋体" panose="02010609030101010101" pitchFamily="49" charset="-122"/>
                <a:ea typeface="新宋体" panose="02010609030101010101" pitchFamily="49" charset="-122"/>
              </a:rPr>
              <a:t>不同 </a:t>
            </a:r>
            <a:r>
              <a:rPr lang="en-US" altLang="zh-CN" b="1" dirty="0">
                <a:latin typeface="新宋体" panose="02010609030101010101" pitchFamily="49" charset="-122"/>
                <a:ea typeface="新宋体" panose="02010609030101010101" pitchFamily="49" charset="-122"/>
              </a:rPr>
              <a:t>expert </a:t>
            </a:r>
            <a:r>
              <a:rPr lang="zh-CN" altLang="en-US" b="1" dirty="0">
                <a:latin typeface="新宋体" panose="02010609030101010101" pitchFamily="49" charset="-122"/>
                <a:ea typeface="新宋体" panose="02010609030101010101" pitchFamily="49" charset="-122"/>
              </a:rPr>
              <a:t>如何在模型的不同层被激活</a:t>
            </a:r>
            <a:r>
              <a:rPr lang="zh-CN" altLang="en-US" dirty="0">
                <a:latin typeface="新宋体" panose="02010609030101010101" pitchFamily="49" charset="-122"/>
                <a:ea typeface="新宋体" panose="02010609030101010101" pitchFamily="49" charset="-122"/>
              </a:rPr>
              <a:t>，实现模态适配。</a:t>
            </a:r>
          </a:p>
          <a:p>
            <a:r>
              <a:rPr lang="zh-CN" altLang="en-US" b="1" dirty="0">
                <a:latin typeface="新宋体" panose="02010609030101010101" pitchFamily="49" charset="-122"/>
                <a:ea typeface="新宋体" panose="02010609030101010101" pitchFamily="49" charset="-122"/>
              </a:rPr>
              <a:t>优点</a:t>
            </a:r>
            <a:r>
              <a:rPr lang="zh-CN" altLang="en-US" dirty="0">
                <a:latin typeface="新宋体" panose="02010609030101010101" pitchFamily="49" charset="-122"/>
                <a:ea typeface="新宋体" panose="02010609030101010101" pitchFamily="49" charset="-122"/>
              </a:rPr>
              <a:t>：</a:t>
            </a:r>
            <a:endParaRPr lang="en-US" altLang="zh-CN" dirty="0">
              <a:latin typeface="新宋体" panose="02010609030101010101" pitchFamily="49" charset="-122"/>
              <a:ea typeface="新宋体" panose="02010609030101010101" pitchFamily="49" charset="-122"/>
            </a:endParaRPr>
          </a:p>
          <a:p>
            <a:r>
              <a:rPr lang="zh-CN" altLang="en-US" dirty="0">
                <a:latin typeface="新宋体" panose="02010609030101010101" pitchFamily="49" charset="-122"/>
                <a:ea typeface="新宋体" panose="02010609030101010101" pitchFamily="49" charset="-122"/>
              </a:rPr>
              <a:t>✅ 每个客户端的独特表征不会丢失，而是被 </a:t>
            </a:r>
            <a:r>
              <a:rPr lang="en-US" altLang="zh-CN" dirty="0" err="1">
                <a:latin typeface="新宋体" panose="02010609030101010101" pitchFamily="49" charset="-122"/>
                <a:ea typeface="新宋体" panose="02010609030101010101" pitchFamily="49" charset="-122"/>
              </a:rPr>
              <a:t>MoE</a:t>
            </a:r>
            <a:r>
              <a:rPr lang="en-US" altLang="zh-CN" dirty="0">
                <a:latin typeface="新宋体" panose="02010609030101010101" pitchFamily="49" charset="-122"/>
                <a:ea typeface="新宋体" panose="02010609030101010101" pitchFamily="49" charset="-122"/>
              </a:rPr>
              <a:t> </a:t>
            </a:r>
            <a:r>
              <a:rPr lang="zh-CN" altLang="en-US" dirty="0">
                <a:latin typeface="新宋体" panose="02010609030101010101" pitchFamily="49" charset="-122"/>
                <a:ea typeface="新宋体" panose="02010609030101010101" pitchFamily="49" charset="-122"/>
              </a:rPr>
              <a:t>灵活地吸收。</a:t>
            </a:r>
            <a:br>
              <a:rPr lang="zh-CN" altLang="en-US" dirty="0">
                <a:highlight>
                  <a:srgbClr val="FFFF00"/>
                </a:highlight>
                <a:latin typeface="新宋体" panose="02010609030101010101" pitchFamily="49" charset="-122"/>
                <a:ea typeface="新宋体" panose="02010609030101010101" pitchFamily="49" charset="-122"/>
              </a:rPr>
            </a:br>
            <a:r>
              <a:rPr lang="zh-CN" altLang="en-US" dirty="0">
                <a:highlight>
                  <a:srgbClr val="FFFF00"/>
                </a:highlight>
                <a:latin typeface="新宋体" panose="02010609030101010101" pitchFamily="49" charset="-122"/>
                <a:ea typeface="新宋体" panose="02010609030101010101" pitchFamily="49" charset="-122"/>
              </a:rPr>
              <a:t>✅ </a:t>
            </a:r>
            <a:r>
              <a:rPr lang="en-US" altLang="zh-CN" dirty="0" err="1">
                <a:highlight>
                  <a:srgbClr val="FFFF00"/>
                </a:highlight>
                <a:latin typeface="新宋体" panose="02010609030101010101" pitchFamily="49" charset="-122"/>
                <a:ea typeface="新宋体" panose="02010609030101010101" pitchFamily="49" charset="-122"/>
              </a:rPr>
              <a:t>MoE</a:t>
            </a:r>
            <a:r>
              <a:rPr lang="en-US" altLang="zh-CN" dirty="0">
                <a:highlight>
                  <a:srgbClr val="FFFF00"/>
                </a:highlight>
                <a:latin typeface="新宋体" panose="02010609030101010101" pitchFamily="49" charset="-122"/>
                <a:ea typeface="新宋体" panose="02010609030101010101" pitchFamily="49" charset="-122"/>
              </a:rPr>
              <a:t> gating </a:t>
            </a:r>
            <a:r>
              <a:rPr lang="zh-CN" altLang="en-US" dirty="0">
                <a:highlight>
                  <a:srgbClr val="FFFF00"/>
                </a:highlight>
                <a:latin typeface="新宋体" panose="02010609030101010101" pitchFamily="49" charset="-122"/>
                <a:ea typeface="新宋体" panose="02010609030101010101" pitchFamily="49" charset="-122"/>
              </a:rPr>
              <a:t>机制可以适应不同的模态组合</a:t>
            </a:r>
            <a:r>
              <a:rPr lang="zh-CN" altLang="en-US" dirty="0">
                <a:latin typeface="新宋体" panose="02010609030101010101" pitchFamily="49" charset="-122"/>
                <a:ea typeface="新宋体" panose="02010609030101010101" pitchFamily="49" charset="-122"/>
              </a:rPr>
              <a:t>，而不是强制所有客户端共享同样的模型结构。</a:t>
            </a:r>
          </a:p>
        </p:txBody>
      </p:sp>
      <p:sp>
        <p:nvSpPr>
          <p:cNvPr id="5" name="文本框 4">
            <a:extLst>
              <a:ext uri="{FF2B5EF4-FFF2-40B4-BE49-F238E27FC236}">
                <a16:creationId xmlns:a16="http://schemas.microsoft.com/office/drawing/2014/main" id="{84AB15F9-1985-137C-D42D-62539454D5BF}"/>
              </a:ext>
            </a:extLst>
          </p:cNvPr>
          <p:cNvSpPr txBox="1"/>
          <p:nvPr/>
        </p:nvSpPr>
        <p:spPr>
          <a:xfrm>
            <a:off x="0" y="6611779"/>
            <a:ext cx="8044874" cy="246221"/>
          </a:xfrm>
          <a:prstGeom prst="rect">
            <a:avLst/>
          </a:prstGeom>
          <a:noFill/>
        </p:spPr>
        <p:txBody>
          <a:bodyPr wrap="square">
            <a:spAutoFit/>
          </a:bodyPr>
          <a:lstStyle/>
          <a:p>
            <a:r>
              <a:rPr lang="en-US" altLang="zh-CN" sz="1000" dirty="0" err="1">
                <a:solidFill>
                  <a:srgbClr val="222222"/>
                </a:solidFill>
                <a:latin typeface="Arial" panose="020B0604020202020204" pitchFamily="34" charset="0"/>
              </a:rPr>
              <a:t>Masoudnia</a:t>
            </a:r>
            <a:r>
              <a:rPr lang="en-US" altLang="zh-CN" sz="1000" dirty="0">
                <a:solidFill>
                  <a:srgbClr val="222222"/>
                </a:solidFill>
                <a:latin typeface="Arial" panose="020B0604020202020204" pitchFamily="34" charset="0"/>
              </a:rPr>
              <a:t>, Saeed, and Reza Ebrahimpour. "Mixture of experts: a literature survey." Artificial Intelligence Review 42 (2014): 275-293.</a:t>
            </a:r>
            <a:endParaRPr lang="zh-CN" altLang="en-US" sz="1000" dirty="0">
              <a:solidFill>
                <a:srgbClr val="222222"/>
              </a:solidFill>
              <a:latin typeface="Arial" panose="020B0604020202020204" pitchFamily="34" charset="0"/>
            </a:endParaRPr>
          </a:p>
        </p:txBody>
      </p:sp>
      <p:sp>
        <p:nvSpPr>
          <p:cNvPr id="9" name="文本框 8">
            <a:extLst>
              <a:ext uri="{FF2B5EF4-FFF2-40B4-BE49-F238E27FC236}">
                <a16:creationId xmlns:a16="http://schemas.microsoft.com/office/drawing/2014/main" id="{1262DD70-5691-64CA-B70E-D4F045A3B7E7}"/>
              </a:ext>
            </a:extLst>
          </p:cNvPr>
          <p:cNvSpPr txBox="1"/>
          <p:nvPr/>
        </p:nvSpPr>
        <p:spPr>
          <a:xfrm>
            <a:off x="0" y="6392163"/>
            <a:ext cx="8793019" cy="246221"/>
          </a:xfrm>
          <a:prstGeom prst="rect">
            <a:avLst/>
          </a:prstGeom>
          <a:noFill/>
        </p:spPr>
        <p:txBody>
          <a:bodyPr wrap="square">
            <a:spAutoFit/>
          </a:bodyPr>
          <a:lstStyle/>
          <a:p>
            <a:r>
              <a:rPr lang="en-US" altLang="zh-CN" sz="1000" dirty="0">
                <a:solidFill>
                  <a:srgbClr val="222222"/>
                </a:solidFill>
                <a:latin typeface="Arial" panose="020B0604020202020204" pitchFamily="34" charset="0"/>
              </a:rPr>
              <a:t>Yun, </a:t>
            </a:r>
            <a:r>
              <a:rPr lang="en-US" altLang="zh-CN" sz="1000" dirty="0" err="1">
                <a:solidFill>
                  <a:srgbClr val="222222"/>
                </a:solidFill>
                <a:latin typeface="Arial" panose="020B0604020202020204" pitchFamily="34" charset="0"/>
              </a:rPr>
              <a:t>Sukwon</a:t>
            </a:r>
            <a:r>
              <a:rPr lang="en-US" altLang="zh-CN" sz="1000" dirty="0">
                <a:solidFill>
                  <a:srgbClr val="222222"/>
                </a:solidFill>
                <a:latin typeface="Arial" panose="020B0604020202020204" pitchFamily="34" charset="0"/>
              </a:rPr>
              <a:t>, et al. "Flex-</a:t>
            </a:r>
            <a:r>
              <a:rPr lang="en-US" altLang="zh-CN" sz="1000" dirty="0" err="1">
                <a:solidFill>
                  <a:srgbClr val="222222"/>
                </a:solidFill>
                <a:latin typeface="Arial" panose="020B0604020202020204" pitchFamily="34" charset="0"/>
              </a:rPr>
              <a:t>moe</a:t>
            </a:r>
            <a:r>
              <a:rPr lang="en-US" altLang="zh-CN" sz="1000" dirty="0">
                <a:solidFill>
                  <a:srgbClr val="222222"/>
                </a:solidFill>
                <a:latin typeface="Arial" panose="020B0604020202020204" pitchFamily="34" charset="0"/>
              </a:rPr>
              <a:t>: Modeling arbitrary modality combination via the flexible mixture-of-experts." </a:t>
            </a:r>
            <a:r>
              <a:rPr lang="en-US" altLang="zh-CN" sz="1000" dirty="0" err="1">
                <a:solidFill>
                  <a:srgbClr val="222222"/>
                </a:solidFill>
                <a:latin typeface="Arial" panose="020B0604020202020204" pitchFamily="34" charset="0"/>
              </a:rPr>
              <a:t>arXiv</a:t>
            </a:r>
            <a:r>
              <a:rPr lang="en-US" altLang="zh-CN" sz="1000" dirty="0">
                <a:solidFill>
                  <a:srgbClr val="222222"/>
                </a:solidFill>
                <a:latin typeface="Arial" panose="020B0604020202020204" pitchFamily="34" charset="0"/>
              </a:rPr>
              <a:t> preprint arXiv:2410.08245 (2024).</a:t>
            </a:r>
            <a:endParaRPr lang="zh-CN" altLang="en-US" sz="10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96279985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C72D-189E-9200-FFF5-4CB98922B798}"/>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6BED6D11-C431-68C0-4E5E-40A2D233FF72}"/>
              </a:ext>
            </a:extLst>
          </p:cNvPr>
          <p:cNvSpPr txBox="1">
            <a:spLocks/>
          </p:cNvSpPr>
          <p:nvPr/>
        </p:nvSpPr>
        <p:spPr>
          <a:xfrm>
            <a:off x="210127" y="219616"/>
            <a:ext cx="5479473"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潜在</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Methodology</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2024</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a:t>
            </a:r>
          </a:p>
        </p:txBody>
      </p:sp>
      <p:sp>
        <p:nvSpPr>
          <p:cNvPr id="4" name="文本框 3">
            <a:extLst>
              <a:ext uri="{FF2B5EF4-FFF2-40B4-BE49-F238E27FC236}">
                <a16:creationId xmlns:a16="http://schemas.microsoft.com/office/drawing/2014/main" id="{B3C50B88-1AEB-7912-53B1-AD2A4C5F1734}"/>
              </a:ext>
            </a:extLst>
          </p:cNvPr>
          <p:cNvSpPr txBox="1"/>
          <p:nvPr/>
        </p:nvSpPr>
        <p:spPr>
          <a:xfrm>
            <a:off x="778775" y="1413916"/>
            <a:ext cx="11279910" cy="3139321"/>
          </a:xfrm>
          <a:prstGeom prst="rect">
            <a:avLst/>
          </a:prstGeom>
          <a:noFill/>
        </p:spPr>
        <p:txBody>
          <a:bodyPr wrap="square">
            <a:spAutoFit/>
          </a:bodyPr>
          <a:lstStyle/>
          <a:p>
            <a:pPr>
              <a:buNone/>
            </a:pPr>
            <a:r>
              <a:rPr lang="zh-CN" altLang="en-US" b="1" dirty="0">
                <a:latin typeface="新宋体" panose="02010609030101010101" pitchFamily="49" charset="-122"/>
                <a:ea typeface="新宋体" panose="02010609030101010101" pitchFamily="49" charset="-122"/>
              </a:rPr>
              <a:t>其它：</a:t>
            </a:r>
            <a:r>
              <a:rPr lang="en-US" altLang="zh-CN" b="1" dirty="0" err="1">
                <a:latin typeface="新宋体" panose="02010609030101010101" pitchFamily="49" charset="-122"/>
                <a:ea typeface="新宋体" panose="02010609030101010101" pitchFamily="49" charset="-122"/>
              </a:rPr>
              <a:t>MoE</a:t>
            </a:r>
            <a:r>
              <a:rPr lang="en-US" altLang="zh-CN" b="1" dirty="0">
                <a:latin typeface="新宋体" panose="02010609030101010101" pitchFamily="49" charset="-122"/>
                <a:ea typeface="新宋体" panose="02010609030101010101" pitchFamily="49" charset="-122"/>
              </a:rPr>
              <a:t> </a:t>
            </a:r>
            <a:r>
              <a:rPr lang="zh-CN" altLang="en-US" b="1" dirty="0">
                <a:latin typeface="新宋体" panose="02010609030101010101" pitchFamily="49" charset="-122"/>
                <a:ea typeface="新宋体" panose="02010609030101010101" pitchFamily="49" charset="-122"/>
              </a:rPr>
              <a:t>作为模态特征的动态适配层</a:t>
            </a:r>
          </a:p>
          <a:p>
            <a:pPr>
              <a:buNone/>
            </a:pPr>
            <a:r>
              <a:rPr lang="en-US" altLang="zh-CN" dirty="0" err="1">
                <a:latin typeface="新宋体" panose="02010609030101010101" pitchFamily="49" charset="-122"/>
                <a:ea typeface="新宋体" panose="02010609030101010101" pitchFamily="49" charset="-122"/>
              </a:rPr>
              <a:t>MoE</a:t>
            </a:r>
            <a:r>
              <a:rPr lang="en-US" altLang="zh-CN" dirty="0">
                <a:latin typeface="新宋体" panose="02010609030101010101" pitchFamily="49" charset="-122"/>
                <a:ea typeface="新宋体" panose="02010609030101010101" pitchFamily="49" charset="-122"/>
              </a:rPr>
              <a:t> </a:t>
            </a:r>
            <a:r>
              <a:rPr lang="zh-CN" altLang="en-US" dirty="0">
                <a:latin typeface="新宋体" panose="02010609030101010101" pitchFamily="49" charset="-122"/>
                <a:ea typeface="新宋体" panose="02010609030101010101" pitchFamily="49" charset="-122"/>
              </a:rPr>
              <a:t>可以在全局模型中引入</a:t>
            </a:r>
            <a:r>
              <a:rPr lang="zh-CN" altLang="en-US" b="1" dirty="0">
                <a:latin typeface="新宋体" panose="02010609030101010101" pitchFamily="49" charset="-122"/>
                <a:ea typeface="新宋体" panose="02010609030101010101" pitchFamily="49" charset="-122"/>
              </a:rPr>
              <a:t>动态适配层</a:t>
            </a:r>
            <a:r>
              <a:rPr lang="zh-CN" altLang="en-US" dirty="0">
                <a:latin typeface="新宋体" panose="02010609030101010101" pitchFamily="49" charset="-122"/>
                <a:ea typeface="新宋体" panose="02010609030101010101" pitchFamily="49" charset="-122"/>
              </a:rPr>
              <a:t>，帮助不同客户端的特征被整合进统一的全局模型。</a:t>
            </a:r>
          </a:p>
          <a:p>
            <a:pPr>
              <a:buFont typeface="Arial" panose="020B0604020202020204" pitchFamily="34" charset="0"/>
              <a:buChar char="•"/>
            </a:pPr>
            <a:r>
              <a:rPr lang="zh-CN" altLang="en-US" dirty="0">
                <a:highlight>
                  <a:srgbClr val="E7D4E3"/>
                </a:highlight>
                <a:latin typeface="新宋体" panose="02010609030101010101" pitchFamily="49" charset="-122"/>
                <a:ea typeface="新宋体" panose="02010609030101010101" pitchFamily="49" charset="-122"/>
              </a:rPr>
              <a:t>服务器端 </a:t>
            </a:r>
            <a:r>
              <a:rPr lang="en-US" altLang="zh-CN" dirty="0" err="1">
                <a:highlight>
                  <a:srgbClr val="E7D4E3"/>
                </a:highlight>
                <a:latin typeface="新宋体" panose="02010609030101010101" pitchFamily="49" charset="-122"/>
                <a:ea typeface="新宋体" panose="02010609030101010101" pitchFamily="49" charset="-122"/>
              </a:rPr>
              <a:t>MoE</a:t>
            </a:r>
            <a:r>
              <a:rPr lang="en-US" altLang="zh-CN" dirty="0">
                <a:highlight>
                  <a:srgbClr val="E7D4E3"/>
                </a:highlight>
                <a:latin typeface="新宋体" panose="02010609030101010101" pitchFamily="49" charset="-122"/>
                <a:ea typeface="新宋体" panose="02010609030101010101" pitchFamily="49" charset="-122"/>
              </a:rPr>
              <a:t> </a:t>
            </a:r>
            <a:r>
              <a:rPr lang="zh-CN" altLang="en-US" b="1" dirty="0">
                <a:highlight>
                  <a:srgbClr val="E7D4E3"/>
                </a:highlight>
                <a:latin typeface="新宋体" panose="02010609030101010101" pitchFamily="49" charset="-122"/>
                <a:ea typeface="新宋体" panose="02010609030101010101" pitchFamily="49" charset="-122"/>
              </a:rPr>
              <a:t>不是简单地平均聚合所有客户端的模型</a:t>
            </a:r>
            <a:r>
              <a:rPr lang="zh-CN" altLang="en-US" dirty="0">
                <a:latin typeface="新宋体" panose="02010609030101010101" pitchFamily="49" charset="-122"/>
                <a:ea typeface="新宋体" panose="02010609030101010101" pitchFamily="49" charset="-122"/>
              </a:rPr>
              <a:t>，而是选择合适的 </a:t>
            </a:r>
            <a:r>
              <a:rPr lang="en-US" altLang="zh-CN" dirty="0">
                <a:latin typeface="新宋体" panose="02010609030101010101" pitchFamily="49" charset="-122"/>
                <a:ea typeface="新宋体" panose="02010609030101010101" pitchFamily="49" charset="-122"/>
              </a:rPr>
              <a:t>expert </a:t>
            </a:r>
            <a:r>
              <a:rPr lang="zh-CN" altLang="en-US" dirty="0">
                <a:latin typeface="新宋体" panose="02010609030101010101" pitchFamily="49" charset="-122"/>
                <a:ea typeface="新宋体" panose="02010609030101010101" pitchFamily="49" charset="-122"/>
              </a:rPr>
              <a:t>进行融合。</a:t>
            </a:r>
          </a:p>
          <a:p>
            <a:pPr>
              <a:buFont typeface="Arial" panose="020B0604020202020204" pitchFamily="34" charset="0"/>
              <a:buChar char="•"/>
            </a:pPr>
            <a:r>
              <a:rPr lang="zh-CN" altLang="en-US" dirty="0">
                <a:latin typeface="新宋体" panose="02010609030101010101" pitchFamily="49" charset="-122"/>
                <a:ea typeface="新宋体" panose="02010609030101010101" pitchFamily="49" charset="-122"/>
              </a:rPr>
              <a:t>例如，在 </a:t>
            </a:r>
            <a:r>
              <a:rPr lang="en-US" altLang="zh-CN" dirty="0">
                <a:latin typeface="新宋体" panose="02010609030101010101" pitchFamily="49" charset="-122"/>
                <a:ea typeface="新宋体" panose="02010609030101010101" pitchFamily="49" charset="-122"/>
              </a:rPr>
              <a:t>Transformer </a:t>
            </a:r>
            <a:r>
              <a:rPr lang="zh-CN" altLang="en-US" dirty="0">
                <a:latin typeface="新宋体" panose="02010609030101010101" pitchFamily="49" charset="-122"/>
                <a:ea typeface="新宋体" panose="02010609030101010101" pitchFamily="49" charset="-122"/>
              </a:rPr>
              <a:t>或 </a:t>
            </a:r>
            <a:r>
              <a:rPr lang="en-US" altLang="zh-CN" dirty="0">
                <a:latin typeface="新宋体" panose="02010609030101010101" pitchFamily="49" charset="-122"/>
                <a:ea typeface="新宋体" panose="02010609030101010101" pitchFamily="49" charset="-122"/>
              </a:rPr>
              <a:t>CNN </a:t>
            </a:r>
            <a:r>
              <a:rPr lang="zh-CN" altLang="en-US" dirty="0">
                <a:latin typeface="新宋体" panose="02010609030101010101" pitchFamily="49" charset="-122"/>
                <a:ea typeface="新宋体" panose="02010609030101010101" pitchFamily="49" charset="-122"/>
              </a:rPr>
              <a:t>结构的</a:t>
            </a:r>
            <a:r>
              <a:rPr lang="zh-CN" altLang="en-US" b="1" dirty="0">
                <a:latin typeface="新宋体" panose="02010609030101010101" pitchFamily="49" charset="-122"/>
                <a:ea typeface="新宋体" panose="02010609030101010101" pitchFamily="49" charset="-122"/>
              </a:rPr>
              <a:t>特定层</a:t>
            </a:r>
            <a:r>
              <a:rPr lang="zh-CN" altLang="en-US" dirty="0">
                <a:latin typeface="新宋体" panose="02010609030101010101" pitchFamily="49" charset="-122"/>
                <a:ea typeface="新宋体" panose="02010609030101010101" pitchFamily="49" charset="-122"/>
              </a:rPr>
              <a:t>引入 </a:t>
            </a:r>
            <a:r>
              <a:rPr lang="en-US" altLang="zh-CN" dirty="0" err="1">
                <a:latin typeface="新宋体" panose="02010609030101010101" pitchFamily="49" charset="-122"/>
                <a:ea typeface="新宋体" panose="02010609030101010101" pitchFamily="49" charset="-122"/>
              </a:rPr>
              <a:t>MoE</a:t>
            </a:r>
            <a:r>
              <a:rPr lang="zh-CN" altLang="en-US" dirty="0">
                <a:latin typeface="新宋体" panose="02010609030101010101" pitchFamily="49" charset="-122"/>
                <a:ea typeface="新宋体" panose="02010609030101010101" pitchFamily="49" charset="-122"/>
              </a:rPr>
              <a:t>，每个 </a:t>
            </a:r>
            <a:r>
              <a:rPr lang="en-US" altLang="zh-CN" dirty="0">
                <a:latin typeface="新宋体" panose="02010609030101010101" pitchFamily="49" charset="-122"/>
                <a:ea typeface="新宋体" panose="02010609030101010101" pitchFamily="49" charset="-122"/>
              </a:rPr>
              <a:t>expert </a:t>
            </a:r>
            <a:r>
              <a:rPr lang="zh-CN" altLang="en-US" dirty="0">
                <a:latin typeface="新宋体" panose="02010609030101010101" pitchFamily="49" charset="-122"/>
                <a:ea typeface="新宋体" panose="02010609030101010101" pitchFamily="49" charset="-122"/>
              </a:rPr>
              <a:t>代表不同的模态学习方式：</a:t>
            </a:r>
          </a:p>
          <a:p>
            <a:pPr marL="742950" lvl="1" indent="-285750">
              <a:buFont typeface="Arial" panose="020B0604020202020204" pitchFamily="34" charset="0"/>
              <a:buChar char="•"/>
            </a:pPr>
            <a:r>
              <a:rPr lang="en-US" altLang="zh-CN" dirty="0">
                <a:latin typeface="新宋体" panose="02010609030101010101" pitchFamily="49" charset="-122"/>
                <a:ea typeface="新宋体" panose="02010609030101010101" pitchFamily="49" charset="-122"/>
              </a:rPr>
              <a:t>Expert 1</a:t>
            </a:r>
            <a:r>
              <a:rPr lang="zh-CN" altLang="en-US" dirty="0">
                <a:latin typeface="新宋体" panose="02010609030101010101" pitchFamily="49" charset="-122"/>
                <a:ea typeface="新宋体" panose="02010609030101010101" pitchFamily="49" charset="-122"/>
              </a:rPr>
              <a:t>：从客户端 </a:t>
            </a:r>
            <a:r>
              <a:rPr lang="en-US" altLang="zh-CN" dirty="0">
                <a:latin typeface="新宋体" panose="02010609030101010101" pitchFamily="49" charset="-122"/>
                <a:ea typeface="新宋体" panose="02010609030101010101" pitchFamily="49" charset="-122"/>
              </a:rPr>
              <a:t>A </a:t>
            </a:r>
            <a:r>
              <a:rPr lang="zh-CN" altLang="en-US" dirty="0">
                <a:latin typeface="新宋体" panose="02010609030101010101" pitchFamily="49" charset="-122"/>
                <a:ea typeface="新宋体" panose="02010609030101010101" pitchFamily="49" charset="-122"/>
              </a:rPr>
              <a:t>训练的单模态模型映射出来的表征</a:t>
            </a:r>
          </a:p>
          <a:p>
            <a:pPr marL="742950" lvl="1" indent="-285750">
              <a:buFont typeface="Arial" panose="020B0604020202020204" pitchFamily="34" charset="0"/>
              <a:buChar char="•"/>
            </a:pPr>
            <a:r>
              <a:rPr lang="en-US" altLang="zh-CN" dirty="0">
                <a:latin typeface="新宋体" panose="02010609030101010101" pitchFamily="49" charset="-122"/>
                <a:ea typeface="新宋体" panose="02010609030101010101" pitchFamily="49" charset="-122"/>
              </a:rPr>
              <a:t>Expert 2</a:t>
            </a:r>
            <a:r>
              <a:rPr lang="zh-CN" altLang="en-US" dirty="0">
                <a:latin typeface="新宋体" panose="02010609030101010101" pitchFamily="49" charset="-122"/>
                <a:ea typeface="新宋体" panose="02010609030101010101" pitchFamily="49" charset="-122"/>
              </a:rPr>
              <a:t>：从客户端 </a:t>
            </a:r>
            <a:r>
              <a:rPr lang="en-US" altLang="zh-CN" dirty="0">
                <a:latin typeface="新宋体" panose="02010609030101010101" pitchFamily="49" charset="-122"/>
                <a:ea typeface="新宋体" panose="02010609030101010101" pitchFamily="49" charset="-122"/>
              </a:rPr>
              <a:t>B </a:t>
            </a:r>
            <a:r>
              <a:rPr lang="zh-CN" altLang="en-US" dirty="0">
                <a:latin typeface="新宋体" panose="02010609030101010101" pitchFamily="49" charset="-122"/>
                <a:ea typeface="新宋体" panose="02010609030101010101" pitchFamily="49" charset="-122"/>
              </a:rPr>
              <a:t>训练的另一种模态映射出来的表征</a:t>
            </a:r>
          </a:p>
          <a:p>
            <a:pPr marL="742950" lvl="1" indent="-285750">
              <a:buFont typeface="Arial" panose="020B0604020202020204" pitchFamily="34" charset="0"/>
              <a:buChar char="•"/>
            </a:pPr>
            <a:r>
              <a:rPr lang="en-US" altLang="zh-CN" dirty="0">
                <a:latin typeface="新宋体" panose="02010609030101010101" pitchFamily="49" charset="-122"/>
                <a:ea typeface="新宋体" panose="02010609030101010101" pitchFamily="49" charset="-122"/>
              </a:rPr>
              <a:t>……</a:t>
            </a:r>
          </a:p>
          <a:p>
            <a:pPr>
              <a:buFont typeface="Arial" panose="020B0604020202020204" pitchFamily="34" charset="0"/>
              <a:buChar char="•"/>
            </a:pPr>
            <a:r>
              <a:rPr lang="en-US" altLang="zh-CN" dirty="0">
                <a:latin typeface="新宋体" panose="02010609030101010101" pitchFamily="49" charset="-122"/>
                <a:ea typeface="新宋体" panose="02010609030101010101" pitchFamily="49" charset="-122"/>
              </a:rPr>
              <a:t>Gating </a:t>
            </a:r>
            <a:r>
              <a:rPr lang="zh-CN" altLang="en-US" dirty="0">
                <a:latin typeface="新宋体" panose="02010609030101010101" pitchFamily="49" charset="-122"/>
                <a:ea typeface="新宋体" panose="02010609030101010101" pitchFamily="49" charset="-122"/>
              </a:rPr>
              <a:t>机制学习如何</a:t>
            </a:r>
            <a:r>
              <a:rPr lang="zh-CN" altLang="en-US" b="1" dirty="0">
                <a:latin typeface="新宋体" panose="02010609030101010101" pitchFamily="49" charset="-122"/>
                <a:ea typeface="新宋体" panose="02010609030101010101" pitchFamily="49" charset="-122"/>
              </a:rPr>
              <a:t>在不同的任务情况下，选择适当的 </a:t>
            </a:r>
            <a:r>
              <a:rPr lang="en-US" altLang="zh-CN" b="1" dirty="0">
                <a:latin typeface="新宋体" panose="02010609030101010101" pitchFamily="49" charset="-122"/>
                <a:ea typeface="新宋体" panose="02010609030101010101" pitchFamily="49" charset="-122"/>
              </a:rPr>
              <a:t>expert </a:t>
            </a:r>
            <a:r>
              <a:rPr lang="zh-CN" altLang="en-US" b="1" dirty="0">
                <a:latin typeface="新宋体" panose="02010609030101010101" pitchFamily="49" charset="-122"/>
                <a:ea typeface="新宋体" panose="02010609030101010101" pitchFamily="49" charset="-122"/>
              </a:rPr>
              <a:t>进行计算</a:t>
            </a:r>
            <a:r>
              <a:rPr lang="zh-CN" altLang="en-US" dirty="0">
                <a:latin typeface="新宋体" panose="02010609030101010101" pitchFamily="49" charset="-122"/>
                <a:ea typeface="新宋体" panose="02010609030101010101" pitchFamily="49" charset="-122"/>
              </a:rPr>
              <a:t>。</a:t>
            </a:r>
          </a:p>
          <a:p>
            <a:pPr>
              <a:buNone/>
            </a:pPr>
            <a:r>
              <a:rPr lang="zh-CN" altLang="en-US" dirty="0">
                <a:latin typeface="新宋体" panose="02010609030101010101" pitchFamily="49" charset="-122"/>
                <a:ea typeface="新宋体" panose="02010609030101010101" pitchFamily="49" charset="-122"/>
              </a:rPr>
              <a:t>📌 </a:t>
            </a:r>
            <a:r>
              <a:rPr lang="zh-CN" altLang="en-US" b="1" dirty="0">
                <a:latin typeface="新宋体" panose="02010609030101010101" pitchFamily="49" charset="-122"/>
                <a:ea typeface="新宋体" panose="02010609030101010101" pitchFamily="49" charset="-122"/>
              </a:rPr>
              <a:t>关键点</a:t>
            </a:r>
            <a:r>
              <a:rPr lang="zh-CN" altLang="en-US" dirty="0">
                <a:latin typeface="新宋体" panose="02010609030101010101" pitchFamily="49" charset="-122"/>
                <a:ea typeface="新宋体" panose="02010609030101010101" pitchFamily="49" charset="-122"/>
              </a:rPr>
              <a:t>：</a:t>
            </a:r>
          </a:p>
          <a:p>
            <a:pPr>
              <a:buFont typeface="Arial" panose="020B0604020202020204" pitchFamily="34" charset="0"/>
              <a:buChar char="•"/>
            </a:pPr>
            <a:r>
              <a:rPr lang="zh-CN" altLang="en-US" b="1" dirty="0">
                <a:latin typeface="新宋体" panose="02010609030101010101" pitchFamily="49" charset="-122"/>
                <a:ea typeface="新宋体" panose="02010609030101010101" pitchFamily="49" charset="-122"/>
              </a:rPr>
              <a:t>客户端的表征需要在某个公共空间对齐</a:t>
            </a:r>
            <a:r>
              <a:rPr lang="zh-CN" altLang="en-US" dirty="0">
                <a:latin typeface="新宋体" panose="02010609030101010101" pitchFamily="49" charset="-122"/>
                <a:ea typeface="新宋体" panose="02010609030101010101" pitchFamily="49" charset="-122"/>
              </a:rPr>
              <a:t>（可以使用对比学习、自监督方法等）。</a:t>
            </a:r>
          </a:p>
          <a:p>
            <a:pPr>
              <a:buFont typeface="Arial" panose="020B0604020202020204" pitchFamily="34" charset="0"/>
              <a:buChar char="•"/>
            </a:pPr>
            <a:r>
              <a:rPr lang="en-US" altLang="zh-CN" b="1" dirty="0" err="1">
                <a:latin typeface="新宋体" panose="02010609030101010101" pitchFamily="49" charset="-122"/>
                <a:ea typeface="新宋体" panose="02010609030101010101" pitchFamily="49" charset="-122"/>
              </a:rPr>
              <a:t>MoE</a:t>
            </a:r>
            <a:r>
              <a:rPr lang="en-US" altLang="zh-CN" b="1" dirty="0">
                <a:latin typeface="新宋体" panose="02010609030101010101" pitchFamily="49" charset="-122"/>
                <a:ea typeface="新宋体" panose="02010609030101010101" pitchFamily="49" charset="-122"/>
              </a:rPr>
              <a:t> </a:t>
            </a:r>
            <a:r>
              <a:rPr lang="zh-CN" altLang="en-US" b="1" dirty="0">
                <a:latin typeface="新宋体" panose="02010609030101010101" pitchFamily="49" charset="-122"/>
                <a:ea typeface="新宋体" panose="02010609030101010101" pitchFamily="49" charset="-122"/>
              </a:rPr>
              <a:t>的 </a:t>
            </a:r>
            <a:r>
              <a:rPr lang="en-US" altLang="zh-CN" b="1" dirty="0">
                <a:latin typeface="新宋体" panose="02010609030101010101" pitchFamily="49" charset="-122"/>
                <a:ea typeface="新宋体" panose="02010609030101010101" pitchFamily="49" charset="-122"/>
              </a:rPr>
              <a:t>gating </a:t>
            </a:r>
            <a:r>
              <a:rPr lang="zh-CN" altLang="en-US" b="1" dirty="0">
                <a:latin typeface="新宋体" panose="02010609030101010101" pitchFamily="49" charset="-122"/>
                <a:ea typeface="新宋体" panose="02010609030101010101" pitchFamily="49" charset="-122"/>
              </a:rPr>
              <a:t>机制需要有一定的任务感知能力</a:t>
            </a:r>
            <a:r>
              <a:rPr lang="zh-CN" altLang="en-US" dirty="0">
                <a:latin typeface="新宋体" panose="02010609030101010101" pitchFamily="49" charset="-122"/>
                <a:ea typeface="新宋体" panose="02010609030101010101" pitchFamily="49" charset="-122"/>
              </a:rPr>
              <a:t>，即能知道何时调用哪个 </a:t>
            </a:r>
            <a:r>
              <a:rPr lang="en-US" altLang="zh-CN" dirty="0">
                <a:latin typeface="新宋体" panose="02010609030101010101" pitchFamily="49" charset="-122"/>
                <a:ea typeface="新宋体" panose="02010609030101010101" pitchFamily="49" charset="-122"/>
              </a:rPr>
              <a:t>expert</a:t>
            </a:r>
            <a:r>
              <a:rPr lang="zh-CN" altLang="en-US" dirty="0">
                <a:latin typeface="新宋体" panose="02010609030101010101" pitchFamily="49" charset="-122"/>
                <a:ea typeface="新宋体" panose="02010609030101010101" pitchFamily="49" charset="-122"/>
              </a:rPr>
              <a:t>。</a:t>
            </a:r>
          </a:p>
        </p:txBody>
      </p:sp>
    </p:spTree>
    <p:extLst>
      <p:ext uri="{BB962C8B-B14F-4D97-AF65-F5344CB8AC3E}">
        <p14:creationId xmlns:p14="http://schemas.microsoft.com/office/powerpoint/2010/main" val="2862527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1DD90-721C-25A5-3743-98FEFD5E0249}"/>
            </a:ext>
          </a:extLst>
        </p:cNvPr>
        <p:cNvGrpSpPr/>
        <p:nvPr/>
      </p:nvGrpSpPr>
      <p:grpSpPr>
        <a:xfrm>
          <a:off x="0" y="0"/>
          <a:ext cx="0" cy="0"/>
          <a:chOff x="0" y="0"/>
          <a:chExt cx="0" cy="0"/>
        </a:xfrm>
      </p:grpSpPr>
      <p:sp>
        <p:nvSpPr>
          <p:cNvPr id="7" name="梯形 6">
            <a:extLst>
              <a:ext uri="{FF2B5EF4-FFF2-40B4-BE49-F238E27FC236}">
                <a16:creationId xmlns:a16="http://schemas.microsoft.com/office/drawing/2014/main" id="{0FB3D127-8B40-4A35-A735-FD2BD10F994B}"/>
              </a:ext>
            </a:extLst>
          </p:cNvPr>
          <p:cNvSpPr/>
          <p:nvPr/>
        </p:nvSpPr>
        <p:spPr>
          <a:xfrm>
            <a:off x="1657151" y="4086369"/>
            <a:ext cx="719152" cy="428365"/>
          </a:xfrm>
          <a:prstGeom prst="trapezoid">
            <a:avLst>
              <a:gd name="adj" fmla="val 44072"/>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32BB187-1D5D-EAD0-C2A0-0AD2A7386981}"/>
              </a:ext>
            </a:extLst>
          </p:cNvPr>
          <p:cNvSpPr/>
          <p:nvPr/>
        </p:nvSpPr>
        <p:spPr>
          <a:xfrm>
            <a:off x="1664494" y="3646257"/>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摘录 9">
            <a:extLst>
              <a:ext uri="{FF2B5EF4-FFF2-40B4-BE49-F238E27FC236}">
                <a16:creationId xmlns:a16="http://schemas.microsoft.com/office/drawing/2014/main" id="{41266BF1-0047-D956-7F9E-B490D19C9494}"/>
              </a:ext>
            </a:extLst>
          </p:cNvPr>
          <p:cNvSpPr/>
          <p:nvPr/>
        </p:nvSpPr>
        <p:spPr>
          <a:xfrm>
            <a:off x="2065133" y="2242980"/>
            <a:ext cx="766618" cy="314036"/>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 name="组合 50">
            <a:extLst>
              <a:ext uri="{FF2B5EF4-FFF2-40B4-BE49-F238E27FC236}">
                <a16:creationId xmlns:a16="http://schemas.microsoft.com/office/drawing/2014/main" id="{D92FBD1F-A4E9-CE60-2883-80FAFFA1A786}"/>
              </a:ext>
            </a:extLst>
          </p:cNvPr>
          <p:cNvGrpSpPr/>
          <p:nvPr/>
        </p:nvGrpSpPr>
        <p:grpSpPr>
          <a:xfrm>
            <a:off x="2128394" y="5654631"/>
            <a:ext cx="1459345" cy="681457"/>
            <a:chOff x="5039195" y="3414730"/>
            <a:chExt cx="2448827" cy="905073"/>
          </a:xfrm>
        </p:grpSpPr>
        <p:sp>
          <p:nvSpPr>
            <p:cNvPr id="11" name="椭圆 10">
              <a:extLst>
                <a:ext uri="{FF2B5EF4-FFF2-40B4-BE49-F238E27FC236}">
                  <a16:creationId xmlns:a16="http://schemas.microsoft.com/office/drawing/2014/main" id="{71BBBB91-7A1A-F602-BC75-CFE51C66331C}"/>
                </a:ext>
              </a:extLst>
            </p:cNvPr>
            <p:cNvSpPr/>
            <p:nvPr/>
          </p:nvSpPr>
          <p:spPr>
            <a:xfrm>
              <a:off x="5172794" y="3762643"/>
              <a:ext cx="43553"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CAE84993-4923-90A2-435F-8785D20101B5}"/>
                </a:ext>
              </a:extLst>
            </p:cNvPr>
            <p:cNvSpPr/>
            <p:nvPr/>
          </p:nvSpPr>
          <p:spPr>
            <a:xfrm>
              <a:off x="5236142" y="3733657"/>
              <a:ext cx="43553" cy="196180"/>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CF1E4CB3-980F-2C70-1D5F-1EFF8F1BCF65}"/>
                </a:ext>
              </a:extLst>
            </p:cNvPr>
            <p:cNvSpPr/>
            <p:nvPr/>
          </p:nvSpPr>
          <p:spPr>
            <a:xfrm>
              <a:off x="5304903" y="3740729"/>
              <a:ext cx="43553" cy="182035"/>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FF4B7585-A343-C090-A756-2641625D3550}"/>
                </a:ext>
              </a:extLst>
            </p:cNvPr>
            <p:cNvSpPr/>
            <p:nvPr/>
          </p:nvSpPr>
          <p:spPr>
            <a:xfrm>
              <a:off x="5381186" y="3491854"/>
              <a:ext cx="38009" cy="716665"/>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6D3E22D5-D933-04EA-A33A-FBD6D9C13EE7}"/>
                </a:ext>
              </a:extLst>
            </p:cNvPr>
            <p:cNvSpPr/>
            <p:nvPr/>
          </p:nvSpPr>
          <p:spPr>
            <a:xfrm>
              <a:off x="5451792" y="3414730"/>
              <a:ext cx="38009" cy="905073"/>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55FAE4CE-8247-E0DB-6224-F0CE5A7CA670}"/>
                </a:ext>
              </a:extLst>
            </p:cNvPr>
            <p:cNvSpPr/>
            <p:nvPr/>
          </p:nvSpPr>
          <p:spPr>
            <a:xfrm>
              <a:off x="5526491" y="3652557"/>
              <a:ext cx="38009" cy="406688"/>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B956AB75-617F-862C-F46C-AAF8FF0BF678}"/>
                </a:ext>
              </a:extLst>
            </p:cNvPr>
            <p:cNvSpPr/>
            <p:nvPr/>
          </p:nvSpPr>
          <p:spPr>
            <a:xfrm>
              <a:off x="5592611" y="3652558"/>
              <a:ext cx="43553" cy="40668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96CE7519-ACEB-F81D-2095-DFC15B938858}"/>
                </a:ext>
              </a:extLst>
            </p:cNvPr>
            <p:cNvSpPr/>
            <p:nvPr/>
          </p:nvSpPr>
          <p:spPr>
            <a:xfrm>
              <a:off x="5655827" y="3709574"/>
              <a:ext cx="43553" cy="30754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A5478E9E-B10B-C82F-BB47-B6F11F523481}"/>
                </a:ext>
              </a:extLst>
            </p:cNvPr>
            <p:cNvSpPr/>
            <p:nvPr/>
          </p:nvSpPr>
          <p:spPr>
            <a:xfrm>
              <a:off x="5103166" y="3762642"/>
              <a:ext cx="45719"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044B8A32-29FA-770E-EDE4-D3FC3D66D5A9}"/>
                </a:ext>
              </a:extLst>
            </p:cNvPr>
            <p:cNvSpPr/>
            <p:nvPr/>
          </p:nvSpPr>
          <p:spPr>
            <a:xfrm>
              <a:off x="5719043" y="3762853"/>
              <a:ext cx="43553"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FAA15ED9-A430-07D2-2A0E-C0C19D707442}"/>
                </a:ext>
              </a:extLst>
            </p:cNvPr>
            <p:cNvSpPr/>
            <p:nvPr/>
          </p:nvSpPr>
          <p:spPr>
            <a:xfrm>
              <a:off x="5039195" y="3762642"/>
              <a:ext cx="45719"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C8926E1C-ABB5-0392-0FE6-BBFD8FB747B1}"/>
                </a:ext>
              </a:extLst>
            </p:cNvPr>
            <p:cNvSpPr/>
            <p:nvPr/>
          </p:nvSpPr>
          <p:spPr>
            <a:xfrm>
              <a:off x="5782259" y="3652557"/>
              <a:ext cx="38009" cy="406688"/>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AED40D46-12AA-CAB8-DE18-1CF9E7552398}"/>
                </a:ext>
              </a:extLst>
            </p:cNvPr>
            <p:cNvSpPr/>
            <p:nvPr/>
          </p:nvSpPr>
          <p:spPr>
            <a:xfrm>
              <a:off x="5848379" y="3652558"/>
              <a:ext cx="43553" cy="40668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795F9F2A-09E8-6BE9-A47E-B509CF74AEF6}"/>
                </a:ext>
              </a:extLst>
            </p:cNvPr>
            <p:cNvSpPr/>
            <p:nvPr/>
          </p:nvSpPr>
          <p:spPr>
            <a:xfrm>
              <a:off x="5911595" y="3709574"/>
              <a:ext cx="43553" cy="30754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CE98933B-5E22-BB6A-683A-F957A314DB12}"/>
                </a:ext>
              </a:extLst>
            </p:cNvPr>
            <p:cNvSpPr/>
            <p:nvPr/>
          </p:nvSpPr>
          <p:spPr>
            <a:xfrm>
              <a:off x="5975808" y="3771885"/>
              <a:ext cx="40786"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C654506-1672-F9DD-34D6-89993ECA71F8}"/>
                </a:ext>
              </a:extLst>
            </p:cNvPr>
            <p:cNvSpPr/>
            <p:nvPr/>
          </p:nvSpPr>
          <p:spPr>
            <a:xfrm>
              <a:off x="6038134" y="3771885"/>
              <a:ext cx="38009"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0216D7C8-D9C1-1677-0C64-EF8EC7A734C7}"/>
                </a:ext>
              </a:extLst>
            </p:cNvPr>
            <p:cNvSpPr/>
            <p:nvPr/>
          </p:nvSpPr>
          <p:spPr>
            <a:xfrm>
              <a:off x="6281006" y="3505015"/>
              <a:ext cx="38009" cy="716665"/>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94837E4-1975-F44D-3730-D7E593220993}"/>
                </a:ext>
              </a:extLst>
            </p:cNvPr>
            <p:cNvSpPr/>
            <p:nvPr/>
          </p:nvSpPr>
          <p:spPr>
            <a:xfrm>
              <a:off x="6341444" y="3457502"/>
              <a:ext cx="38009" cy="79679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F9A516D5-7895-CAC7-B1F1-5393AEFAB352}"/>
                </a:ext>
              </a:extLst>
            </p:cNvPr>
            <p:cNvSpPr/>
            <p:nvPr/>
          </p:nvSpPr>
          <p:spPr>
            <a:xfrm>
              <a:off x="6405978" y="3571671"/>
              <a:ext cx="38009" cy="594672"/>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C77BE652-E88A-6BAE-DA65-ED0F8B532DCC}"/>
                </a:ext>
              </a:extLst>
            </p:cNvPr>
            <p:cNvSpPr/>
            <p:nvPr/>
          </p:nvSpPr>
          <p:spPr>
            <a:xfrm>
              <a:off x="6470648" y="3540890"/>
              <a:ext cx="38009" cy="66762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27F9F0EC-9B76-6B50-8E16-CEEAB573E0B5}"/>
                </a:ext>
              </a:extLst>
            </p:cNvPr>
            <p:cNvSpPr/>
            <p:nvPr/>
          </p:nvSpPr>
          <p:spPr>
            <a:xfrm>
              <a:off x="6546681" y="3518374"/>
              <a:ext cx="38009" cy="716665"/>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1350AD71-C037-4206-819F-D1DF0ED8CF59}"/>
                </a:ext>
              </a:extLst>
            </p:cNvPr>
            <p:cNvSpPr/>
            <p:nvPr/>
          </p:nvSpPr>
          <p:spPr>
            <a:xfrm>
              <a:off x="6607120" y="3470862"/>
              <a:ext cx="38009" cy="79679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A9FFBEC8-D44F-D640-2E5C-06189E73C203}"/>
                </a:ext>
              </a:extLst>
            </p:cNvPr>
            <p:cNvSpPr/>
            <p:nvPr/>
          </p:nvSpPr>
          <p:spPr>
            <a:xfrm>
              <a:off x="6671653" y="3585030"/>
              <a:ext cx="38009" cy="594672"/>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C9E086B5-38FA-0931-8D0C-D8E302013688}"/>
                </a:ext>
              </a:extLst>
            </p:cNvPr>
            <p:cNvSpPr/>
            <p:nvPr/>
          </p:nvSpPr>
          <p:spPr>
            <a:xfrm>
              <a:off x="6736324" y="3652557"/>
              <a:ext cx="38009" cy="453715"/>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F7884F8E-8A4E-A639-F7D1-99B23D783C69}"/>
                </a:ext>
              </a:extLst>
            </p:cNvPr>
            <p:cNvSpPr/>
            <p:nvPr/>
          </p:nvSpPr>
          <p:spPr>
            <a:xfrm>
              <a:off x="6102805" y="3771885"/>
              <a:ext cx="38009"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8EC0551F-D43B-5857-3D97-C1C9E348200E}"/>
                </a:ext>
              </a:extLst>
            </p:cNvPr>
            <p:cNvSpPr/>
            <p:nvPr/>
          </p:nvSpPr>
          <p:spPr>
            <a:xfrm>
              <a:off x="6163810" y="3728616"/>
              <a:ext cx="38009" cy="24703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2CC7C1EE-743D-570F-33C5-29BD1FF9B942}"/>
                </a:ext>
              </a:extLst>
            </p:cNvPr>
            <p:cNvSpPr/>
            <p:nvPr/>
          </p:nvSpPr>
          <p:spPr>
            <a:xfrm>
              <a:off x="6219450" y="3771954"/>
              <a:ext cx="40786"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1710DC12-9895-00B0-FD3E-532EF15611FA}"/>
                </a:ext>
              </a:extLst>
            </p:cNvPr>
            <p:cNvSpPr/>
            <p:nvPr/>
          </p:nvSpPr>
          <p:spPr>
            <a:xfrm>
              <a:off x="6800995" y="3664320"/>
              <a:ext cx="38009" cy="406688"/>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A1315292-05F5-65D3-01FE-13F849E86C68}"/>
                </a:ext>
              </a:extLst>
            </p:cNvPr>
            <p:cNvSpPr/>
            <p:nvPr/>
          </p:nvSpPr>
          <p:spPr>
            <a:xfrm>
              <a:off x="6867115" y="3664320"/>
              <a:ext cx="43553" cy="40668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D15FD056-FE8D-78F7-0E27-2CBAB09C1746}"/>
                </a:ext>
              </a:extLst>
            </p:cNvPr>
            <p:cNvSpPr/>
            <p:nvPr/>
          </p:nvSpPr>
          <p:spPr>
            <a:xfrm>
              <a:off x="6930331" y="3721336"/>
              <a:ext cx="43553" cy="30754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F1C6F97E-0EAF-55E2-9344-3F2588562A56}"/>
                </a:ext>
              </a:extLst>
            </p:cNvPr>
            <p:cNvSpPr/>
            <p:nvPr/>
          </p:nvSpPr>
          <p:spPr>
            <a:xfrm>
              <a:off x="6994862" y="3789493"/>
              <a:ext cx="40786" cy="119724"/>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92C0211A-ECF8-BD16-31F6-13E3CDDCB9F5}"/>
                </a:ext>
              </a:extLst>
            </p:cNvPr>
            <p:cNvSpPr/>
            <p:nvPr/>
          </p:nvSpPr>
          <p:spPr>
            <a:xfrm>
              <a:off x="7055435" y="3570840"/>
              <a:ext cx="38009" cy="594672"/>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9D49140D-BF16-E98E-219D-2D8CF48A52A4}"/>
                </a:ext>
              </a:extLst>
            </p:cNvPr>
            <p:cNvSpPr/>
            <p:nvPr/>
          </p:nvSpPr>
          <p:spPr>
            <a:xfrm>
              <a:off x="7120106" y="3638367"/>
              <a:ext cx="38009" cy="453715"/>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6063B372-6448-1F06-2CF0-E38BCF6994A7}"/>
                </a:ext>
              </a:extLst>
            </p:cNvPr>
            <p:cNvSpPr/>
            <p:nvPr/>
          </p:nvSpPr>
          <p:spPr>
            <a:xfrm>
              <a:off x="7184777" y="3650130"/>
              <a:ext cx="38009" cy="406688"/>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A255D805-AB3E-0054-D378-B128A9BD48E7}"/>
                </a:ext>
              </a:extLst>
            </p:cNvPr>
            <p:cNvSpPr/>
            <p:nvPr/>
          </p:nvSpPr>
          <p:spPr>
            <a:xfrm>
              <a:off x="7250896" y="3650130"/>
              <a:ext cx="43553" cy="40668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1FC2BAC8-E283-8A51-3B2F-D3C556E85498}"/>
                </a:ext>
              </a:extLst>
            </p:cNvPr>
            <p:cNvSpPr/>
            <p:nvPr/>
          </p:nvSpPr>
          <p:spPr>
            <a:xfrm>
              <a:off x="7314112" y="3707146"/>
              <a:ext cx="43553" cy="30754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1573263D-41B2-2B72-3E50-AF75293F82C7}"/>
                </a:ext>
              </a:extLst>
            </p:cNvPr>
            <p:cNvSpPr/>
            <p:nvPr/>
          </p:nvSpPr>
          <p:spPr>
            <a:xfrm>
              <a:off x="7381103" y="3782816"/>
              <a:ext cx="45719" cy="12640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6A794BB4-6013-4172-5326-8620A7901B3E}"/>
                </a:ext>
              </a:extLst>
            </p:cNvPr>
            <p:cNvSpPr/>
            <p:nvPr/>
          </p:nvSpPr>
          <p:spPr>
            <a:xfrm>
              <a:off x="7442303" y="3805639"/>
              <a:ext cx="45719" cy="85970"/>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a:extLst>
              <a:ext uri="{FF2B5EF4-FFF2-40B4-BE49-F238E27FC236}">
                <a16:creationId xmlns:a16="http://schemas.microsoft.com/office/drawing/2014/main" id="{F4B940C7-9C66-83B8-2CB2-6A861C0A05BF}"/>
              </a:ext>
            </a:extLst>
          </p:cNvPr>
          <p:cNvSpPr/>
          <p:nvPr/>
        </p:nvSpPr>
        <p:spPr>
          <a:xfrm>
            <a:off x="1660142" y="3356147"/>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F111B7B4-D9E8-DCB1-2986-1F255747168B}"/>
              </a:ext>
            </a:extLst>
          </p:cNvPr>
          <p:cNvSpPr/>
          <p:nvPr/>
        </p:nvSpPr>
        <p:spPr>
          <a:xfrm>
            <a:off x="2565404" y="3356147"/>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8AE503FC-3603-E70A-0E04-D48C595234E9}"/>
              </a:ext>
            </a:extLst>
          </p:cNvPr>
          <p:cNvSpPr/>
          <p:nvPr/>
        </p:nvSpPr>
        <p:spPr>
          <a:xfrm>
            <a:off x="2571443" y="3637094"/>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梯形 47">
            <a:extLst>
              <a:ext uri="{FF2B5EF4-FFF2-40B4-BE49-F238E27FC236}">
                <a16:creationId xmlns:a16="http://schemas.microsoft.com/office/drawing/2014/main" id="{F400073B-35A1-9F24-E82E-E565BEB5085C}"/>
              </a:ext>
            </a:extLst>
          </p:cNvPr>
          <p:cNvSpPr/>
          <p:nvPr/>
        </p:nvSpPr>
        <p:spPr>
          <a:xfrm>
            <a:off x="2565404" y="4082192"/>
            <a:ext cx="719152" cy="428365"/>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 name="直接箭头连接符 52">
            <a:extLst>
              <a:ext uri="{FF2B5EF4-FFF2-40B4-BE49-F238E27FC236}">
                <a16:creationId xmlns:a16="http://schemas.microsoft.com/office/drawing/2014/main" id="{BB19ECBD-89E5-545E-6811-FCE37680D7DD}"/>
              </a:ext>
            </a:extLst>
          </p:cNvPr>
          <p:cNvCxnSpPr>
            <a:stCxn id="7" idx="0"/>
            <a:endCxn id="8" idx="2"/>
          </p:cNvCxnSpPr>
          <p:nvPr/>
        </p:nvCxnSpPr>
        <p:spPr>
          <a:xfrm flipH="1" flipV="1">
            <a:off x="2010570" y="3786365"/>
            <a:ext cx="6157" cy="300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直接箭头连接符 54">
            <a:extLst>
              <a:ext uri="{FF2B5EF4-FFF2-40B4-BE49-F238E27FC236}">
                <a16:creationId xmlns:a16="http://schemas.microsoft.com/office/drawing/2014/main" id="{D1055C28-91D1-3203-C65A-15982FE2A716}"/>
              </a:ext>
            </a:extLst>
          </p:cNvPr>
          <p:cNvCxnSpPr>
            <a:stCxn id="8" idx="0"/>
            <a:endCxn id="3" idx="2"/>
          </p:cNvCxnSpPr>
          <p:nvPr/>
        </p:nvCxnSpPr>
        <p:spPr>
          <a:xfrm flipH="1" flipV="1">
            <a:off x="2006218" y="3496255"/>
            <a:ext cx="4352" cy="150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直接箭头连接符 56">
            <a:extLst>
              <a:ext uri="{FF2B5EF4-FFF2-40B4-BE49-F238E27FC236}">
                <a16:creationId xmlns:a16="http://schemas.microsoft.com/office/drawing/2014/main" id="{D182F3B7-C9A3-9025-6B0B-40615A078098}"/>
              </a:ext>
            </a:extLst>
          </p:cNvPr>
          <p:cNvCxnSpPr>
            <a:stCxn id="48" idx="0"/>
            <a:endCxn id="5" idx="2"/>
          </p:cNvCxnSpPr>
          <p:nvPr/>
        </p:nvCxnSpPr>
        <p:spPr>
          <a:xfrm flipH="1" flipV="1">
            <a:off x="2917519" y="3777202"/>
            <a:ext cx="7461" cy="3049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直接箭头连接符 58">
            <a:extLst>
              <a:ext uri="{FF2B5EF4-FFF2-40B4-BE49-F238E27FC236}">
                <a16:creationId xmlns:a16="http://schemas.microsoft.com/office/drawing/2014/main" id="{2B2BCFB1-74EC-AFDC-C3D8-07D22C2C1475}"/>
              </a:ext>
            </a:extLst>
          </p:cNvPr>
          <p:cNvCxnSpPr>
            <a:stCxn id="5" idx="0"/>
            <a:endCxn id="4" idx="2"/>
          </p:cNvCxnSpPr>
          <p:nvPr/>
        </p:nvCxnSpPr>
        <p:spPr>
          <a:xfrm flipH="1" flipV="1">
            <a:off x="2911480" y="3496255"/>
            <a:ext cx="6039" cy="140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矩形 61">
            <a:extLst>
              <a:ext uri="{FF2B5EF4-FFF2-40B4-BE49-F238E27FC236}">
                <a16:creationId xmlns:a16="http://schemas.microsoft.com/office/drawing/2014/main" id="{A5B346F6-89D8-5B6B-2B3F-2796F3946280}"/>
              </a:ext>
            </a:extLst>
          </p:cNvPr>
          <p:cNvSpPr/>
          <p:nvPr/>
        </p:nvSpPr>
        <p:spPr>
          <a:xfrm>
            <a:off x="1651991" y="2857281"/>
            <a:ext cx="1605564" cy="13537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箭头连接符 63">
            <a:extLst>
              <a:ext uri="{FF2B5EF4-FFF2-40B4-BE49-F238E27FC236}">
                <a16:creationId xmlns:a16="http://schemas.microsoft.com/office/drawing/2014/main" id="{38C4DB19-0954-B905-D156-E012F9887045}"/>
              </a:ext>
            </a:extLst>
          </p:cNvPr>
          <p:cNvCxnSpPr>
            <a:stCxn id="3" idx="0"/>
            <a:endCxn id="62" idx="2"/>
          </p:cNvCxnSpPr>
          <p:nvPr/>
        </p:nvCxnSpPr>
        <p:spPr>
          <a:xfrm flipV="1">
            <a:off x="2006218" y="2992652"/>
            <a:ext cx="448555" cy="3634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直接箭头连接符 65">
            <a:extLst>
              <a:ext uri="{FF2B5EF4-FFF2-40B4-BE49-F238E27FC236}">
                <a16:creationId xmlns:a16="http://schemas.microsoft.com/office/drawing/2014/main" id="{CACD63FA-A638-1425-6356-B496F51844A8}"/>
              </a:ext>
            </a:extLst>
          </p:cNvPr>
          <p:cNvCxnSpPr>
            <a:stCxn id="4" idx="0"/>
            <a:endCxn id="62" idx="2"/>
          </p:cNvCxnSpPr>
          <p:nvPr/>
        </p:nvCxnSpPr>
        <p:spPr>
          <a:xfrm flipH="1" flipV="1">
            <a:off x="2454773" y="2992652"/>
            <a:ext cx="456707" cy="3634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直接箭头连接符 67">
            <a:extLst>
              <a:ext uri="{FF2B5EF4-FFF2-40B4-BE49-F238E27FC236}">
                <a16:creationId xmlns:a16="http://schemas.microsoft.com/office/drawing/2014/main" id="{A4EA773B-68CC-14DC-3EF5-87C633C8B4AA}"/>
              </a:ext>
            </a:extLst>
          </p:cNvPr>
          <p:cNvCxnSpPr>
            <a:stCxn id="62" idx="0"/>
            <a:endCxn id="10" idx="2"/>
          </p:cNvCxnSpPr>
          <p:nvPr/>
        </p:nvCxnSpPr>
        <p:spPr>
          <a:xfrm flipH="1" flipV="1">
            <a:off x="2448442" y="2557016"/>
            <a:ext cx="6331" cy="300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文本框 69">
            <a:extLst>
              <a:ext uri="{FF2B5EF4-FFF2-40B4-BE49-F238E27FC236}">
                <a16:creationId xmlns:a16="http://schemas.microsoft.com/office/drawing/2014/main" id="{D67ECDA4-0479-4677-D0FB-F4A1831230FB}"/>
              </a:ext>
            </a:extLst>
          </p:cNvPr>
          <p:cNvSpPr txBox="1"/>
          <p:nvPr/>
        </p:nvSpPr>
        <p:spPr>
          <a:xfrm>
            <a:off x="287956" y="5734433"/>
            <a:ext cx="1182395" cy="369332"/>
          </a:xfrm>
          <a:prstGeom prst="rect">
            <a:avLst/>
          </a:prstGeom>
          <a:noFill/>
        </p:spPr>
        <p:txBody>
          <a:bodyPr wrap="square" rtlCol="0">
            <a:spAutoFit/>
          </a:bodyPr>
          <a:lstStyle/>
          <a:p>
            <a:r>
              <a:rPr lang="zh-CN" altLang="en-US" dirty="0"/>
              <a:t>数据输入</a:t>
            </a:r>
          </a:p>
        </p:txBody>
      </p:sp>
      <p:sp>
        <p:nvSpPr>
          <p:cNvPr id="71" name="文本框 70">
            <a:extLst>
              <a:ext uri="{FF2B5EF4-FFF2-40B4-BE49-F238E27FC236}">
                <a16:creationId xmlns:a16="http://schemas.microsoft.com/office/drawing/2014/main" id="{52471914-7F26-31E3-717B-975B26C0BB68}"/>
              </a:ext>
            </a:extLst>
          </p:cNvPr>
          <p:cNvSpPr txBox="1"/>
          <p:nvPr/>
        </p:nvSpPr>
        <p:spPr>
          <a:xfrm>
            <a:off x="1974206" y="4668129"/>
            <a:ext cx="1182395" cy="369332"/>
          </a:xfrm>
          <a:prstGeom prst="rect">
            <a:avLst/>
          </a:prstGeom>
          <a:noFill/>
        </p:spPr>
        <p:txBody>
          <a:bodyPr wrap="square" rtlCol="0">
            <a:spAutoFit/>
          </a:bodyPr>
          <a:lstStyle/>
          <a:p>
            <a:r>
              <a:rPr lang="zh-CN" altLang="en-US" dirty="0"/>
              <a:t>客户端</a:t>
            </a:r>
            <a:r>
              <a:rPr lang="en-US" altLang="zh-CN" dirty="0"/>
              <a:t>A</a:t>
            </a:r>
            <a:endParaRPr lang="zh-CN" altLang="en-US" dirty="0"/>
          </a:p>
        </p:txBody>
      </p:sp>
      <p:pic>
        <p:nvPicPr>
          <p:cNvPr id="73" name="图片 72" descr="树枝上有猫&#10;&#10;AI 生成的内容可能不正确。">
            <a:extLst>
              <a:ext uri="{FF2B5EF4-FFF2-40B4-BE49-F238E27FC236}">
                <a16:creationId xmlns:a16="http://schemas.microsoft.com/office/drawing/2014/main" id="{5859E110-C802-C3FA-956D-2C11ACE35B23}"/>
              </a:ext>
            </a:extLst>
          </p:cNvPr>
          <p:cNvPicPr>
            <a:picLocks noChangeAspect="1"/>
          </p:cNvPicPr>
          <p:nvPr/>
        </p:nvPicPr>
        <p:blipFill>
          <a:blip r:embed="rId2"/>
          <a:stretch>
            <a:fillRect/>
          </a:stretch>
        </p:blipFill>
        <p:spPr>
          <a:xfrm>
            <a:off x="5258824" y="5532980"/>
            <a:ext cx="1674352" cy="797588"/>
          </a:xfrm>
          <a:prstGeom prst="rect">
            <a:avLst/>
          </a:prstGeom>
        </p:spPr>
      </p:pic>
      <p:sp>
        <p:nvSpPr>
          <p:cNvPr id="74" name="矩形: 圆角 73">
            <a:extLst>
              <a:ext uri="{FF2B5EF4-FFF2-40B4-BE49-F238E27FC236}">
                <a16:creationId xmlns:a16="http://schemas.microsoft.com/office/drawing/2014/main" id="{BC42800B-8315-CE68-ED52-369040BBB944}"/>
              </a:ext>
            </a:extLst>
          </p:cNvPr>
          <p:cNvSpPr/>
          <p:nvPr/>
        </p:nvSpPr>
        <p:spPr>
          <a:xfrm>
            <a:off x="8498591" y="5631250"/>
            <a:ext cx="2549236" cy="630958"/>
          </a:xfrm>
          <a:custGeom>
            <a:avLst/>
            <a:gdLst>
              <a:gd name="connsiteX0" fmla="*/ 0 w 2549236"/>
              <a:gd name="connsiteY0" fmla="*/ 105162 h 630958"/>
              <a:gd name="connsiteX1" fmla="*/ 105162 w 2549236"/>
              <a:gd name="connsiteY1" fmla="*/ 0 h 630958"/>
              <a:gd name="connsiteX2" fmla="*/ 643112 w 2549236"/>
              <a:gd name="connsiteY2" fmla="*/ 0 h 630958"/>
              <a:gd name="connsiteX3" fmla="*/ 1157672 w 2549236"/>
              <a:gd name="connsiteY3" fmla="*/ 0 h 630958"/>
              <a:gd name="connsiteX4" fmla="*/ 1765790 w 2549236"/>
              <a:gd name="connsiteY4" fmla="*/ 0 h 630958"/>
              <a:gd name="connsiteX5" fmla="*/ 2444074 w 2549236"/>
              <a:gd name="connsiteY5" fmla="*/ 0 h 630958"/>
              <a:gd name="connsiteX6" fmla="*/ 2549236 w 2549236"/>
              <a:gd name="connsiteY6" fmla="*/ 105162 h 630958"/>
              <a:gd name="connsiteX7" fmla="*/ 2549236 w 2549236"/>
              <a:gd name="connsiteY7" fmla="*/ 525796 h 630958"/>
              <a:gd name="connsiteX8" fmla="*/ 2444074 w 2549236"/>
              <a:gd name="connsiteY8" fmla="*/ 630958 h 630958"/>
              <a:gd name="connsiteX9" fmla="*/ 1812568 w 2549236"/>
              <a:gd name="connsiteY9" fmla="*/ 630958 h 630958"/>
              <a:gd name="connsiteX10" fmla="*/ 1227840 w 2549236"/>
              <a:gd name="connsiteY10" fmla="*/ 630958 h 630958"/>
              <a:gd name="connsiteX11" fmla="*/ 713279 w 2549236"/>
              <a:gd name="connsiteY11" fmla="*/ 630958 h 630958"/>
              <a:gd name="connsiteX12" fmla="*/ 105162 w 2549236"/>
              <a:gd name="connsiteY12" fmla="*/ 630958 h 630958"/>
              <a:gd name="connsiteX13" fmla="*/ 0 w 2549236"/>
              <a:gd name="connsiteY13" fmla="*/ 525796 h 630958"/>
              <a:gd name="connsiteX14" fmla="*/ 0 w 2549236"/>
              <a:gd name="connsiteY14" fmla="*/ 105162 h 63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9236" h="630958" fill="none" extrusionOk="0">
                <a:moveTo>
                  <a:pt x="0" y="105162"/>
                </a:moveTo>
                <a:cubicBezTo>
                  <a:pt x="-4658" y="42789"/>
                  <a:pt x="49635" y="-13291"/>
                  <a:pt x="105162" y="0"/>
                </a:cubicBezTo>
                <a:cubicBezTo>
                  <a:pt x="221337" y="-22592"/>
                  <a:pt x="494395" y="1865"/>
                  <a:pt x="643112" y="0"/>
                </a:cubicBezTo>
                <a:cubicBezTo>
                  <a:pt x="791829" y="-1865"/>
                  <a:pt x="930582" y="-8241"/>
                  <a:pt x="1157672" y="0"/>
                </a:cubicBezTo>
                <a:cubicBezTo>
                  <a:pt x="1384762" y="8241"/>
                  <a:pt x="1608605" y="27453"/>
                  <a:pt x="1765790" y="0"/>
                </a:cubicBezTo>
                <a:cubicBezTo>
                  <a:pt x="1922975" y="-27453"/>
                  <a:pt x="2199780" y="-4352"/>
                  <a:pt x="2444074" y="0"/>
                </a:cubicBezTo>
                <a:cubicBezTo>
                  <a:pt x="2491588" y="1352"/>
                  <a:pt x="2549676" y="48507"/>
                  <a:pt x="2549236" y="105162"/>
                </a:cubicBezTo>
                <a:cubicBezTo>
                  <a:pt x="2546800" y="309912"/>
                  <a:pt x="2558540" y="364322"/>
                  <a:pt x="2549236" y="525796"/>
                </a:cubicBezTo>
                <a:cubicBezTo>
                  <a:pt x="2548562" y="582285"/>
                  <a:pt x="2514297" y="637673"/>
                  <a:pt x="2444074" y="630958"/>
                </a:cubicBezTo>
                <a:cubicBezTo>
                  <a:pt x="2293834" y="642500"/>
                  <a:pt x="2092418" y="600902"/>
                  <a:pt x="1812568" y="630958"/>
                </a:cubicBezTo>
                <a:cubicBezTo>
                  <a:pt x="1532718" y="661014"/>
                  <a:pt x="1437773" y="659993"/>
                  <a:pt x="1227840" y="630958"/>
                </a:cubicBezTo>
                <a:cubicBezTo>
                  <a:pt x="1017907" y="601923"/>
                  <a:pt x="889370" y="654986"/>
                  <a:pt x="713279" y="630958"/>
                </a:cubicBezTo>
                <a:cubicBezTo>
                  <a:pt x="537188" y="606930"/>
                  <a:pt x="396577" y="615134"/>
                  <a:pt x="105162" y="630958"/>
                </a:cubicBezTo>
                <a:cubicBezTo>
                  <a:pt x="52821" y="629592"/>
                  <a:pt x="7052" y="571927"/>
                  <a:pt x="0" y="525796"/>
                </a:cubicBezTo>
                <a:cubicBezTo>
                  <a:pt x="-20534" y="385503"/>
                  <a:pt x="-5357" y="260925"/>
                  <a:pt x="0" y="105162"/>
                </a:cubicBezTo>
                <a:close/>
              </a:path>
              <a:path w="2549236" h="630958" stroke="0" extrusionOk="0">
                <a:moveTo>
                  <a:pt x="0" y="105162"/>
                </a:moveTo>
                <a:cubicBezTo>
                  <a:pt x="961" y="45174"/>
                  <a:pt x="53405" y="2577"/>
                  <a:pt x="105162" y="0"/>
                </a:cubicBezTo>
                <a:cubicBezTo>
                  <a:pt x="277044" y="25318"/>
                  <a:pt x="486275" y="14138"/>
                  <a:pt x="713279" y="0"/>
                </a:cubicBezTo>
                <a:cubicBezTo>
                  <a:pt x="940283" y="-14138"/>
                  <a:pt x="1043634" y="-14478"/>
                  <a:pt x="1274618" y="0"/>
                </a:cubicBezTo>
                <a:cubicBezTo>
                  <a:pt x="1505602" y="14478"/>
                  <a:pt x="1694919" y="8585"/>
                  <a:pt x="1859346" y="0"/>
                </a:cubicBezTo>
                <a:cubicBezTo>
                  <a:pt x="2023773" y="-8585"/>
                  <a:pt x="2313395" y="-8097"/>
                  <a:pt x="2444074" y="0"/>
                </a:cubicBezTo>
                <a:cubicBezTo>
                  <a:pt x="2498312" y="-4176"/>
                  <a:pt x="2557596" y="50678"/>
                  <a:pt x="2549236" y="105162"/>
                </a:cubicBezTo>
                <a:cubicBezTo>
                  <a:pt x="2534879" y="263225"/>
                  <a:pt x="2560674" y="413615"/>
                  <a:pt x="2549236" y="525796"/>
                </a:cubicBezTo>
                <a:cubicBezTo>
                  <a:pt x="2548941" y="582169"/>
                  <a:pt x="2498073" y="639499"/>
                  <a:pt x="2444074" y="630958"/>
                </a:cubicBezTo>
                <a:cubicBezTo>
                  <a:pt x="2179724" y="648410"/>
                  <a:pt x="2132553" y="632221"/>
                  <a:pt x="1906124" y="630958"/>
                </a:cubicBezTo>
                <a:cubicBezTo>
                  <a:pt x="1679695" y="629696"/>
                  <a:pt x="1624105" y="614109"/>
                  <a:pt x="1344785" y="630958"/>
                </a:cubicBezTo>
                <a:cubicBezTo>
                  <a:pt x="1065465" y="647807"/>
                  <a:pt x="1028347" y="605105"/>
                  <a:pt x="736668" y="630958"/>
                </a:cubicBezTo>
                <a:cubicBezTo>
                  <a:pt x="444989" y="656811"/>
                  <a:pt x="330102" y="615691"/>
                  <a:pt x="105162" y="630958"/>
                </a:cubicBezTo>
                <a:cubicBezTo>
                  <a:pt x="43177" y="630452"/>
                  <a:pt x="-2907" y="588958"/>
                  <a:pt x="0" y="525796"/>
                </a:cubicBezTo>
                <a:cubicBezTo>
                  <a:pt x="13085" y="339256"/>
                  <a:pt x="12170" y="219195"/>
                  <a:pt x="0" y="105162"/>
                </a:cubicBezTo>
                <a:close/>
              </a:path>
            </a:pathLst>
          </a:custGeom>
          <a:solidFill>
            <a:schemeClr val="accent3">
              <a:lumMod val="20000"/>
              <a:lumOff val="80000"/>
            </a:schemeClr>
          </a:solidFill>
          <a:ln w="57150">
            <a:extLst>
              <a:ext uri="{C807C97D-BFC1-408E-A445-0C87EB9F89A2}">
                <ask:lineSketchStyleProps xmlns:ask="http://schemas.microsoft.com/office/drawing/2018/sketchyshapes" sd="3011606718">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Q</a:t>
            </a:r>
            <a:r>
              <a:rPr lang="zh-CN" altLang="en-US" dirty="0">
                <a:solidFill>
                  <a:schemeClr val="tx1"/>
                </a:solidFill>
              </a:rPr>
              <a:t>：</a:t>
            </a:r>
            <a:r>
              <a:rPr lang="zh-CN" altLang="en-US" b="1" i="0" strike="noStrike" dirty="0">
                <a:solidFill>
                  <a:schemeClr val="tx1"/>
                </a:solidFill>
                <a:effectLst/>
                <a:latin typeface="Roboto" panose="02000000000000000000" pitchFamily="2" charset="0"/>
              </a:rPr>
              <a:t>西行漫记悟空在北疆吗</a:t>
            </a:r>
            <a:endParaRPr lang="zh-CN" altLang="en-US" b="1" dirty="0">
              <a:solidFill>
                <a:schemeClr val="tx1"/>
              </a:solidFill>
            </a:endParaRPr>
          </a:p>
        </p:txBody>
      </p:sp>
      <p:sp>
        <p:nvSpPr>
          <p:cNvPr id="75" name="梯形 74">
            <a:extLst>
              <a:ext uri="{FF2B5EF4-FFF2-40B4-BE49-F238E27FC236}">
                <a16:creationId xmlns:a16="http://schemas.microsoft.com/office/drawing/2014/main" id="{1D58AB6F-AC8F-90DF-733E-99CFB28AB1D1}"/>
              </a:ext>
            </a:extLst>
          </p:cNvPr>
          <p:cNvSpPr/>
          <p:nvPr/>
        </p:nvSpPr>
        <p:spPr>
          <a:xfrm>
            <a:off x="8396941" y="4079145"/>
            <a:ext cx="719152" cy="428365"/>
          </a:xfrm>
          <a:prstGeom prst="trapezoid">
            <a:avLst>
              <a:gd name="adj" fmla="val 44072"/>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5803C38A-C329-C5AD-8B1D-70068E12C52E}"/>
              </a:ext>
            </a:extLst>
          </p:cNvPr>
          <p:cNvSpPr/>
          <p:nvPr/>
        </p:nvSpPr>
        <p:spPr>
          <a:xfrm>
            <a:off x="8404284" y="3639033"/>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0D012E7D-DDFB-83DE-A21D-235A96C987F2}"/>
              </a:ext>
            </a:extLst>
          </p:cNvPr>
          <p:cNvSpPr/>
          <p:nvPr/>
        </p:nvSpPr>
        <p:spPr>
          <a:xfrm>
            <a:off x="8399932" y="3348923"/>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a:extLst>
              <a:ext uri="{FF2B5EF4-FFF2-40B4-BE49-F238E27FC236}">
                <a16:creationId xmlns:a16="http://schemas.microsoft.com/office/drawing/2014/main" id="{0413A9A2-3C4E-FF2A-50A2-6165711B2979}"/>
              </a:ext>
            </a:extLst>
          </p:cNvPr>
          <p:cNvSpPr/>
          <p:nvPr/>
        </p:nvSpPr>
        <p:spPr>
          <a:xfrm>
            <a:off x="9305194" y="3348923"/>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a:extLst>
              <a:ext uri="{FF2B5EF4-FFF2-40B4-BE49-F238E27FC236}">
                <a16:creationId xmlns:a16="http://schemas.microsoft.com/office/drawing/2014/main" id="{F4521716-CB55-9D8E-E115-716682CAC134}"/>
              </a:ext>
            </a:extLst>
          </p:cNvPr>
          <p:cNvSpPr/>
          <p:nvPr/>
        </p:nvSpPr>
        <p:spPr>
          <a:xfrm>
            <a:off x="9311233" y="3629870"/>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梯形 80">
            <a:extLst>
              <a:ext uri="{FF2B5EF4-FFF2-40B4-BE49-F238E27FC236}">
                <a16:creationId xmlns:a16="http://schemas.microsoft.com/office/drawing/2014/main" id="{428FFC21-1C87-DE39-A27D-DFCCE845CA90}"/>
              </a:ext>
            </a:extLst>
          </p:cNvPr>
          <p:cNvSpPr/>
          <p:nvPr/>
        </p:nvSpPr>
        <p:spPr>
          <a:xfrm>
            <a:off x="9305194" y="4074968"/>
            <a:ext cx="719152" cy="428365"/>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2" name="直接箭头连接符 81">
            <a:extLst>
              <a:ext uri="{FF2B5EF4-FFF2-40B4-BE49-F238E27FC236}">
                <a16:creationId xmlns:a16="http://schemas.microsoft.com/office/drawing/2014/main" id="{13C8A8BE-C989-E164-699A-0589E4FF93D6}"/>
              </a:ext>
            </a:extLst>
          </p:cNvPr>
          <p:cNvCxnSpPr>
            <a:stCxn id="75" idx="0"/>
            <a:endCxn id="76" idx="2"/>
          </p:cNvCxnSpPr>
          <p:nvPr/>
        </p:nvCxnSpPr>
        <p:spPr>
          <a:xfrm flipH="1" flipV="1">
            <a:off x="8750360" y="3779141"/>
            <a:ext cx="6157" cy="300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直接箭头连接符 82">
            <a:extLst>
              <a:ext uri="{FF2B5EF4-FFF2-40B4-BE49-F238E27FC236}">
                <a16:creationId xmlns:a16="http://schemas.microsoft.com/office/drawing/2014/main" id="{3A41E196-D3C3-B7FB-3591-90E025FB5FC0}"/>
              </a:ext>
            </a:extLst>
          </p:cNvPr>
          <p:cNvCxnSpPr>
            <a:stCxn id="76" idx="0"/>
            <a:endCxn id="78" idx="2"/>
          </p:cNvCxnSpPr>
          <p:nvPr/>
        </p:nvCxnSpPr>
        <p:spPr>
          <a:xfrm flipH="1" flipV="1">
            <a:off x="8746008" y="3489031"/>
            <a:ext cx="4352" cy="150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直接箭头连接符 83">
            <a:extLst>
              <a:ext uri="{FF2B5EF4-FFF2-40B4-BE49-F238E27FC236}">
                <a16:creationId xmlns:a16="http://schemas.microsoft.com/office/drawing/2014/main" id="{9519B057-97C5-E104-1FFF-FF18A75E8A99}"/>
              </a:ext>
            </a:extLst>
          </p:cNvPr>
          <p:cNvCxnSpPr>
            <a:stCxn id="81" idx="0"/>
            <a:endCxn id="80" idx="2"/>
          </p:cNvCxnSpPr>
          <p:nvPr/>
        </p:nvCxnSpPr>
        <p:spPr>
          <a:xfrm flipH="1" flipV="1">
            <a:off x="9657309" y="3769978"/>
            <a:ext cx="7461" cy="3049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直接箭头连接符 84">
            <a:extLst>
              <a:ext uri="{FF2B5EF4-FFF2-40B4-BE49-F238E27FC236}">
                <a16:creationId xmlns:a16="http://schemas.microsoft.com/office/drawing/2014/main" id="{3E06D059-F8E6-7ACF-FA81-6822F1A7E671}"/>
              </a:ext>
            </a:extLst>
          </p:cNvPr>
          <p:cNvCxnSpPr>
            <a:stCxn id="80" idx="0"/>
            <a:endCxn id="79" idx="2"/>
          </p:cNvCxnSpPr>
          <p:nvPr/>
        </p:nvCxnSpPr>
        <p:spPr>
          <a:xfrm flipH="1" flipV="1">
            <a:off x="9651270" y="3489031"/>
            <a:ext cx="6039" cy="140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矩形 85">
            <a:extLst>
              <a:ext uri="{FF2B5EF4-FFF2-40B4-BE49-F238E27FC236}">
                <a16:creationId xmlns:a16="http://schemas.microsoft.com/office/drawing/2014/main" id="{9A45CAE7-6BE8-783D-D7E8-A7F03CBD4828}"/>
              </a:ext>
            </a:extLst>
          </p:cNvPr>
          <p:cNvSpPr/>
          <p:nvPr/>
        </p:nvSpPr>
        <p:spPr>
          <a:xfrm>
            <a:off x="8391781" y="2850057"/>
            <a:ext cx="1605564" cy="13537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直接箭头连接符 86">
            <a:extLst>
              <a:ext uri="{FF2B5EF4-FFF2-40B4-BE49-F238E27FC236}">
                <a16:creationId xmlns:a16="http://schemas.microsoft.com/office/drawing/2014/main" id="{E374FDBD-4F05-D3AF-832B-EEFE7899B403}"/>
              </a:ext>
            </a:extLst>
          </p:cNvPr>
          <p:cNvCxnSpPr>
            <a:stCxn id="78" idx="0"/>
            <a:endCxn id="86" idx="2"/>
          </p:cNvCxnSpPr>
          <p:nvPr/>
        </p:nvCxnSpPr>
        <p:spPr>
          <a:xfrm flipV="1">
            <a:off x="8746008" y="2985428"/>
            <a:ext cx="448555" cy="3634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直接箭头连接符 87">
            <a:extLst>
              <a:ext uri="{FF2B5EF4-FFF2-40B4-BE49-F238E27FC236}">
                <a16:creationId xmlns:a16="http://schemas.microsoft.com/office/drawing/2014/main" id="{F9834732-AF45-8429-BB86-F21D92846F76}"/>
              </a:ext>
            </a:extLst>
          </p:cNvPr>
          <p:cNvCxnSpPr>
            <a:stCxn id="79" idx="0"/>
            <a:endCxn id="86" idx="2"/>
          </p:cNvCxnSpPr>
          <p:nvPr/>
        </p:nvCxnSpPr>
        <p:spPr>
          <a:xfrm flipH="1" flipV="1">
            <a:off x="9194563" y="2985428"/>
            <a:ext cx="456707" cy="3634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直接箭头连接符 88">
            <a:extLst>
              <a:ext uri="{FF2B5EF4-FFF2-40B4-BE49-F238E27FC236}">
                <a16:creationId xmlns:a16="http://schemas.microsoft.com/office/drawing/2014/main" id="{C132BC33-AF28-4C45-E492-70EE3C8650DC}"/>
              </a:ext>
            </a:extLst>
          </p:cNvPr>
          <p:cNvCxnSpPr>
            <a:cxnSpLocks/>
            <a:stCxn id="86" idx="0"/>
            <a:endCxn id="94" idx="4"/>
          </p:cNvCxnSpPr>
          <p:nvPr/>
        </p:nvCxnSpPr>
        <p:spPr>
          <a:xfrm flipV="1">
            <a:off x="9194563" y="2588935"/>
            <a:ext cx="752696" cy="2611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梯形 89">
            <a:extLst>
              <a:ext uri="{FF2B5EF4-FFF2-40B4-BE49-F238E27FC236}">
                <a16:creationId xmlns:a16="http://schemas.microsoft.com/office/drawing/2014/main" id="{2FCC1817-44F9-BDB9-AC46-E1FDC024FD37}"/>
              </a:ext>
            </a:extLst>
          </p:cNvPr>
          <p:cNvSpPr/>
          <p:nvPr/>
        </p:nvSpPr>
        <p:spPr>
          <a:xfrm>
            <a:off x="10213447" y="4072069"/>
            <a:ext cx="719152" cy="428365"/>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矩形 91">
            <a:extLst>
              <a:ext uri="{FF2B5EF4-FFF2-40B4-BE49-F238E27FC236}">
                <a16:creationId xmlns:a16="http://schemas.microsoft.com/office/drawing/2014/main" id="{9E3B44CF-EABB-2C3F-9DAF-00AE3D30CB49}"/>
              </a:ext>
            </a:extLst>
          </p:cNvPr>
          <p:cNvSpPr/>
          <p:nvPr/>
        </p:nvSpPr>
        <p:spPr>
          <a:xfrm>
            <a:off x="10206104" y="3462493"/>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B5BA2F55-F47F-F657-DC3E-657248F1DDCC}"/>
              </a:ext>
            </a:extLst>
          </p:cNvPr>
          <p:cNvSpPr/>
          <p:nvPr/>
        </p:nvSpPr>
        <p:spPr>
          <a:xfrm>
            <a:off x="9688413" y="2205020"/>
            <a:ext cx="517691" cy="38391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箭头连接符 96">
            <a:extLst>
              <a:ext uri="{FF2B5EF4-FFF2-40B4-BE49-F238E27FC236}">
                <a16:creationId xmlns:a16="http://schemas.microsoft.com/office/drawing/2014/main" id="{DC845F4E-E954-D8CD-1F37-634D299A2AF0}"/>
              </a:ext>
            </a:extLst>
          </p:cNvPr>
          <p:cNvCxnSpPr>
            <a:stCxn id="92" idx="0"/>
            <a:endCxn id="94" idx="4"/>
          </p:cNvCxnSpPr>
          <p:nvPr/>
        </p:nvCxnSpPr>
        <p:spPr>
          <a:xfrm flipH="1" flipV="1">
            <a:off x="9947259" y="2588935"/>
            <a:ext cx="604921" cy="87355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9" name="直接箭头连接符 98">
            <a:extLst>
              <a:ext uri="{FF2B5EF4-FFF2-40B4-BE49-F238E27FC236}">
                <a16:creationId xmlns:a16="http://schemas.microsoft.com/office/drawing/2014/main" id="{F5570101-7EBA-1FB0-727E-011A3EE97038}"/>
              </a:ext>
            </a:extLst>
          </p:cNvPr>
          <p:cNvCxnSpPr>
            <a:stCxn id="90" idx="0"/>
            <a:endCxn id="92" idx="2"/>
          </p:cNvCxnSpPr>
          <p:nvPr/>
        </p:nvCxnSpPr>
        <p:spPr>
          <a:xfrm flipH="1" flipV="1">
            <a:off x="10552180" y="3602601"/>
            <a:ext cx="20843" cy="4694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4" name="梯形 103">
            <a:extLst>
              <a:ext uri="{FF2B5EF4-FFF2-40B4-BE49-F238E27FC236}">
                <a16:creationId xmlns:a16="http://schemas.microsoft.com/office/drawing/2014/main" id="{AB4137E3-40DA-DA2B-A9E4-6CB289F6762D}"/>
              </a:ext>
            </a:extLst>
          </p:cNvPr>
          <p:cNvSpPr/>
          <p:nvPr/>
        </p:nvSpPr>
        <p:spPr>
          <a:xfrm>
            <a:off x="4847651" y="4075900"/>
            <a:ext cx="719152" cy="428365"/>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a:extLst>
              <a:ext uri="{FF2B5EF4-FFF2-40B4-BE49-F238E27FC236}">
                <a16:creationId xmlns:a16="http://schemas.microsoft.com/office/drawing/2014/main" id="{95DAF175-2E12-1828-B893-8C5379D55C00}"/>
              </a:ext>
            </a:extLst>
          </p:cNvPr>
          <p:cNvSpPr/>
          <p:nvPr/>
        </p:nvSpPr>
        <p:spPr>
          <a:xfrm>
            <a:off x="4854994" y="3635788"/>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流程图: 摘录 105">
            <a:extLst>
              <a:ext uri="{FF2B5EF4-FFF2-40B4-BE49-F238E27FC236}">
                <a16:creationId xmlns:a16="http://schemas.microsoft.com/office/drawing/2014/main" id="{0413BA03-8D7C-2015-CE7E-74876A1CFBD2}"/>
              </a:ext>
            </a:extLst>
          </p:cNvPr>
          <p:cNvSpPr/>
          <p:nvPr/>
        </p:nvSpPr>
        <p:spPr>
          <a:xfrm>
            <a:off x="5319565" y="2253451"/>
            <a:ext cx="766618" cy="314036"/>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a:extLst>
              <a:ext uri="{FF2B5EF4-FFF2-40B4-BE49-F238E27FC236}">
                <a16:creationId xmlns:a16="http://schemas.microsoft.com/office/drawing/2014/main" id="{CAA7AAF1-142F-D03E-F51A-7B546D31EE04}"/>
              </a:ext>
            </a:extLst>
          </p:cNvPr>
          <p:cNvSpPr/>
          <p:nvPr/>
        </p:nvSpPr>
        <p:spPr>
          <a:xfrm>
            <a:off x="4850642" y="3345678"/>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EF76F0A7-1C3B-F6E7-E106-9F914F1C29FA}"/>
              </a:ext>
            </a:extLst>
          </p:cNvPr>
          <p:cNvSpPr/>
          <p:nvPr/>
        </p:nvSpPr>
        <p:spPr>
          <a:xfrm>
            <a:off x="6003729" y="3345678"/>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8AFDA112-2F5C-4E79-4542-199D060EC827}"/>
              </a:ext>
            </a:extLst>
          </p:cNvPr>
          <p:cNvSpPr/>
          <p:nvPr/>
        </p:nvSpPr>
        <p:spPr>
          <a:xfrm>
            <a:off x="6009768" y="3626625"/>
            <a:ext cx="692151" cy="14010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梯形 109">
            <a:extLst>
              <a:ext uri="{FF2B5EF4-FFF2-40B4-BE49-F238E27FC236}">
                <a16:creationId xmlns:a16="http://schemas.microsoft.com/office/drawing/2014/main" id="{2A48AE04-D50F-20BD-398C-2632004DD4EF}"/>
              </a:ext>
            </a:extLst>
          </p:cNvPr>
          <p:cNvSpPr/>
          <p:nvPr/>
        </p:nvSpPr>
        <p:spPr>
          <a:xfrm>
            <a:off x="6003729" y="4071723"/>
            <a:ext cx="719152" cy="428365"/>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1" name="直接箭头连接符 110">
            <a:extLst>
              <a:ext uri="{FF2B5EF4-FFF2-40B4-BE49-F238E27FC236}">
                <a16:creationId xmlns:a16="http://schemas.microsoft.com/office/drawing/2014/main" id="{F61D7B40-4C3C-3E58-3D87-4F36F8AB0B88}"/>
              </a:ext>
            </a:extLst>
          </p:cNvPr>
          <p:cNvCxnSpPr>
            <a:stCxn id="104" idx="0"/>
            <a:endCxn id="105" idx="2"/>
          </p:cNvCxnSpPr>
          <p:nvPr/>
        </p:nvCxnSpPr>
        <p:spPr>
          <a:xfrm flipH="1" flipV="1">
            <a:off x="5201070" y="3775896"/>
            <a:ext cx="6157" cy="300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2" name="直接箭头连接符 111">
            <a:extLst>
              <a:ext uri="{FF2B5EF4-FFF2-40B4-BE49-F238E27FC236}">
                <a16:creationId xmlns:a16="http://schemas.microsoft.com/office/drawing/2014/main" id="{8A95C84F-2EE4-EA82-7B90-6D5807DD0BE3}"/>
              </a:ext>
            </a:extLst>
          </p:cNvPr>
          <p:cNvCxnSpPr>
            <a:stCxn id="105" idx="0"/>
            <a:endCxn id="107" idx="2"/>
          </p:cNvCxnSpPr>
          <p:nvPr/>
        </p:nvCxnSpPr>
        <p:spPr>
          <a:xfrm flipH="1" flipV="1">
            <a:off x="5196718" y="3485786"/>
            <a:ext cx="4352" cy="150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直接箭头连接符 112">
            <a:extLst>
              <a:ext uri="{FF2B5EF4-FFF2-40B4-BE49-F238E27FC236}">
                <a16:creationId xmlns:a16="http://schemas.microsoft.com/office/drawing/2014/main" id="{9DBFDDD1-2129-8303-B36C-A1C155A83958}"/>
              </a:ext>
            </a:extLst>
          </p:cNvPr>
          <p:cNvCxnSpPr>
            <a:stCxn id="110" idx="0"/>
            <a:endCxn id="109" idx="2"/>
          </p:cNvCxnSpPr>
          <p:nvPr/>
        </p:nvCxnSpPr>
        <p:spPr>
          <a:xfrm flipH="1" flipV="1">
            <a:off x="6355844" y="3766733"/>
            <a:ext cx="7461" cy="3049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4" name="直接箭头连接符 113">
            <a:extLst>
              <a:ext uri="{FF2B5EF4-FFF2-40B4-BE49-F238E27FC236}">
                <a16:creationId xmlns:a16="http://schemas.microsoft.com/office/drawing/2014/main" id="{EB203CED-FE5D-36EA-52C8-53B1FBAB8A12}"/>
              </a:ext>
            </a:extLst>
          </p:cNvPr>
          <p:cNvCxnSpPr>
            <a:stCxn id="109" idx="0"/>
            <a:endCxn id="108" idx="2"/>
          </p:cNvCxnSpPr>
          <p:nvPr/>
        </p:nvCxnSpPr>
        <p:spPr>
          <a:xfrm flipH="1" flipV="1">
            <a:off x="6349805" y="3485786"/>
            <a:ext cx="6039" cy="140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5" name="矩形 114">
            <a:extLst>
              <a:ext uri="{FF2B5EF4-FFF2-40B4-BE49-F238E27FC236}">
                <a16:creationId xmlns:a16="http://schemas.microsoft.com/office/drawing/2014/main" id="{E9A61FF6-0FC4-978F-F137-D12E2E6DF17C}"/>
              </a:ext>
            </a:extLst>
          </p:cNvPr>
          <p:cNvSpPr/>
          <p:nvPr/>
        </p:nvSpPr>
        <p:spPr>
          <a:xfrm>
            <a:off x="6003728" y="2987367"/>
            <a:ext cx="692151" cy="1497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6" name="直接箭头连接符 115">
            <a:extLst>
              <a:ext uri="{FF2B5EF4-FFF2-40B4-BE49-F238E27FC236}">
                <a16:creationId xmlns:a16="http://schemas.microsoft.com/office/drawing/2014/main" id="{F41D2183-9A9D-5400-D162-CAD1E086CEE4}"/>
              </a:ext>
            </a:extLst>
          </p:cNvPr>
          <p:cNvCxnSpPr>
            <a:cxnSpLocks/>
            <a:stCxn id="107" idx="3"/>
            <a:endCxn id="108" idx="1"/>
          </p:cNvCxnSpPr>
          <p:nvPr/>
        </p:nvCxnSpPr>
        <p:spPr>
          <a:xfrm>
            <a:off x="5542793" y="3415732"/>
            <a:ext cx="460936"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7" name="直接箭头连接符 116">
            <a:extLst>
              <a:ext uri="{FF2B5EF4-FFF2-40B4-BE49-F238E27FC236}">
                <a16:creationId xmlns:a16="http://schemas.microsoft.com/office/drawing/2014/main" id="{94623DEE-F7BF-875F-40FB-54C52D91865A}"/>
              </a:ext>
            </a:extLst>
          </p:cNvPr>
          <p:cNvCxnSpPr>
            <a:cxnSpLocks/>
            <a:stCxn id="108" idx="0"/>
            <a:endCxn id="115" idx="2"/>
          </p:cNvCxnSpPr>
          <p:nvPr/>
        </p:nvCxnSpPr>
        <p:spPr>
          <a:xfrm flipH="1" flipV="1">
            <a:off x="6349804" y="3137119"/>
            <a:ext cx="1" cy="2085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8" name="直接箭头连接符 117">
            <a:extLst>
              <a:ext uri="{FF2B5EF4-FFF2-40B4-BE49-F238E27FC236}">
                <a16:creationId xmlns:a16="http://schemas.microsoft.com/office/drawing/2014/main" id="{6D8A6CF6-0589-96A1-4BF4-AD5B774A70C5}"/>
              </a:ext>
            </a:extLst>
          </p:cNvPr>
          <p:cNvCxnSpPr>
            <a:cxnSpLocks/>
            <a:stCxn id="115" idx="0"/>
            <a:endCxn id="106" idx="2"/>
          </p:cNvCxnSpPr>
          <p:nvPr/>
        </p:nvCxnSpPr>
        <p:spPr>
          <a:xfrm flipH="1" flipV="1">
            <a:off x="5702874" y="2567487"/>
            <a:ext cx="646930" cy="419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8" name="矩形 137">
            <a:extLst>
              <a:ext uri="{FF2B5EF4-FFF2-40B4-BE49-F238E27FC236}">
                <a16:creationId xmlns:a16="http://schemas.microsoft.com/office/drawing/2014/main" id="{3E20F077-2C33-CBCA-51D8-62F29FAFE353}"/>
              </a:ext>
            </a:extLst>
          </p:cNvPr>
          <p:cNvSpPr/>
          <p:nvPr/>
        </p:nvSpPr>
        <p:spPr>
          <a:xfrm>
            <a:off x="4834838" y="3010660"/>
            <a:ext cx="692151" cy="1497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箭头连接符 138">
            <a:extLst>
              <a:ext uri="{FF2B5EF4-FFF2-40B4-BE49-F238E27FC236}">
                <a16:creationId xmlns:a16="http://schemas.microsoft.com/office/drawing/2014/main" id="{BC193BAB-50BF-B3E6-7115-B8BB49204EDB}"/>
              </a:ext>
            </a:extLst>
          </p:cNvPr>
          <p:cNvCxnSpPr>
            <a:cxnSpLocks/>
          </p:cNvCxnSpPr>
          <p:nvPr/>
        </p:nvCxnSpPr>
        <p:spPr>
          <a:xfrm>
            <a:off x="5526989" y="3062233"/>
            <a:ext cx="460936"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40" name="直接箭头连接符 139">
            <a:extLst>
              <a:ext uri="{FF2B5EF4-FFF2-40B4-BE49-F238E27FC236}">
                <a16:creationId xmlns:a16="http://schemas.microsoft.com/office/drawing/2014/main" id="{F2EF10EB-25C7-2217-CE13-2F55A236E311}"/>
              </a:ext>
            </a:extLst>
          </p:cNvPr>
          <p:cNvCxnSpPr>
            <a:cxnSpLocks/>
          </p:cNvCxnSpPr>
          <p:nvPr/>
        </p:nvCxnSpPr>
        <p:spPr>
          <a:xfrm>
            <a:off x="5542792" y="3705641"/>
            <a:ext cx="460936"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42" name="直接箭头连接符 141">
            <a:extLst>
              <a:ext uri="{FF2B5EF4-FFF2-40B4-BE49-F238E27FC236}">
                <a16:creationId xmlns:a16="http://schemas.microsoft.com/office/drawing/2014/main" id="{56E23CF1-9F67-0107-053F-727402BE6498}"/>
              </a:ext>
            </a:extLst>
          </p:cNvPr>
          <p:cNvCxnSpPr>
            <a:stCxn id="107" idx="0"/>
            <a:endCxn id="138" idx="2"/>
          </p:cNvCxnSpPr>
          <p:nvPr/>
        </p:nvCxnSpPr>
        <p:spPr>
          <a:xfrm flipH="1" flipV="1">
            <a:off x="5180914" y="3160412"/>
            <a:ext cx="15804" cy="1852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5" name="直接箭头连接符 144">
            <a:extLst>
              <a:ext uri="{FF2B5EF4-FFF2-40B4-BE49-F238E27FC236}">
                <a16:creationId xmlns:a16="http://schemas.microsoft.com/office/drawing/2014/main" id="{B1A83A7C-CDFE-E23D-DEC3-0C02F58E1215}"/>
              </a:ext>
            </a:extLst>
          </p:cNvPr>
          <p:cNvCxnSpPr>
            <a:stCxn id="138" idx="0"/>
            <a:endCxn id="106" idx="2"/>
          </p:cNvCxnSpPr>
          <p:nvPr/>
        </p:nvCxnSpPr>
        <p:spPr>
          <a:xfrm flipV="1">
            <a:off x="5180914" y="2567487"/>
            <a:ext cx="521960" cy="4431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0" name="文本框 149">
            <a:extLst>
              <a:ext uri="{FF2B5EF4-FFF2-40B4-BE49-F238E27FC236}">
                <a16:creationId xmlns:a16="http://schemas.microsoft.com/office/drawing/2014/main" id="{5DA69BBB-E826-E1F1-1A23-25140F33F16F}"/>
              </a:ext>
            </a:extLst>
          </p:cNvPr>
          <p:cNvSpPr txBox="1"/>
          <p:nvPr/>
        </p:nvSpPr>
        <p:spPr>
          <a:xfrm>
            <a:off x="5319565" y="4645216"/>
            <a:ext cx="1182395" cy="369332"/>
          </a:xfrm>
          <a:prstGeom prst="rect">
            <a:avLst/>
          </a:prstGeom>
          <a:noFill/>
        </p:spPr>
        <p:txBody>
          <a:bodyPr wrap="square" rtlCol="0">
            <a:spAutoFit/>
          </a:bodyPr>
          <a:lstStyle/>
          <a:p>
            <a:r>
              <a:rPr lang="zh-CN" altLang="en-US" dirty="0"/>
              <a:t>客户端</a:t>
            </a:r>
            <a:r>
              <a:rPr lang="en-US" altLang="zh-CN" dirty="0"/>
              <a:t>B</a:t>
            </a:r>
            <a:endParaRPr lang="zh-CN" altLang="en-US" dirty="0"/>
          </a:p>
        </p:txBody>
      </p:sp>
      <p:sp>
        <p:nvSpPr>
          <p:cNvPr id="151" name="文本框 150">
            <a:extLst>
              <a:ext uri="{FF2B5EF4-FFF2-40B4-BE49-F238E27FC236}">
                <a16:creationId xmlns:a16="http://schemas.microsoft.com/office/drawing/2014/main" id="{E6860E0A-7A73-5EA4-6A85-F0EE993CE97D}"/>
              </a:ext>
            </a:extLst>
          </p:cNvPr>
          <p:cNvSpPr txBox="1"/>
          <p:nvPr/>
        </p:nvSpPr>
        <p:spPr>
          <a:xfrm>
            <a:off x="9182011" y="4678191"/>
            <a:ext cx="1182395" cy="369332"/>
          </a:xfrm>
          <a:prstGeom prst="rect">
            <a:avLst/>
          </a:prstGeom>
          <a:noFill/>
        </p:spPr>
        <p:txBody>
          <a:bodyPr wrap="square" rtlCol="0">
            <a:spAutoFit/>
          </a:bodyPr>
          <a:lstStyle/>
          <a:p>
            <a:r>
              <a:rPr lang="zh-CN" altLang="en-US" dirty="0"/>
              <a:t>客户端</a:t>
            </a:r>
            <a:r>
              <a:rPr lang="en-US" altLang="zh-CN" dirty="0"/>
              <a:t>C</a:t>
            </a:r>
            <a:endParaRPr lang="zh-CN" altLang="en-US" dirty="0"/>
          </a:p>
        </p:txBody>
      </p:sp>
      <p:sp>
        <p:nvSpPr>
          <p:cNvPr id="152" name="梯形 151">
            <a:extLst>
              <a:ext uri="{FF2B5EF4-FFF2-40B4-BE49-F238E27FC236}">
                <a16:creationId xmlns:a16="http://schemas.microsoft.com/office/drawing/2014/main" id="{BB95773D-0FC0-8447-A59E-41943C9C9CBE}"/>
              </a:ext>
            </a:extLst>
          </p:cNvPr>
          <p:cNvSpPr/>
          <p:nvPr/>
        </p:nvSpPr>
        <p:spPr>
          <a:xfrm>
            <a:off x="958888" y="1043159"/>
            <a:ext cx="511463" cy="262507"/>
          </a:xfrm>
          <a:prstGeom prst="trapezoid">
            <a:avLst>
              <a:gd name="adj" fmla="val 44072"/>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53" name="文本框 152">
            <a:extLst>
              <a:ext uri="{FF2B5EF4-FFF2-40B4-BE49-F238E27FC236}">
                <a16:creationId xmlns:a16="http://schemas.microsoft.com/office/drawing/2014/main" id="{E9A6FAE6-6DB4-55FA-04C5-7866F4FB342D}"/>
              </a:ext>
            </a:extLst>
          </p:cNvPr>
          <p:cNvSpPr txBox="1"/>
          <p:nvPr/>
        </p:nvSpPr>
        <p:spPr>
          <a:xfrm>
            <a:off x="560304" y="1332242"/>
            <a:ext cx="1489402" cy="307777"/>
          </a:xfrm>
          <a:prstGeom prst="rect">
            <a:avLst/>
          </a:prstGeom>
          <a:noFill/>
        </p:spPr>
        <p:txBody>
          <a:bodyPr wrap="square" rtlCol="0">
            <a:spAutoFit/>
          </a:bodyPr>
          <a:lstStyle/>
          <a:p>
            <a:r>
              <a:rPr lang="en-US" altLang="zh-CN" sz="1400" dirty="0"/>
              <a:t>Audio Encoder</a:t>
            </a:r>
            <a:endParaRPr lang="zh-CN" altLang="en-US" sz="1400" dirty="0"/>
          </a:p>
        </p:txBody>
      </p:sp>
      <p:sp>
        <p:nvSpPr>
          <p:cNvPr id="154" name="梯形 153">
            <a:extLst>
              <a:ext uri="{FF2B5EF4-FFF2-40B4-BE49-F238E27FC236}">
                <a16:creationId xmlns:a16="http://schemas.microsoft.com/office/drawing/2014/main" id="{9C7716AD-7FAD-6857-ED5D-13701F06CE95}"/>
              </a:ext>
            </a:extLst>
          </p:cNvPr>
          <p:cNvSpPr/>
          <p:nvPr/>
        </p:nvSpPr>
        <p:spPr>
          <a:xfrm>
            <a:off x="2613815" y="1027268"/>
            <a:ext cx="511463" cy="262507"/>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55" name="文本框 154">
            <a:extLst>
              <a:ext uri="{FF2B5EF4-FFF2-40B4-BE49-F238E27FC236}">
                <a16:creationId xmlns:a16="http://schemas.microsoft.com/office/drawing/2014/main" id="{1FB99B73-0FC1-68F8-44D3-E780210D64BD}"/>
              </a:ext>
            </a:extLst>
          </p:cNvPr>
          <p:cNvSpPr txBox="1"/>
          <p:nvPr/>
        </p:nvSpPr>
        <p:spPr>
          <a:xfrm>
            <a:off x="2214786" y="1337197"/>
            <a:ext cx="1605564" cy="307777"/>
          </a:xfrm>
          <a:prstGeom prst="rect">
            <a:avLst/>
          </a:prstGeom>
          <a:noFill/>
        </p:spPr>
        <p:txBody>
          <a:bodyPr wrap="square" rtlCol="0">
            <a:spAutoFit/>
          </a:bodyPr>
          <a:lstStyle/>
          <a:p>
            <a:r>
              <a:rPr lang="en-US" altLang="zh-CN" sz="1400" dirty="0"/>
              <a:t>Visual Encoder</a:t>
            </a:r>
            <a:endParaRPr lang="zh-CN" altLang="en-US" sz="1400" dirty="0"/>
          </a:p>
        </p:txBody>
      </p:sp>
      <p:sp>
        <p:nvSpPr>
          <p:cNvPr id="156" name="梯形 155">
            <a:extLst>
              <a:ext uri="{FF2B5EF4-FFF2-40B4-BE49-F238E27FC236}">
                <a16:creationId xmlns:a16="http://schemas.microsoft.com/office/drawing/2014/main" id="{670B029E-C638-906C-FA59-F6C0DB9E0B52}"/>
              </a:ext>
            </a:extLst>
          </p:cNvPr>
          <p:cNvSpPr/>
          <p:nvPr/>
        </p:nvSpPr>
        <p:spPr>
          <a:xfrm>
            <a:off x="4316860" y="1059822"/>
            <a:ext cx="511463" cy="262507"/>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57" name="文本框 156">
            <a:extLst>
              <a:ext uri="{FF2B5EF4-FFF2-40B4-BE49-F238E27FC236}">
                <a16:creationId xmlns:a16="http://schemas.microsoft.com/office/drawing/2014/main" id="{41A7B895-88AF-7B5A-68BA-EA571AF54774}"/>
              </a:ext>
            </a:extLst>
          </p:cNvPr>
          <p:cNvSpPr txBox="1"/>
          <p:nvPr/>
        </p:nvSpPr>
        <p:spPr>
          <a:xfrm>
            <a:off x="3969160" y="1346110"/>
            <a:ext cx="1263933" cy="307777"/>
          </a:xfrm>
          <a:prstGeom prst="rect">
            <a:avLst/>
          </a:prstGeom>
          <a:noFill/>
        </p:spPr>
        <p:txBody>
          <a:bodyPr wrap="square" rtlCol="0">
            <a:spAutoFit/>
          </a:bodyPr>
          <a:lstStyle/>
          <a:p>
            <a:r>
              <a:rPr lang="en-US" altLang="zh-CN" sz="1400" dirty="0"/>
              <a:t>Text Encoder</a:t>
            </a:r>
            <a:endParaRPr lang="zh-CN" altLang="en-US" sz="1400" dirty="0"/>
          </a:p>
        </p:txBody>
      </p:sp>
      <p:sp>
        <p:nvSpPr>
          <p:cNvPr id="158" name="流程图: 摘录 157">
            <a:extLst>
              <a:ext uri="{FF2B5EF4-FFF2-40B4-BE49-F238E27FC236}">
                <a16:creationId xmlns:a16="http://schemas.microsoft.com/office/drawing/2014/main" id="{271054FE-3571-A051-F26D-DC9316C4BEE8}"/>
              </a:ext>
            </a:extLst>
          </p:cNvPr>
          <p:cNvSpPr/>
          <p:nvPr/>
        </p:nvSpPr>
        <p:spPr>
          <a:xfrm>
            <a:off x="5762081" y="1113221"/>
            <a:ext cx="545221" cy="192445"/>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59" name="文本框 158">
            <a:extLst>
              <a:ext uri="{FF2B5EF4-FFF2-40B4-BE49-F238E27FC236}">
                <a16:creationId xmlns:a16="http://schemas.microsoft.com/office/drawing/2014/main" id="{F0C68FBA-53DA-3694-F6BB-3651A0A46B2C}"/>
              </a:ext>
            </a:extLst>
          </p:cNvPr>
          <p:cNvSpPr txBox="1"/>
          <p:nvPr/>
        </p:nvSpPr>
        <p:spPr>
          <a:xfrm>
            <a:off x="5526706" y="1366368"/>
            <a:ext cx="1263933" cy="307777"/>
          </a:xfrm>
          <a:prstGeom prst="rect">
            <a:avLst/>
          </a:prstGeom>
          <a:noFill/>
        </p:spPr>
        <p:txBody>
          <a:bodyPr wrap="square" rtlCol="0">
            <a:spAutoFit/>
          </a:bodyPr>
          <a:lstStyle/>
          <a:p>
            <a:r>
              <a:rPr lang="en-US" altLang="zh-CN" sz="1400" dirty="0"/>
              <a:t>Classifier</a:t>
            </a:r>
            <a:endParaRPr lang="zh-CN" altLang="en-US" sz="1400" dirty="0"/>
          </a:p>
        </p:txBody>
      </p:sp>
      <p:sp>
        <p:nvSpPr>
          <p:cNvPr id="160" name="椭圆 159">
            <a:extLst>
              <a:ext uri="{FF2B5EF4-FFF2-40B4-BE49-F238E27FC236}">
                <a16:creationId xmlns:a16="http://schemas.microsoft.com/office/drawing/2014/main" id="{E6E965F1-F7DB-7FFF-0BA9-DF24234780FA}"/>
              </a:ext>
            </a:extLst>
          </p:cNvPr>
          <p:cNvSpPr/>
          <p:nvPr/>
        </p:nvSpPr>
        <p:spPr>
          <a:xfrm>
            <a:off x="7231262" y="1105327"/>
            <a:ext cx="368183" cy="2352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61" name="文本框 160">
            <a:extLst>
              <a:ext uri="{FF2B5EF4-FFF2-40B4-BE49-F238E27FC236}">
                <a16:creationId xmlns:a16="http://schemas.microsoft.com/office/drawing/2014/main" id="{4D942608-4F23-FFE2-E0FE-43F487DE8CB4}"/>
              </a:ext>
            </a:extLst>
          </p:cNvPr>
          <p:cNvSpPr txBox="1"/>
          <p:nvPr/>
        </p:nvSpPr>
        <p:spPr>
          <a:xfrm>
            <a:off x="6982955" y="1340595"/>
            <a:ext cx="1263933" cy="307777"/>
          </a:xfrm>
          <a:prstGeom prst="rect">
            <a:avLst/>
          </a:prstGeom>
          <a:noFill/>
        </p:spPr>
        <p:txBody>
          <a:bodyPr wrap="square" rtlCol="0">
            <a:spAutoFit/>
          </a:bodyPr>
          <a:lstStyle/>
          <a:p>
            <a:r>
              <a:rPr lang="en-US" altLang="zh-CN" sz="1400" dirty="0"/>
              <a:t>Regressor</a:t>
            </a:r>
            <a:endParaRPr lang="zh-CN" altLang="en-US" sz="1400" dirty="0"/>
          </a:p>
        </p:txBody>
      </p:sp>
      <p:sp>
        <p:nvSpPr>
          <p:cNvPr id="162" name="矩形 161">
            <a:extLst>
              <a:ext uri="{FF2B5EF4-FFF2-40B4-BE49-F238E27FC236}">
                <a16:creationId xmlns:a16="http://schemas.microsoft.com/office/drawing/2014/main" id="{81B0A8EA-D4BC-B3D6-F0DC-5A4E157D9F06}"/>
              </a:ext>
            </a:extLst>
          </p:cNvPr>
          <p:cNvSpPr/>
          <p:nvPr/>
        </p:nvSpPr>
        <p:spPr>
          <a:xfrm>
            <a:off x="8902144" y="1163559"/>
            <a:ext cx="492260" cy="9177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63" name="文本框 162">
            <a:extLst>
              <a:ext uri="{FF2B5EF4-FFF2-40B4-BE49-F238E27FC236}">
                <a16:creationId xmlns:a16="http://schemas.microsoft.com/office/drawing/2014/main" id="{AC2C84BD-087D-6BC6-3C84-9A60D3F5354C}"/>
              </a:ext>
            </a:extLst>
          </p:cNvPr>
          <p:cNvSpPr txBox="1"/>
          <p:nvPr/>
        </p:nvSpPr>
        <p:spPr>
          <a:xfrm>
            <a:off x="8462542" y="1337048"/>
            <a:ext cx="1725174" cy="307777"/>
          </a:xfrm>
          <a:prstGeom prst="rect">
            <a:avLst/>
          </a:prstGeom>
          <a:noFill/>
        </p:spPr>
        <p:txBody>
          <a:bodyPr wrap="square" rtlCol="0">
            <a:spAutoFit/>
          </a:bodyPr>
          <a:lstStyle/>
          <a:p>
            <a:r>
              <a:rPr lang="en-US" altLang="zh-CN" sz="1400" dirty="0"/>
              <a:t>Representations</a:t>
            </a:r>
            <a:endParaRPr lang="zh-CN" altLang="en-US" sz="1400" dirty="0"/>
          </a:p>
        </p:txBody>
      </p:sp>
      <p:cxnSp>
        <p:nvCxnSpPr>
          <p:cNvPr id="164" name="直接箭头连接符 163">
            <a:extLst>
              <a:ext uri="{FF2B5EF4-FFF2-40B4-BE49-F238E27FC236}">
                <a16:creationId xmlns:a16="http://schemas.microsoft.com/office/drawing/2014/main" id="{A5A529B0-C39D-191C-273B-DF1B8E23054C}"/>
              </a:ext>
            </a:extLst>
          </p:cNvPr>
          <p:cNvCxnSpPr>
            <a:cxnSpLocks/>
          </p:cNvCxnSpPr>
          <p:nvPr/>
        </p:nvCxnSpPr>
        <p:spPr>
          <a:xfrm>
            <a:off x="10730568" y="1244427"/>
            <a:ext cx="32781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165" name="文本框 164">
            <a:extLst>
              <a:ext uri="{FF2B5EF4-FFF2-40B4-BE49-F238E27FC236}">
                <a16:creationId xmlns:a16="http://schemas.microsoft.com/office/drawing/2014/main" id="{99F1FDB0-52AE-448F-3644-9513AA80264F}"/>
              </a:ext>
            </a:extLst>
          </p:cNvPr>
          <p:cNvSpPr txBox="1"/>
          <p:nvPr/>
        </p:nvSpPr>
        <p:spPr>
          <a:xfrm>
            <a:off x="10179719" y="1364696"/>
            <a:ext cx="2393996" cy="307777"/>
          </a:xfrm>
          <a:prstGeom prst="rect">
            <a:avLst/>
          </a:prstGeom>
          <a:noFill/>
        </p:spPr>
        <p:txBody>
          <a:bodyPr wrap="square" rtlCol="0">
            <a:spAutoFit/>
          </a:bodyPr>
          <a:lstStyle/>
          <a:p>
            <a:r>
              <a:rPr lang="en-US" altLang="zh-CN" sz="1400" dirty="0"/>
              <a:t>Attention interaction</a:t>
            </a:r>
            <a:endParaRPr lang="zh-CN" altLang="en-US" sz="1400" dirty="0"/>
          </a:p>
        </p:txBody>
      </p:sp>
      <p:sp>
        <p:nvSpPr>
          <p:cNvPr id="167" name="标题 1">
            <a:extLst>
              <a:ext uri="{FF2B5EF4-FFF2-40B4-BE49-F238E27FC236}">
                <a16:creationId xmlns:a16="http://schemas.microsoft.com/office/drawing/2014/main" id="{A04554EA-5B18-3586-41B1-65F7A19B0144}"/>
              </a:ext>
            </a:extLst>
          </p:cNvPr>
          <p:cNvSpPr txBox="1">
            <a:spLocks/>
          </p:cNvSpPr>
          <p:nvPr/>
        </p:nvSpPr>
        <p:spPr>
          <a:xfrm>
            <a:off x="315647" y="237307"/>
            <a:ext cx="5479473" cy="4292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潜在</a:t>
            </a:r>
            <a:r>
              <a:rPr lang="en-US" altLang="zh-CN" sz="3600" b="1" dirty="0">
                <a:latin typeface="新宋体" panose="02010609030101010101" pitchFamily="49" charset="-122"/>
                <a:ea typeface="新宋体" panose="02010609030101010101" pitchFamily="49" charset="-122"/>
                <a:cs typeface="ADLaM Display" panose="020F0502020204030204" pitchFamily="2" charset="0"/>
              </a:rPr>
              <a:t>Methodology</a:t>
            </a:r>
            <a:r>
              <a:rPr lang="zh-CN" altLang="en-US" sz="3600" b="1" dirty="0">
                <a:latin typeface="新宋体" panose="02010609030101010101" pitchFamily="49" charset="-122"/>
                <a:ea typeface="新宋体" panose="02010609030101010101" pitchFamily="49" charset="-122"/>
                <a:cs typeface="ADLaM Display" panose="020F0502020204030204" pitchFamily="2" charset="0"/>
              </a:rPr>
              <a:t>（场景）</a:t>
            </a:r>
          </a:p>
        </p:txBody>
      </p:sp>
    </p:spTree>
    <p:extLst>
      <p:ext uri="{BB962C8B-B14F-4D97-AF65-F5344CB8AC3E}">
        <p14:creationId xmlns:p14="http://schemas.microsoft.com/office/powerpoint/2010/main" val="211315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8E3B1-51BC-EC22-9902-CFC18D257187}"/>
            </a:ext>
          </a:extLst>
        </p:cNvPr>
        <p:cNvGrpSpPr/>
        <p:nvPr/>
      </p:nvGrpSpPr>
      <p:grpSpPr>
        <a:xfrm>
          <a:off x="0" y="0"/>
          <a:ext cx="0" cy="0"/>
          <a:chOff x="0" y="0"/>
          <a:chExt cx="0" cy="0"/>
        </a:xfrm>
      </p:grpSpPr>
      <p:sp>
        <p:nvSpPr>
          <p:cNvPr id="7" name="梯形 6">
            <a:extLst>
              <a:ext uri="{FF2B5EF4-FFF2-40B4-BE49-F238E27FC236}">
                <a16:creationId xmlns:a16="http://schemas.microsoft.com/office/drawing/2014/main" id="{D4D72EE9-FFB7-7D30-4CD7-402E478BA626}"/>
              </a:ext>
            </a:extLst>
          </p:cNvPr>
          <p:cNvSpPr/>
          <p:nvPr/>
        </p:nvSpPr>
        <p:spPr>
          <a:xfrm>
            <a:off x="1776254" y="5110493"/>
            <a:ext cx="482207" cy="255373"/>
          </a:xfrm>
          <a:prstGeom prst="trapezoid">
            <a:avLst>
              <a:gd name="adj" fmla="val 44072"/>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30213F2-E33A-9831-5380-34329DA4E25F}"/>
              </a:ext>
            </a:extLst>
          </p:cNvPr>
          <p:cNvSpPr/>
          <p:nvPr/>
        </p:nvSpPr>
        <p:spPr>
          <a:xfrm>
            <a:off x="1781178" y="4848117"/>
            <a:ext cx="464103" cy="8352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摘录 9">
            <a:extLst>
              <a:ext uri="{FF2B5EF4-FFF2-40B4-BE49-F238E27FC236}">
                <a16:creationId xmlns:a16="http://schemas.microsoft.com/office/drawing/2014/main" id="{7B3467BA-8B4F-87EB-98F9-9E47F66AE094}"/>
              </a:ext>
            </a:extLst>
          </p:cNvPr>
          <p:cNvSpPr/>
          <p:nvPr/>
        </p:nvSpPr>
        <p:spPr>
          <a:xfrm>
            <a:off x="2049815" y="4011544"/>
            <a:ext cx="514034" cy="187215"/>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AF9756AF-FD57-5BB6-DC5A-593ADFF6C19E}"/>
              </a:ext>
            </a:extLst>
          </p:cNvPr>
          <p:cNvSpPr/>
          <p:nvPr/>
        </p:nvSpPr>
        <p:spPr>
          <a:xfrm>
            <a:off x="1778259" y="4675166"/>
            <a:ext cx="464103" cy="8352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7A87B004-AD64-10B9-5F47-8E3C5CFD983A}"/>
              </a:ext>
            </a:extLst>
          </p:cNvPr>
          <p:cNvSpPr/>
          <p:nvPr/>
        </p:nvSpPr>
        <p:spPr>
          <a:xfrm>
            <a:off x="2385258" y="4675166"/>
            <a:ext cx="464103" cy="8352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6D03788D-4E3A-1638-0CC7-44DB23A635DC}"/>
              </a:ext>
            </a:extLst>
          </p:cNvPr>
          <p:cNvSpPr/>
          <p:nvPr/>
        </p:nvSpPr>
        <p:spPr>
          <a:xfrm>
            <a:off x="2389307" y="4842655"/>
            <a:ext cx="464103" cy="8352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梯形 47">
            <a:extLst>
              <a:ext uri="{FF2B5EF4-FFF2-40B4-BE49-F238E27FC236}">
                <a16:creationId xmlns:a16="http://schemas.microsoft.com/office/drawing/2014/main" id="{3C49C1CF-5221-B8B6-A294-7DAE44470AF9}"/>
              </a:ext>
            </a:extLst>
          </p:cNvPr>
          <p:cNvSpPr/>
          <p:nvPr/>
        </p:nvSpPr>
        <p:spPr>
          <a:xfrm>
            <a:off x="2385258" y="5108003"/>
            <a:ext cx="482207" cy="255373"/>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 name="直接箭头连接符 52">
            <a:extLst>
              <a:ext uri="{FF2B5EF4-FFF2-40B4-BE49-F238E27FC236}">
                <a16:creationId xmlns:a16="http://schemas.microsoft.com/office/drawing/2014/main" id="{9A76F2BE-F039-BFEF-F8D5-689E868EB355}"/>
              </a:ext>
            </a:extLst>
          </p:cNvPr>
          <p:cNvCxnSpPr>
            <a:stCxn id="7" idx="0"/>
            <a:endCxn id="8" idx="2"/>
          </p:cNvCxnSpPr>
          <p:nvPr/>
        </p:nvCxnSpPr>
        <p:spPr>
          <a:xfrm flipH="1" flipV="1">
            <a:off x="2013229" y="4931644"/>
            <a:ext cx="4128" cy="178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直接箭头连接符 54">
            <a:extLst>
              <a:ext uri="{FF2B5EF4-FFF2-40B4-BE49-F238E27FC236}">
                <a16:creationId xmlns:a16="http://schemas.microsoft.com/office/drawing/2014/main" id="{F4DC0BF6-CCF9-4F82-0F6A-3B95ECE80AE7}"/>
              </a:ext>
            </a:extLst>
          </p:cNvPr>
          <p:cNvCxnSpPr>
            <a:stCxn id="8" idx="0"/>
            <a:endCxn id="3" idx="2"/>
          </p:cNvCxnSpPr>
          <p:nvPr/>
        </p:nvCxnSpPr>
        <p:spPr>
          <a:xfrm flipH="1" flipV="1">
            <a:off x="2010311" y="4758693"/>
            <a:ext cx="2918" cy="894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直接箭头连接符 56">
            <a:extLst>
              <a:ext uri="{FF2B5EF4-FFF2-40B4-BE49-F238E27FC236}">
                <a16:creationId xmlns:a16="http://schemas.microsoft.com/office/drawing/2014/main" id="{400D678A-1C06-065C-288A-74BCD109F469}"/>
              </a:ext>
            </a:extLst>
          </p:cNvPr>
          <p:cNvCxnSpPr>
            <a:stCxn id="48" idx="0"/>
            <a:endCxn id="5" idx="2"/>
          </p:cNvCxnSpPr>
          <p:nvPr/>
        </p:nvCxnSpPr>
        <p:spPr>
          <a:xfrm flipH="1" flipV="1">
            <a:off x="2621359" y="4926181"/>
            <a:ext cx="5003" cy="181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直接箭头连接符 58">
            <a:extLst>
              <a:ext uri="{FF2B5EF4-FFF2-40B4-BE49-F238E27FC236}">
                <a16:creationId xmlns:a16="http://schemas.microsoft.com/office/drawing/2014/main" id="{007DC7CD-63A6-41C1-76D2-3A33146A0337}"/>
              </a:ext>
            </a:extLst>
          </p:cNvPr>
          <p:cNvCxnSpPr>
            <a:stCxn id="5" idx="0"/>
            <a:endCxn id="4" idx="2"/>
          </p:cNvCxnSpPr>
          <p:nvPr/>
        </p:nvCxnSpPr>
        <p:spPr>
          <a:xfrm flipH="1" flipV="1">
            <a:off x="2617309" y="4758693"/>
            <a:ext cx="4049" cy="83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矩形 61">
            <a:extLst>
              <a:ext uri="{FF2B5EF4-FFF2-40B4-BE49-F238E27FC236}">
                <a16:creationId xmlns:a16="http://schemas.microsoft.com/office/drawing/2014/main" id="{3060D695-109A-3C5C-E2DA-9555280D2278}"/>
              </a:ext>
            </a:extLst>
          </p:cNvPr>
          <p:cNvSpPr/>
          <p:nvPr/>
        </p:nvSpPr>
        <p:spPr>
          <a:xfrm>
            <a:off x="1772794" y="4377764"/>
            <a:ext cx="1076566" cy="8070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箭头连接符 63">
            <a:extLst>
              <a:ext uri="{FF2B5EF4-FFF2-40B4-BE49-F238E27FC236}">
                <a16:creationId xmlns:a16="http://schemas.microsoft.com/office/drawing/2014/main" id="{CED452F5-9B6A-63A7-7BAE-A36B8FDA3B5F}"/>
              </a:ext>
            </a:extLst>
          </p:cNvPr>
          <p:cNvCxnSpPr>
            <a:stCxn id="3" idx="0"/>
            <a:endCxn id="62" idx="2"/>
          </p:cNvCxnSpPr>
          <p:nvPr/>
        </p:nvCxnSpPr>
        <p:spPr>
          <a:xfrm flipV="1">
            <a:off x="2010311" y="4458466"/>
            <a:ext cx="300766" cy="216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直接箭头连接符 65">
            <a:extLst>
              <a:ext uri="{FF2B5EF4-FFF2-40B4-BE49-F238E27FC236}">
                <a16:creationId xmlns:a16="http://schemas.microsoft.com/office/drawing/2014/main" id="{825C80A3-07BA-C097-5041-D68E5DC623FE}"/>
              </a:ext>
            </a:extLst>
          </p:cNvPr>
          <p:cNvCxnSpPr>
            <a:stCxn id="4" idx="0"/>
            <a:endCxn id="62" idx="2"/>
          </p:cNvCxnSpPr>
          <p:nvPr/>
        </p:nvCxnSpPr>
        <p:spPr>
          <a:xfrm flipH="1" flipV="1">
            <a:off x="2311077" y="4458466"/>
            <a:ext cx="306232" cy="216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直接箭头连接符 67">
            <a:extLst>
              <a:ext uri="{FF2B5EF4-FFF2-40B4-BE49-F238E27FC236}">
                <a16:creationId xmlns:a16="http://schemas.microsoft.com/office/drawing/2014/main" id="{466BD045-705C-795C-D2FC-8B08F3D1C163}"/>
              </a:ext>
            </a:extLst>
          </p:cNvPr>
          <p:cNvCxnSpPr>
            <a:stCxn id="62" idx="0"/>
            <a:endCxn id="10" idx="2"/>
          </p:cNvCxnSpPr>
          <p:nvPr/>
        </p:nvCxnSpPr>
        <p:spPr>
          <a:xfrm flipH="1" flipV="1">
            <a:off x="2306832" y="4198759"/>
            <a:ext cx="4245" cy="1790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1" name="文本框 70">
            <a:extLst>
              <a:ext uri="{FF2B5EF4-FFF2-40B4-BE49-F238E27FC236}">
                <a16:creationId xmlns:a16="http://schemas.microsoft.com/office/drawing/2014/main" id="{4A86DFFF-D0A3-05FB-C999-36F923BAB15B}"/>
              </a:ext>
            </a:extLst>
          </p:cNvPr>
          <p:cNvSpPr txBox="1"/>
          <p:nvPr/>
        </p:nvSpPr>
        <p:spPr>
          <a:xfrm>
            <a:off x="1866046" y="5519261"/>
            <a:ext cx="1182395" cy="369332"/>
          </a:xfrm>
          <a:prstGeom prst="rect">
            <a:avLst/>
          </a:prstGeom>
          <a:noFill/>
        </p:spPr>
        <p:txBody>
          <a:bodyPr wrap="square" rtlCol="0">
            <a:spAutoFit/>
          </a:bodyPr>
          <a:lstStyle/>
          <a:p>
            <a:r>
              <a:rPr lang="zh-CN" altLang="en-US" dirty="0"/>
              <a:t>客户端</a:t>
            </a:r>
            <a:r>
              <a:rPr lang="en-US" altLang="zh-CN" dirty="0"/>
              <a:t>A</a:t>
            </a:r>
            <a:endParaRPr lang="zh-CN" altLang="en-US" dirty="0"/>
          </a:p>
        </p:txBody>
      </p:sp>
      <p:sp>
        <p:nvSpPr>
          <p:cNvPr id="75" name="梯形 74">
            <a:extLst>
              <a:ext uri="{FF2B5EF4-FFF2-40B4-BE49-F238E27FC236}">
                <a16:creationId xmlns:a16="http://schemas.microsoft.com/office/drawing/2014/main" id="{D2994468-90AD-23D5-28D0-EAB9F4DD5240}"/>
              </a:ext>
            </a:extLst>
          </p:cNvPr>
          <p:cNvSpPr/>
          <p:nvPr/>
        </p:nvSpPr>
        <p:spPr>
          <a:xfrm>
            <a:off x="8646714" y="5081820"/>
            <a:ext cx="500328" cy="281227"/>
          </a:xfrm>
          <a:prstGeom prst="trapezoid">
            <a:avLst>
              <a:gd name="adj" fmla="val 44072"/>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02C062B9-9B97-A660-5AF2-541D6A5AA9D9}"/>
              </a:ext>
            </a:extLst>
          </p:cNvPr>
          <p:cNvSpPr/>
          <p:nvPr/>
        </p:nvSpPr>
        <p:spPr>
          <a:xfrm>
            <a:off x="8651823" y="4792881"/>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D384C314-AC01-3BC2-5626-6394A4979F93}"/>
              </a:ext>
            </a:extLst>
          </p:cNvPr>
          <p:cNvSpPr/>
          <p:nvPr/>
        </p:nvSpPr>
        <p:spPr>
          <a:xfrm>
            <a:off x="8648795" y="4602420"/>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a:extLst>
              <a:ext uri="{FF2B5EF4-FFF2-40B4-BE49-F238E27FC236}">
                <a16:creationId xmlns:a16="http://schemas.microsoft.com/office/drawing/2014/main" id="{67C785BB-7BD4-598A-E92B-D0C9E34980BA}"/>
              </a:ext>
            </a:extLst>
          </p:cNvPr>
          <p:cNvSpPr/>
          <p:nvPr/>
        </p:nvSpPr>
        <p:spPr>
          <a:xfrm>
            <a:off x="9278604" y="4602420"/>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a:extLst>
              <a:ext uri="{FF2B5EF4-FFF2-40B4-BE49-F238E27FC236}">
                <a16:creationId xmlns:a16="http://schemas.microsoft.com/office/drawing/2014/main" id="{56A4795C-1A33-F4A5-FE35-2508B8535EA4}"/>
              </a:ext>
            </a:extLst>
          </p:cNvPr>
          <p:cNvSpPr/>
          <p:nvPr/>
        </p:nvSpPr>
        <p:spPr>
          <a:xfrm>
            <a:off x="9282805" y="4786866"/>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梯形 80">
            <a:extLst>
              <a:ext uri="{FF2B5EF4-FFF2-40B4-BE49-F238E27FC236}">
                <a16:creationId xmlns:a16="http://schemas.microsoft.com/office/drawing/2014/main" id="{C5BC4EA0-FBB8-1646-242B-44EFE15F507A}"/>
              </a:ext>
            </a:extLst>
          </p:cNvPr>
          <p:cNvSpPr/>
          <p:nvPr/>
        </p:nvSpPr>
        <p:spPr>
          <a:xfrm>
            <a:off x="9278604" y="5079078"/>
            <a:ext cx="500328" cy="281227"/>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2" name="直接箭头连接符 81">
            <a:extLst>
              <a:ext uri="{FF2B5EF4-FFF2-40B4-BE49-F238E27FC236}">
                <a16:creationId xmlns:a16="http://schemas.microsoft.com/office/drawing/2014/main" id="{8AC67B8A-9E29-291F-3533-1CBD5CF1C61B}"/>
              </a:ext>
            </a:extLst>
          </p:cNvPr>
          <p:cNvCxnSpPr>
            <a:stCxn id="75" idx="0"/>
            <a:endCxn id="76" idx="2"/>
          </p:cNvCxnSpPr>
          <p:nvPr/>
        </p:nvCxnSpPr>
        <p:spPr>
          <a:xfrm flipH="1" flipV="1">
            <a:off x="8892595" y="4884864"/>
            <a:ext cx="4284" cy="1969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直接箭头连接符 82">
            <a:extLst>
              <a:ext uri="{FF2B5EF4-FFF2-40B4-BE49-F238E27FC236}">
                <a16:creationId xmlns:a16="http://schemas.microsoft.com/office/drawing/2014/main" id="{BC17CEBC-9CC6-E96E-BA31-E87E04E6DB13}"/>
              </a:ext>
            </a:extLst>
          </p:cNvPr>
          <p:cNvCxnSpPr>
            <a:stCxn id="76" idx="0"/>
            <a:endCxn id="78" idx="2"/>
          </p:cNvCxnSpPr>
          <p:nvPr/>
        </p:nvCxnSpPr>
        <p:spPr>
          <a:xfrm flipH="1" flipV="1">
            <a:off x="8889567" y="4694403"/>
            <a:ext cx="3028" cy="984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直接箭头连接符 83">
            <a:extLst>
              <a:ext uri="{FF2B5EF4-FFF2-40B4-BE49-F238E27FC236}">
                <a16:creationId xmlns:a16="http://schemas.microsoft.com/office/drawing/2014/main" id="{19E5A398-74D2-6B45-3EAD-1577D815FB66}"/>
              </a:ext>
            </a:extLst>
          </p:cNvPr>
          <p:cNvCxnSpPr>
            <a:stCxn id="81" idx="0"/>
            <a:endCxn id="80" idx="2"/>
          </p:cNvCxnSpPr>
          <p:nvPr/>
        </p:nvCxnSpPr>
        <p:spPr>
          <a:xfrm flipH="1" flipV="1">
            <a:off x="9523577" y="4878848"/>
            <a:ext cx="5191" cy="2002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直接箭头连接符 84">
            <a:extLst>
              <a:ext uri="{FF2B5EF4-FFF2-40B4-BE49-F238E27FC236}">
                <a16:creationId xmlns:a16="http://schemas.microsoft.com/office/drawing/2014/main" id="{A51B8740-1246-3E08-2290-0F590468EADC}"/>
              </a:ext>
            </a:extLst>
          </p:cNvPr>
          <p:cNvCxnSpPr>
            <a:stCxn id="80" idx="0"/>
            <a:endCxn id="79" idx="2"/>
          </p:cNvCxnSpPr>
          <p:nvPr/>
        </p:nvCxnSpPr>
        <p:spPr>
          <a:xfrm flipH="1" flipV="1">
            <a:off x="9519376" y="4694403"/>
            <a:ext cx="4201" cy="924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矩形 85">
            <a:extLst>
              <a:ext uri="{FF2B5EF4-FFF2-40B4-BE49-F238E27FC236}">
                <a16:creationId xmlns:a16="http://schemas.microsoft.com/office/drawing/2014/main" id="{4875B996-9DC9-AA35-83EA-9A7C5BC275B1}"/>
              </a:ext>
            </a:extLst>
          </p:cNvPr>
          <p:cNvSpPr/>
          <p:nvPr/>
        </p:nvSpPr>
        <p:spPr>
          <a:xfrm>
            <a:off x="8643124" y="4274909"/>
            <a:ext cx="1117023" cy="8887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直接箭头连接符 86">
            <a:extLst>
              <a:ext uri="{FF2B5EF4-FFF2-40B4-BE49-F238E27FC236}">
                <a16:creationId xmlns:a16="http://schemas.microsoft.com/office/drawing/2014/main" id="{68F1F2E0-C16A-202C-13CF-E93849CE00BF}"/>
              </a:ext>
            </a:extLst>
          </p:cNvPr>
          <p:cNvCxnSpPr>
            <a:stCxn id="78" idx="0"/>
            <a:endCxn id="86" idx="2"/>
          </p:cNvCxnSpPr>
          <p:nvPr/>
        </p:nvCxnSpPr>
        <p:spPr>
          <a:xfrm flipV="1">
            <a:off x="8889567" y="4363781"/>
            <a:ext cx="312069" cy="238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直接箭头连接符 87">
            <a:extLst>
              <a:ext uri="{FF2B5EF4-FFF2-40B4-BE49-F238E27FC236}">
                <a16:creationId xmlns:a16="http://schemas.microsoft.com/office/drawing/2014/main" id="{97795A0D-CF8C-5A47-469E-DED2777B60A1}"/>
              </a:ext>
            </a:extLst>
          </p:cNvPr>
          <p:cNvCxnSpPr>
            <a:stCxn id="79" idx="0"/>
            <a:endCxn id="86" idx="2"/>
          </p:cNvCxnSpPr>
          <p:nvPr/>
        </p:nvCxnSpPr>
        <p:spPr>
          <a:xfrm flipH="1" flipV="1">
            <a:off x="9201636" y="4363781"/>
            <a:ext cx="317740" cy="238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直接箭头连接符 88">
            <a:extLst>
              <a:ext uri="{FF2B5EF4-FFF2-40B4-BE49-F238E27FC236}">
                <a16:creationId xmlns:a16="http://schemas.microsoft.com/office/drawing/2014/main" id="{7222A1F4-F204-EA53-CD4A-12DA6FD33DD7}"/>
              </a:ext>
            </a:extLst>
          </p:cNvPr>
          <p:cNvCxnSpPr>
            <a:cxnSpLocks/>
            <a:stCxn id="86" idx="0"/>
            <a:endCxn id="94" idx="4"/>
          </p:cNvCxnSpPr>
          <p:nvPr/>
        </p:nvCxnSpPr>
        <p:spPr>
          <a:xfrm flipV="1">
            <a:off x="9201636" y="4103479"/>
            <a:ext cx="523666" cy="1714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梯形 89">
            <a:extLst>
              <a:ext uri="{FF2B5EF4-FFF2-40B4-BE49-F238E27FC236}">
                <a16:creationId xmlns:a16="http://schemas.microsoft.com/office/drawing/2014/main" id="{AB69D56E-E69A-FDE1-8BB4-3EBF346E8170}"/>
              </a:ext>
            </a:extLst>
          </p:cNvPr>
          <p:cNvSpPr/>
          <p:nvPr/>
        </p:nvSpPr>
        <p:spPr>
          <a:xfrm>
            <a:off x="9910494" y="5077175"/>
            <a:ext cx="500328" cy="281227"/>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矩形 91">
            <a:extLst>
              <a:ext uri="{FF2B5EF4-FFF2-40B4-BE49-F238E27FC236}">
                <a16:creationId xmlns:a16="http://schemas.microsoft.com/office/drawing/2014/main" id="{1F743DD2-62CE-57E4-C4B7-0AF329C23189}"/>
              </a:ext>
            </a:extLst>
          </p:cNvPr>
          <p:cNvSpPr/>
          <p:nvPr/>
        </p:nvSpPr>
        <p:spPr>
          <a:xfrm>
            <a:off x="9905385" y="4676980"/>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7AC8C9A6-54C2-1FED-5B56-01333F953F3D}"/>
              </a:ext>
            </a:extLst>
          </p:cNvPr>
          <p:cNvSpPr/>
          <p:nvPr/>
        </p:nvSpPr>
        <p:spPr>
          <a:xfrm>
            <a:off x="9545217" y="3851434"/>
            <a:ext cx="360168" cy="25204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箭头连接符 96">
            <a:extLst>
              <a:ext uri="{FF2B5EF4-FFF2-40B4-BE49-F238E27FC236}">
                <a16:creationId xmlns:a16="http://schemas.microsoft.com/office/drawing/2014/main" id="{7607B846-E250-CCEA-BB11-E516F55DF885}"/>
              </a:ext>
            </a:extLst>
          </p:cNvPr>
          <p:cNvCxnSpPr>
            <a:stCxn id="92" idx="0"/>
            <a:endCxn id="94" idx="4"/>
          </p:cNvCxnSpPr>
          <p:nvPr/>
        </p:nvCxnSpPr>
        <p:spPr>
          <a:xfrm flipH="1" flipV="1">
            <a:off x="9725301" y="4103479"/>
            <a:ext cx="420856" cy="57350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9" name="直接箭头连接符 98">
            <a:extLst>
              <a:ext uri="{FF2B5EF4-FFF2-40B4-BE49-F238E27FC236}">
                <a16:creationId xmlns:a16="http://schemas.microsoft.com/office/drawing/2014/main" id="{CF7AC98E-2AE9-1FB8-4BE0-F1C4F8782A82}"/>
              </a:ext>
            </a:extLst>
          </p:cNvPr>
          <p:cNvCxnSpPr>
            <a:stCxn id="90" idx="0"/>
            <a:endCxn id="92" idx="2"/>
          </p:cNvCxnSpPr>
          <p:nvPr/>
        </p:nvCxnSpPr>
        <p:spPr>
          <a:xfrm flipH="1" flipV="1">
            <a:off x="10146157" y="4768963"/>
            <a:ext cx="14501" cy="3082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4" name="梯形 103">
            <a:extLst>
              <a:ext uri="{FF2B5EF4-FFF2-40B4-BE49-F238E27FC236}">
                <a16:creationId xmlns:a16="http://schemas.microsoft.com/office/drawing/2014/main" id="{8538CB99-526D-8C40-7EA2-8D34DA646D03}"/>
              </a:ext>
            </a:extLst>
          </p:cNvPr>
          <p:cNvSpPr/>
          <p:nvPr/>
        </p:nvSpPr>
        <p:spPr>
          <a:xfrm>
            <a:off x="5063291" y="5076808"/>
            <a:ext cx="481430" cy="289058"/>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a:extLst>
              <a:ext uri="{FF2B5EF4-FFF2-40B4-BE49-F238E27FC236}">
                <a16:creationId xmlns:a16="http://schemas.microsoft.com/office/drawing/2014/main" id="{4E563EBE-ECB4-C1CB-6640-A36009A88B92}"/>
              </a:ext>
            </a:extLst>
          </p:cNvPr>
          <p:cNvSpPr/>
          <p:nvPr/>
        </p:nvSpPr>
        <p:spPr>
          <a:xfrm>
            <a:off x="5068206" y="4779822"/>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流程图: 摘录 105">
            <a:extLst>
              <a:ext uri="{FF2B5EF4-FFF2-40B4-BE49-F238E27FC236}">
                <a16:creationId xmlns:a16="http://schemas.microsoft.com/office/drawing/2014/main" id="{DCF46723-480B-280F-27F1-F743E8695ACD}"/>
              </a:ext>
            </a:extLst>
          </p:cNvPr>
          <p:cNvSpPr/>
          <p:nvPr/>
        </p:nvSpPr>
        <p:spPr>
          <a:xfrm>
            <a:off x="5379209" y="3847029"/>
            <a:ext cx="513205" cy="211910"/>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a:extLst>
              <a:ext uri="{FF2B5EF4-FFF2-40B4-BE49-F238E27FC236}">
                <a16:creationId xmlns:a16="http://schemas.microsoft.com/office/drawing/2014/main" id="{D82E318C-B8A9-B371-8E8E-9646721EC141}"/>
              </a:ext>
            </a:extLst>
          </p:cNvPr>
          <p:cNvSpPr/>
          <p:nvPr/>
        </p:nvSpPr>
        <p:spPr>
          <a:xfrm>
            <a:off x="5065293" y="4584058"/>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5C3C283D-78F3-1A38-30E6-C12A42ED6AC6}"/>
              </a:ext>
            </a:extLst>
          </p:cNvPr>
          <p:cNvSpPr/>
          <p:nvPr/>
        </p:nvSpPr>
        <p:spPr>
          <a:xfrm>
            <a:off x="5837216" y="4584058"/>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E1F2D4AE-B076-48B5-5240-DA8DFEF335E1}"/>
              </a:ext>
            </a:extLst>
          </p:cNvPr>
          <p:cNvSpPr/>
          <p:nvPr/>
        </p:nvSpPr>
        <p:spPr>
          <a:xfrm>
            <a:off x="5841259" y="4773639"/>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梯形 109">
            <a:extLst>
              <a:ext uri="{FF2B5EF4-FFF2-40B4-BE49-F238E27FC236}">
                <a16:creationId xmlns:a16="http://schemas.microsoft.com/office/drawing/2014/main" id="{31734B50-63C2-C85E-AAC0-B89FA2492570}"/>
              </a:ext>
            </a:extLst>
          </p:cNvPr>
          <p:cNvSpPr/>
          <p:nvPr/>
        </p:nvSpPr>
        <p:spPr>
          <a:xfrm>
            <a:off x="5837216" y="5073989"/>
            <a:ext cx="481430" cy="289058"/>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1" name="直接箭头连接符 110">
            <a:extLst>
              <a:ext uri="{FF2B5EF4-FFF2-40B4-BE49-F238E27FC236}">
                <a16:creationId xmlns:a16="http://schemas.microsoft.com/office/drawing/2014/main" id="{862D833C-4185-4E0C-4329-78E4D0D2F504}"/>
              </a:ext>
            </a:extLst>
          </p:cNvPr>
          <p:cNvCxnSpPr>
            <a:stCxn id="104" idx="0"/>
            <a:endCxn id="105" idx="2"/>
          </p:cNvCxnSpPr>
          <p:nvPr/>
        </p:nvCxnSpPr>
        <p:spPr>
          <a:xfrm flipH="1" flipV="1">
            <a:off x="5299884" y="4874367"/>
            <a:ext cx="4122" cy="2024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2" name="直接箭头连接符 111">
            <a:extLst>
              <a:ext uri="{FF2B5EF4-FFF2-40B4-BE49-F238E27FC236}">
                <a16:creationId xmlns:a16="http://schemas.microsoft.com/office/drawing/2014/main" id="{65DF5A9A-BAE1-2F1D-9089-79C6AB887AE0}"/>
              </a:ext>
            </a:extLst>
          </p:cNvPr>
          <p:cNvCxnSpPr>
            <a:stCxn id="105" idx="0"/>
            <a:endCxn id="107" idx="2"/>
          </p:cNvCxnSpPr>
          <p:nvPr/>
        </p:nvCxnSpPr>
        <p:spPr>
          <a:xfrm flipH="1" flipV="1">
            <a:off x="5296970" y="4678602"/>
            <a:ext cx="2913" cy="101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直接箭头连接符 112">
            <a:extLst>
              <a:ext uri="{FF2B5EF4-FFF2-40B4-BE49-F238E27FC236}">
                <a16:creationId xmlns:a16="http://schemas.microsoft.com/office/drawing/2014/main" id="{A5D45BE1-9FD3-9F2A-A04F-554867D3151E}"/>
              </a:ext>
            </a:extLst>
          </p:cNvPr>
          <p:cNvCxnSpPr>
            <a:stCxn id="110" idx="0"/>
            <a:endCxn id="109" idx="2"/>
          </p:cNvCxnSpPr>
          <p:nvPr/>
        </p:nvCxnSpPr>
        <p:spPr>
          <a:xfrm flipH="1" flipV="1">
            <a:off x="6072936" y="4868183"/>
            <a:ext cx="4995" cy="205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4" name="直接箭头连接符 113">
            <a:extLst>
              <a:ext uri="{FF2B5EF4-FFF2-40B4-BE49-F238E27FC236}">
                <a16:creationId xmlns:a16="http://schemas.microsoft.com/office/drawing/2014/main" id="{06F069E6-2FFE-85C5-60AC-B52E534A114B}"/>
              </a:ext>
            </a:extLst>
          </p:cNvPr>
          <p:cNvCxnSpPr>
            <a:stCxn id="109" idx="0"/>
            <a:endCxn id="108" idx="2"/>
          </p:cNvCxnSpPr>
          <p:nvPr/>
        </p:nvCxnSpPr>
        <p:spPr>
          <a:xfrm flipH="1" flipV="1">
            <a:off x="6068894" y="4678602"/>
            <a:ext cx="4043" cy="95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5" name="矩形 114">
            <a:extLst>
              <a:ext uri="{FF2B5EF4-FFF2-40B4-BE49-F238E27FC236}">
                <a16:creationId xmlns:a16="http://schemas.microsoft.com/office/drawing/2014/main" id="{CB799D2F-C61F-88BB-E850-62C65B6C3236}"/>
              </a:ext>
            </a:extLst>
          </p:cNvPr>
          <p:cNvSpPr/>
          <p:nvPr/>
        </p:nvSpPr>
        <p:spPr>
          <a:xfrm>
            <a:off x="5837216" y="4342272"/>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6" name="直接箭头连接符 115">
            <a:extLst>
              <a:ext uri="{FF2B5EF4-FFF2-40B4-BE49-F238E27FC236}">
                <a16:creationId xmlns:a16="http://schemas.microsoft.com/office/drawing/2014/main" id="{61B68901-C3EB-8215-7625-5DC79CA5BF81}"/>
              </a:ext>
            </a:extLst>
          </p:cNvPr>
          <p:cNvCxnSpPr>
            <a:cxnSpLocks/>
            <a:stCxn id="107" idx="3"/>
            <a:endCxn id="108" idx="1"/>
          </p:cNvCxnSpPr>
          <p:nvPr/>
        </p:nvCxnSpPr>
        <p:spPr>
          <a:xfrm>
            <a:off x="5528647" y="4631330"/>
            <a:ext cx="30856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7" name="直接箭头连接符 116">
            <a:extLst>
              <a:ext uri="{FF2B5EF4-FFF2-40B4-BE49-F238E27FC236}">
                <a16:creationId xmlns:a16="http://schemas.microsoft.com/office/drawing/2014/main" id="{A907600E-322E-02B2-06F8-BEA70FFF110A}"/>
              </a:ext>
            </a:extLst>
          </p:cNvPr>
          <p:cNvCxnSpPr>
            <a:cxnSpLocks/>
            <a:stCxn id="108" idx="0"/>
            <a:endCxn id="115" idx="2"/>
          </p:cNvCxnSpPr>
          <p:nvPr/>
        </p:nvCxnSpPr>
        <p:spPr>
          <a:xfrm flipH="1" flipV="1">
            <a:off x="6068893" y="4443323"/>
            <a:ext cx="1" cy="1407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8" name="直接箭头连接符 117">
            <a:extLst>
              <a:ext uri="{FF2B5EF4-FFF2-40B4-BE49-F238E27FC236}">
                <a16:creationId xmlns:a16="http://schemas.microsoft.com/office/drawing/2014/main" id="{82BCA1E1-A86C-7191-E2A2-0D51943BE85E}"/>
              </a:ext>
            </a:extLst>
          </p:cNvPr>
          <p:cNvCxnSpPr>
            <a:cxnSpLocks/>
            <a:stCxn id="115" idx="0"/>
            <a:endCxn id="106" idx="2"/>
          </p:cNvCxnSpPr>
          <p:nvPr/>
        </p:nvCxnSpPr>
        <p:spPr>
          <a:xfrm flipH="1" flipV="1">
            <a:off x="5635812" y="4058939"/>
            <a:ext cx="433081" cy="2833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8" name="矩形 137">
            <a:extLst>
              <a:ext uri="{FF2B5EF4-FFF2-40B4-BE49-F238E27FC236}">
                <a16:creationId xmlns:a16="http://schemas.microsoft.com/office/drawing/2014/main" id="{D3D14DE7-78E6-3383-491B-0F6791B42F44}"/>
              </a:ext>
            </a:extLst>
          </p:cNvPr>
          <p:cNvSpPr/>
          <p:nvPr/>
        </p:nvSpPr>
        <p:spPr>
          <a:xfrm>
            <a:off x="5054713" y="4357989"/>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箭头连接符 138">
            <a:extLst>
              <a:ext uri="{FF2B5EF4-FFF2-40B4-BE49-F238E27FC236}">
                <a16:creationId xmlns:a16="http://schemas.microsoft.com/office/drawing/2014/main" id="{09D3B597-298D-77A7-91BB-14E2C5090B0E}"/>
              </a:ext>
            </a:extLst>
          </p:cNvPr>
          <p:cNvCxnSpPr>
            <a:cxnSpLocks/>
          </p:cNvCxnSpPr>
          <p:nvPr/>
        </p:nvCxnSpPr>
        <p:spPr>
          <a:xfrm>
            <a:off x="5518067" y="4392791"/>
            <a:ext cx="30856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40" name="直接箭头连接符 139">
            <a:extLst>
              <a:ext uri="{FF2B5EF4-FFF2-40B4-BE49-F238E27FC236}">
                <a16:creationId xmlns:a16="http://schemas.microsoft.com/office/drawing/2014/main" id="{E6A113EF-345F-BC3B-6759-EE5C79A29B10}"/>
              </a:ext>
            </a:extLst>
          </p:cNvPr>
          <p:cNvCxnSpPr>
            <a:cxnSpLocks/>
          </p:cNvCxnSpPr>
          <p:nvPr/>
        </p:nvCxnSpPr>
        <p:spPr>
          <a:xfrm>
            <a:off x="5528646" y="4826959"/>
            <a:ext cx="30856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42" name="直接箭头连接符 141">
            <a:extLst>
              <a:ext uri="{FF2B5EF4-FFF2-40B4-BE49-F238E27FC236}">
                <a16:creationId xmlns:a16="http://schemas.microsoft.com/office/drawing/2014/main" id="{A79AD848-21E6-B5A2-860E-8F974E7BDC06}"/>
              </a:ext>
            </a:extLst>
          </p:cNvPr>
          <p:cNvCxnSpPr>
            <a:stCxn id="107" idx="0"/>
            <a:endCxn id="138" idx="2"/>
          </p:cNvCxnSpPr>
          <p:nvPr/>
        </p:nvCxnSpPr>
        <p:spPr>
          <a:xfrm flipH="1" flipV="1">
            <a:off x="5286390" y="4459041"/>
            <a:ext cx="10580" cy="125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5" name="直接箭头连接符 144">
            <a:extLst>
              <a:ext uri="{FF2B5EF4-FFF2-40B4-BE49-F238E27FC236}">
                <a16:creationId xmlns:a16="http://schemas.microsoft.com/office/drawing/2014/main" id="{21CBFF91-9771-3A06-CEB3-F5771828B106}"/>
              </a:ext>
            </a:extLst>
          </p:cNvPr>
          <p:cNvCxnSpPr>
            <a:stCxn id="138" idx="0"/>
            <a:endCxn id="106" idx="2"/>
          </p:cNvCxnSpPr>
          <p:nvPr/>
        </p:nvCxnSpPr>
        <p:spPr>
          <a:xfrm flipV="1">
            <a:off x="5286390" y="4058939"/>
            <a:ext cx="349421" cy="2990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0" name="文本框 149">
            <a:extLst>
              <a:ext uri="{FF2B5EF4-FFF2-40B4-BE49-F238E27FC236}">
                <a16:creationId xmlns:a16="http://schemas.microsoft.com/office/drawing/2014/main" id="{FC60131C-9FD4-6B7F-B300-B7F0B3BC304A}"/>
              </a:ext>
            </a:extLst>
          </p:cNvPr>
          <p:cNvSpPr txBox="1"/>
          <p:nvPr/>
        </p:nvSpPr>
        <p:spPr>
          <a:xfrm>
            <a:off x="5211405" y="5496348"/>
            <a:ext cx="1182395" cy="369332"/>
          </a:xfrm>
          <a:prstGeom prst="rect">
            <a:avLst/>
          </a:prstGeom>
          <a:noFill/>
        </p:spPr>
        <p:txBody>
          <a:bodyPr wrap="square" rtlCol="0">
            <a:spAutoFit/>
          </a:bodyPr>
          <a:lstStyle/>
          <a:p>
            <a:r>
              <a:rPr lang="zh-CN" altLang="en-US" dirty="0"/>
              <a:t>客户端</a:t>
            </a:r>
            <a:r>
              <a:rPr lang="en-US" altLang="zh-CN" dirty="0"/>
              <a:t>B</a:t>
            </a:r>
            <a:endParaRPr lang="zh-CN" altLang="en-US" dirty="0"/>
          </a:p>
        </p:txBody>
      </p:sp>
      <p:sp>
        <p:nvSpPr>
          <p:cNvPr id="151" name="文本框 150">
            <a:extLst>
              <a:ext uri="{FF2B5EF4-FFF2-40B4-BE49-F238E27FC236}">
                <a16:creationId xmlns:a16="http://schemas.microsoft.com/office/drawing/2014/main" id="{082DFFA1-6DDF-3353-888F-84F2131D0B5B}"/>
              </a:ext>
            </a:extLst>
          </p:cNvPr>
          <p:cNvSpPr txBox="1"/>
          <p:nvPr/>
        </p:nvSpPr>
        <p:spPr>
          <a:xfrm>
            <a:off x="9073851" y="5529323"/>
            <a:ext cx="1182395" cy="369332"/>
          </a:xfrm>
          <a:prstGeom prst="rect">
            <a:avLst/>
          </a:prstGeom>
          <a:noFill/>
        </p:spPr>
        <p:txBody>
          <a:bodyPr wrap="square" rtlCol="0">
            <a:spAutoFit/>
          </a:bodyPr>
          <a:lstStyle/>
          <a:p>
            <a:r>
              <a:rPr lang="zh-CN" altLang="en-US" dirty="0"/>
              <a:t>客户端</a:t>
            </a:r>
            <a:r>
              <a:rPr lang="en-US" altLang="zh-CN" dirty="0"/>
              <a:t>C</a:t>
            </a:r>
            <a:endParaRPr lang="zh-CN" altLang="en-US" dirty="0"/>
          </a:p>
        </p:txBody>
      </p:sp>
      <p:sp>
        <p:nvSpPr>
          <p:cNvPr id="9" name="梯形 8">
            <a:extLst>
              <a:ext uri="{FF2B5EF4-FFF2-40B4-BE49-F238E27FC236}">
                <a16:creationId xmlns:a16="http://schemas.microsoft.com/office/drawing/2014/main" id="{9DE103E4-6268-E849-8909-4363C782C08D}"/>
              </a:ext>
            </a:extLst>
          </p:cNvPr>
          <p:cNvSpPr/>
          <p:nvPr/>
        </p:nvSpPr>
        <p:spPr>
          <a:xfrm>
            <a:off x="701075" y="6189769"/>
            <a:ext cx="511463" cy="262507"/>
          </a:xfrm>
          <a:prstGeom prst="trapezoid">
            <a:avLst>
              <a:gd name="adj" fmla="val 44072"/>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0" name="文本框 49">
            <a:extLst>
              <a:ext uri="{FF2B5EF4-FFF2-40B4-BE49-F238E27FC236}">
                <a16:creationId xmlns:a16="http://schemas.microsoft.com/office/drawing/2014/main" id="{3B5C483E-CC7A-0960-7B25-82721A1FBD14}"/>
              </a:ext>
            </a:extLst>
          </p:cNvPr>
          <p:cNvSpPr txBox="1"/>
          <p:nvPr/>
        </p:nvSpPr>
        <p:spPr>
          <a:xfrm>
            <a:off x="302491" y="6478852"/>
            <a:ext cx="1489402" cy="307777"/>
          </a:xfrm>
          <a:prstGeom prst="rect">
            <a:avLst/>
          </a:prstGeom>
          <a:noFill/>
        </p:spPr>
        <p:txBody>
          <a:bodyPr wrap="square" rtlCol="0">
            <a:spAutoFit/>
          </a:bodyPr>
          <a:lstStyle/>
          <a:p>
            <a:r>
              <a:rPr lang="en-US" altLang="zh-CN" sz="1400" dirty="0"/>
              <a:t>Audio Encoder</a:t>
            </a:r>
            <a:endParaRPr lang="zh-CN" altLang="en-US" sz="1400" dirty="0"/>
          </a:p>
        </p:txBody>
      </p:sp>
      <p:sp>
        <p:nvSpPr>
          <p:cNvPr id="52" name="梯形 51">
            <a:extLst>
              <a:ext uri="{FF2B5EF4-FFF2-40B4-BE49-F238E27FC236}">
                <a16:creationId xmlns:a16="http://schemas.microsoft.com/office/drawing/2014/main" id="{B8ED4FB0-51C2-F43A-E0F5-043C16778A48}"/>
              </a:ext>
            </a:extLst>
          </p:cNvPr>
          <p:cNvSpPr/>
          <p:nvPr/>
        </p:nvSpPr>
        <p:spPr>
          <a:xfrm>
            <a:off x="2356002" y="6173878"/>
            <a:ext cx="511463" cy="262507"/>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54" name="文本框 53">
            <a:extLst>
              <a:ext uri="{FF2B5EF4-FFF2-40B4-BE49-F238E27FC236}">
                <a16:creationId xmlns:a16="http://schemas.microsoft.com/office/drawing/2014/main" id="{0617D0EA-2AF2-AA66-754F-F00144C4F74D}"/>
              </a:ext>
            </a:extLst>
          </p:cNvPr>
          <p:cNvSpPr txBox="1"/>
          <p:nvPr/>
        </p:nvSpPr>
        <p:spPr>
          <a:xfrm>
            <a:off x="1956973" y="6483807"/>
            <a:ext cx="1605564" cy="307777"/>
          </a:xfrm>
          <a:prstGeom prst="rect">
            <a:avLst/>
          </a:prstGeom>
          <a:noFill/>
        </p:spPr>
        <p:txBody>
          <a:bodyPr wrap="square" rtlCol="0">
            <a:spAutoFit/>
          </a:bodyPr>
          <a:lstStyle/>
          <a:p>
            <a:r>
              <a:rPr lang="en-US" altLang="zh-CN" sz="1400" dirty="0"/>
              <a:t>Visual Encoder</a:t>
            </a:r>
            <a:endParaRPr lang="zh-CN" altLang="en-US" sz="1400" dirty="0"/>
          </a:p>
        </p:txBody>
      </p:sp>
      <p:sp>
        <p:nvSpPr>
          <p:cNvPr id="56" name="梯形 55">
            <a:extLst>
              <a:ext uri="{FF2B5EF4-FFF2-40B4-BE49-F238E27FC236}">
                <a16:creationId xmlns:a16="http://schemas.microsoft.com/office/drawing/2014/main" id="{280833E3-02C5-8440-DC9D-3AC7AFF7AB4C}"/>
              </a:ext>
            </a:extLst>
          </p:cNvPr>
          <p:cNvSpPr/>
          <p:nvPr/>
        </p:nvSpPr>
        <p:spPr>
          <a:xfrm>
            <a:off x="4059047" y="6206432"/>
            <a:ext cx="511463" cy="262507"/>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58" name="文本框 57">
            <a:extLst>
              <a:ext uri="{FF2B5EF4-FFF2-40B4-BE49-F238E27FC236}">
                <a16:creationId xmlns:a16="http://schemas.microsoft.com/office/drawing/2014/main" id="{435DCCFF-E42C-0F79-027F-6CDA6F1C15FE}"/>
              </a:ext>
            </a:extLst>
          </p:cNvPr>
          <p:cNvSpPr txBox="1"/>
          <p:nvPr/>
        </p:nvSpPr>
        <p:spPr>
          <a:xfrm>
            <a:off x="3711347" y="6492720"/>
            <a:ext cx="1263933" cy="307777"/>
          </a:xfrm>
          <a:prstGeom prst="rect">
            <a:avLst/>
          </a:prstGeom>
          <a:noFill/>
        </p:spPr>
        <p:txBody>
          <a:bodyPr wrap="square" rtlCol="0">
            <a:spAutoFit/>
          </a:bodyPr>
          <a:lstStyle/>
          <a:p>
            <a:r>
              <a:rPr lang="en-US" altLang="zh-CN" sz="1400" dirty="0"/>
              <a:t>Text Encoder</a:t>
            </a:r>
            <a:endParaRPr lang="zh-CN" altLang="en-US" sz="1400" dirty="0"/>
          </a:p>
        </p:txBody>
      </p:sp>
      <p:sp>
        <p:nvSpPr>
          <p:cNvPr id="60" name="流程图: 摘录 59">
            <a:extLst>
              <a:ext uri="{FF2B5EF4-FFF2-40B4-BE49-F238E27FC236}">
                <a16:creationId xmlns:a16="http://schemas.microsoft.com/office/drawing/2014/main" id="{9528A176-A900-440C-F5D2-2A086F30E11B}"/>
              </a:ext>
            </a:extLst>
          </p:cNvPr>
          <p:cNvSpPr/>
          <p:nvPr/>
        </p:nvSpPr>
        <p:spPr>
          <a:xfrm>
            <a:off x="5504268" y="6259831"/>
            <a:ext cx="545221" cy="192445"/>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1" name="文本框 60">
            <a:extLst>
              <a:ext uri="{FF2B5EF4-FFF2-40B4-BE49-F238E27FC236}">
                <a16:creationId xmlns:a16="http://schemas.microsoft.com/office/drawing/2014/main" id="{F62E1C5B-B615-E95B-BCE3-EFB5A1CEAEB9}"/>
              </a:ext>
            </a:extLst>
          </p:cNvPr>
          <p:cNvSpPr txBox="1"/>
          <p:nvPr/>
        </p:nvSpPr>
        <p:spPr>
          <a:xfrm>
            <a:off x="5268893" y="6512978"/>
            <a:ext cx="1263933" cy="307777"/>
          </a:xfrm>
          <a:prstGeom prst="rect">
            <a:avLst/>
          </a:prstGeom>
          <a:noFill/>
        </p:spPr>
        <p:txBody>
          <a:bodyPr wrap="square" rtlCol="0">
            <a:spAutoFit/>
          </a:bodyPr>
          <a:lstStyle/>
          <a:p>
            <a:r>
              <a:rPr lang="en-US" altLang="zh-CN" sz="1400" dirty="0"/>
              <a:t>Classifier</a:t>
            </a:r>
            <a:endParaRPr lang="zh-CN" altLang="en-US" sz="1400" dirty="0"/>
          </a:p>
        </p:txBody>
      </p:sp>
      <p:sp>
        <p:nvSpPr>
          <p:cNvPr id="63" name="椭圆 62">
            <a:extLst>
              <a:ext uri="{FF2B5EF4-FFF2-40B4-BE49-F238E27FC236}">
                <a16:creationId xmlns:a16="http://schemas.microsoft.com/office/drawing/2014/main" id="{13BBDC0A-0189-9307-98B5-71437BC210D3}"/>
              </a:ext>
            </a:extLst>
          </p:cNvPr>
          <p:cNvSpPr/>
          <p:nvPr/>
        </p:nvSpPr>
        <p:spPr>
          <a:xfrm>
            <a:off x="6973449" y="6251937"/>
            <a:ext cx="368183" cy="2352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5" name="文本框 64">
            <a:extLst>
              <a:ext uri="{FF2B5EF4-FFF2-40B4-BE49-F238E27FC236}">
                <a16:creationId xmlns:a16="http://schemas.microsoft.com/office/drawing/2014/main" id="{12CBEA4D-52B5-96DC-377D-0A0DFA4F9314}"/>
              </a:ext>
            </a:extLst>
          </p:cNvPr>
          <p:cNvSpPr txBox="1"/>
          <p:nvPr/>
        </p:nvSpPr>
        <p:spPr>
          <a:xfrm>
            <a:off x="6725142" y="6487205"/>
            <a:ext cx="1263933" cy="307777"/>
          </a:xfrm>
          <a:prstGeom prst="rect">
            <a:avLst/>
          </a:prstGeom>
          <a:noFill/>
        </p:spPr>
        <p:txBody>
          <a:bodyPr wrap="square" rtlCol="0">
            <a:spAutoFit/>
          </a:bodyPr>
          <a:lstStyle/>
          <a:p>
            <a:r>
              <a:rPr lang="en-US" altLang="zh-CN" sz="1400" dirty="0"/>
              <a:t>Regressor</a:t>
            </a:r>
            <a:endParaRPr lang="zh-CN" altLang="en-US" sz="1400" dirty="0"/>
          </a:p>
        </p:txBody>
      </p:sp>
      <p:sp>
        <p:nvSpPr>
          <p:cNvPr id="67" name="矩形 66">
            <a:extLst>
              <a:ext uri="{FF2B5EF4-FFF2-40B4-BE49-F238E27FC236}">
                <a16:creationId xmlns:a16="http://schemas.microsoft.com/office/drawing/2014/main" id="{D02509AE-FF8F-D74B-7056-C3A31AAAD74A}"/>
              </a:ext>
            </a:extLst>
          </p:cNvPr>
          <p:cNvSpPr/>
          <p:nvPr/>
        </p:nvSpPr>
        <p:spPr>
          <a:xfrm>
            <a:off x="8644331" y="6310169"/>
            <a:ext cx="492260" cy="9177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9" name="文本框 68">
            <a:extLst>
              <a:ext uri="{FF2B5EF4-FFF2-40B4-BE49-F238E27FC236}">
                <a16:creationId xmlns:a16="http://schemas.microsoft.com/office/drawing/2014/main" id="{17ACBB6E-D975-77C1-2594-CEF7D208E659}"/>
              </a:ext>
            </a:extLst>
          </p:cNvPr>
          <p:cNvSpPr txBox="1"/>
          <p:nvPr/>
        </p:nvSpPr>
        <p:spPr>
          <a:xfrm>
            <a:off x="8204729" y="6483658"/>
            <a:ext cx="1725174" cy="307777"/>
          </a:xfrm>
          <a:prstGeom prst="rect">
            <a:avLst/>
          </a:prstGeom>
          <a:noFill/>
        </p:spPr>
        <p:txBody>
          <a:bodyPr wrap="square" rtlCol="0">
            <a:spAutoFit/>
          </a:bodyPr>
          <a:lstStyle/>
          <a:p>
            <a:r>
              <a:rPr lang="en-US" altLang="zh-CN" sz="1400" dirty="0"/>
              <a:t>Representations</a:t>
            </a:r>
            <a:endParaRPr lang="zh-CN" altLang="en-US" sz="1400" dirty="0"/>
          </a:p>
        </p:txBody>
      </p:sp>
      <p:cxnSp>
        <p:nvCxnSpPr>
          <p:cNvPr id="72" name="直接箭头连接符 71">
            <a:extLst>
              <a:ext uri="{FF2B5EF4-FFF2-40B4-BE49-F238E27FC236}">
                <a16:creationId xmlns:a16="http://schemas.microsoft.com/office/drawing/2014/main" id="{3559CD92-497A-C898-3E9A-1F8CB9E59C5F}"/>
              </a:ext>
            </a:extLst>
          </p:cNvPr>
          <p:cNvCxnSpPr>
            <a:cxnSpLocks/>
          </p:cNvCxnSpPr>
          <p:nvPr/>
        </p:nvCxnSpPr>
        <p:spPr>
          <a:xfrm>
            <a:off x="10472755" y="6391037"/>
            <a:ext cx="32781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77" name="文本框 76">
            <a:extLst>
              <a:ext uri="{FF2B5EF4-FFF2-40B4-BE49-F238E27FC236}">
                <a16:creationId xmlns:a16="http://schemas.microsoft.com/office/drawing/2014/main" id="{97CC9CB2-2D30-C95F-77BA-A28836A8BAB6}"/>
              </a:ext>
            </a:extLst>
          </p:cNvPr>
          <p:cNvSpPr txBox="1"/>
          <p:nvPr/>
        </p:nvSpPr>
        <p:spPr>
          <a:xfrm>
            <a:off x="9921906" y="6511306"/>
            <a:ext cx="2393996" cy="307777"/>
          </a:xfrm>
          <a:prstGeom prst="rect">
            <a:avLst/>
          </a:prstGeom>
          <a:noFill/>
        </p:spPr>
        <p:txBody>
          <a:bodyPr wrap="square" rtlCol="0">
            <a:spAutoFit/>
          </a:bodyPr>
          <a:lstStyle/>
          <a:p>
            <a:r>
              <a:rPr lang="en-US" altLang="zh-CN" sz="1400" dirty="0"/>
              <a:t>Attention interaction</a:t>
            </a:r>
            <a:endParaRPr lang="zh-CN" altLang="en-US" sz="1400" dirty="0"/>
          </a:p>
        </p:txBody>
      </p:sp>
      <p:pic>
        <p:nvPicPr>
          <p:cNvPr id="93" name="图形 92" descr="门未关闭 轮廓">
            <a:extLst>
              <a:ext uri="{FF2B5EF4-FFF2-40B4-BE49-F238E27FC236}">
                <a16:creationId xmlns:a16="http://schemas.microsoft.com/office/drawing/2014/main" id="{0EF26FA6-4D11-F406-1C3F-09DBB267C00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75280" y="2291239"/>
            <a:ext cx="1171911" cy="1171911"/>
          </a:xfrm>
          <a:prstGeom prst="rect">
            <a:avLst/>
          </a:prstGeom>
        </p:spPr>
      </p:pic>
      <p:sp>
        <p:nvSpPr>
          <p:cNvPr id="100" name="文本框 99">
            <a:extLst>
              <a:ext uri="{FF2B5EF4-FFF2-40B4-BE49-F238E27FC236}">
                <a16:creationId xmlns:a16="http://schemas.microsoft.com/office/drawing/2014/main" id="{6595F758-425E-33DC-C3B3-549D52FA087A}"/>
              </a:ext>
            </a:extLst>
          </p:cNvPr>
          <p:cNvSpPr txBox="1"/>
          <p:nvPr/>
        </p:nvSpPr>
        <p:spPr>
          <a:xfrm>
            <a:off x="6578628" y="2692528"/>
            <a:ext cx="1810333" cy="1061829"/>
          </a:xfrm>
          <a:prstGeom prst="rect">
            <a:avLst/>
          </a:prstGeom>
          <a:noFill/>
        </p:spPr>
        <p:txBody>
          <a:bodyPr wrap="square" rtlCol="0">
            <a:spAutoFit/>
          </a:bodyPr>
          <a:lstStyle/>
          <a:p>
            <a:r>
              <a:rPr lang="en-US" altLang="zh-CN" sz="1050" dirty="0"/>
              <a:t>Gated network</a:t>
            </a:r>
            <a:r>
              <a:rPr lang="zh-CN" altLang="en-US" sz="1050" dirty="0"/>
              <a:t>：门控网络本质上是一个小型的神经网络或线性分类器，它输入的是当前样本的模态特征表示，输出的是针对每个专家的权重或激活概率。</a:t>
            </a:r>
          </a:p>
        </p:txBody>
      </p:sp>
      <p:sp>
        <p:nvSpPr>
          <p:cNvPr id="141" name="梯形 140">
            <a:extLst>
              <a:ext uri="{FF2B5EF4-FFF2-40B4-BE49-F238E27FC236}">
                <a16:creationId xmlns:a16="http://schemas.microsoft.com/office/drawing/2014/main" id="{DCFFE506-EC07-964C-725A-4E61679CC6B8}"/>
              </a:ext>
            </a:extLst>
          </p:cNvPr>
          <p:cNvSpPr/>
          <p:nvPr/>
        </p:nvSpPr>
        <p:spPr>
          <a:xfrm>
            <a:off x="5212614" y="1751085"/>
            <a:ext cx="481430" cy="289058"/>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a:extLst>
              <a:ext uri="{FF2B5EF4-FFF2-40B4-BE49-F238E27FC236}">
                <a16:creationId xmlns:a16="http://schemas.microsoft.com/office/drawing/2014/main" id="{11ABFED3-C719-1EF9-4C10-D78E1F6B10B0}"/>
              </a:ext>
            </a:extLst>
          </p:cNvPr>
          <p:cNvSpPr/>
          <p:nvPr/>
        </p:nvSpPr>
        <p:spPr>
          <a:xfrm>
            <a:off x="5217529" y="1454099"/>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流程图: 摘录 143">
            <a:extLst>
              <a:ext uri="{FF2B5EF4-FFF2-40B4-BE49-F238E27FC236}">
                <a16:creationId xmlns:a16="http://schemas.microsoft.com/office/drawing/2014/main" id="{A6B7E815-FFEF-6E9A-D581-312F7454680B}"/>
              </a:ext>
            </a:extLst>
          </p:cNvPr>
          <p:cNvSpPr/>
          <p:nvPr/>
        </p:nvSpPr>
        <p:spPr>
          <a:xfrm>
            <a:off x="5150228" y="373350"/>
            <a:ext cx="513205" cy="211910"/>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a:extLst>
              <a:ext uri="{FF2B5EF4-FFF2-40B4-BE49-F238E27FC236}">
                <a16:creationId xmlns:a16="http://schemas.microsoft.com/office/drawing/2014/main" id="{1106BC15-839D-1954-E087-75AB5A858632}"/>
              </a:ext>
            </a:extLst>
          </p:cNvPr>
          <p:cNvSpPr/>
          <p:nvPr/>
        </p:nvSpPr>
        <p:spPr>
          <a:xfrm>
            <a:off x="5214616" y="1258335"/>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a:extLst>
              <a:ext uri="{FF2B5EF4-FFF2-40B4-BE49-F238E27FC236}">
                <a16:creationId xmlns:a16="http://schemas.microsoft.com/office/drawing/2014/main" id="{053C13BC-F834-B50B-2FC2-261280CE0DC4}"/>
              </a:ext>
            </a:extLst>
          </p:cNvPr>
          <p:cNvSpPr/>
          <p:nvPr/>
        </p:nvSpPr>
        <p:spPr>
          <a:xfrm>
            <a:off x="5921907" y="1274052"/>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a:extLst>
              <a:ext uri="{FF2B5EF4-FFF2-40B4-BE49-F238E27FC236}">
                <a16:creationId xmlns:a16="http://schemas.microsoft.com/office/drawing/2014/main" id="{EFE4C319-270C-CA65-817B-86ACC302E409}"/>
              </a:ext>
            </a:extLst>
          </p:cNvPr>
          <p:cNvSpPr/>
          <p:nvPr/>
        </p:nvSpPr>
        <p:spPr>
          <a:xfrm>
            <a:off x="5925950" y="1463633"/>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梯形 148">
            <a:extLst>
              <a:ext uri="{FF2B5EF4-FFF2-40B4-BE49-F238E27FC236}">
                <a16:creationId xmlns:a16="http://schemas.microsoft.com/office/drawing/2014/main" id="{A9A120AA-1E8F-5838-B6F6-CCD07087F3E3}"/>
              </a:ext>
            </a:extLst>
          </p:cNvPr>
          <p:cNvSpPr/>
          <p:nvPr/>
        </p:nvSpPr>
        <p:spPr>
          <a:xfrm>
            <a:off x="5921907" y="1763983"/>
            <a:ext cx="481430" cy="289058"/>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66" name="直接箭头连接符 165">
            <a:extLst>
              <a:ext uri="{FF2B5EF4-FFF2-40B4-BE49-F238E27FC236}">
                <a16:creationId xmlns:a16="http://schemas.microsoft.com/office/drawing/2014/main" id="{DF2266B8-00AA-FD14-EA74-2BC989F2576F}"/>
              </a:ext>
            </a:extLst>
          </p:cNvPr>
          <p:cNvCxnSpPr>
            <a:stCxn id="141" idx="0"/>
            <a:endCxn id="143" idx="2"/>
          </p:cNvCxnSpPr>
          <p:nvPr/>
        </p:nvCxnSpPr>
        <p:spPr>
          <a:xfrm flipH="1" flipV="1">
            <a:off x="5449207" y="1548644"/>
            <a:ext cx="4122" cy="2024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7" name="直接箭头连接符 166">
            <a:extLst>
              <a:ext uri="{FF2B5EF4-FFF2-40B4-BE49-F238E27FC236}">
                <a16:creationId xmlns:a16="http://schemas.microsoft.com/office/drawing/2014/main" id="{4FDD9D1A-FCEE-04BF-687C-B87BAA2FACD7}"/>
              </a:ext>
            </a:extLst>
          </p:cNvPr>
          <p:cNvCxnSpPr>
            <a:stCxn id="143" idx="0"/>
            <a:endCxn id="146" idx="2"/>
          </p:cNvCxnSpPr>
          <p:nvPr/>
        </p:nvCxnSpPr>
        <p:spPr>
          <a:xfrm flipH="1" flipV="1">
            <a:off x="5446293" y="1352879"/>
            <a:ext cx="2913" cy="101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8" name="直接箭头连接符 167">
            <a:extLst>
              <a:ext uri="{FF2B5EF4-FFF2-40B4-BE49-F238E27FC236}">
                <a16:creationId xmlns:a16="http://schemas.microsoft.com/office/drawing/2014/main" id="{D3A738C0-9677-4108-0A67-4BE4530F2A63}"/>
              </a:ext>
            </a:extLst>
          </p:cNvPr>
          <p:cNvCxnSpPr>
            <a:stCxn id="149" idx="0"/>
            <a:endCxn id="148" idx="2"/>
          </p:cNvCxnSpPr>
          <p:nvPr/>
        </p:nvCxnSpPr>
        <p:spPr>
          <a:xfrm flipH="1" flipV="1">
            <a:off x="6157627" y="1558177"/>
            <a:ext cx="4995" cy="205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9" name="直接箭头连接符 168">
            <a:extLst>
              <a:ext uri="{FF2B5EF4-FFF2-40B4-BE49-F238E27FC236}">
                <a16:creationId xmlns:a16="http://schemas.microsoft.com/office/drawing/2014/main" id="{A6DA5FBD-FE1E-B84C-4419-BF5078DB1D65}"/>
              </a:ext>
            </a:extLst>
          </p:cNvPr>
          <p:cNvCxnSpPr>
            <a:stCxn id="148" idx="0"/>
            <a:endCxn id="147" idx="2"/>
          </p:cNvCxnSpPr>
          <p:nvPr/>
        </p:nvCxnSpPr>
        <p:spPr>
          <a:xfrm flipH="1" flipV="1">
            <a:off x="6153585" y="1368596"/>
            <a:ext cx="4043" cy="95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0" name="矩形 169">
            <a:extLst>
              <a:ext uri="{FF2B5EF4-FFF2-40B4-BE49-F238E27FC236}">
                <a16:creationId xmlns:a16="http://schemas.microsoft.com/office/drawing/2014/main" id="{2B96C9C6-8FB2-D4D1-8B33-35AA0DDE744D}"/>
              </a:ext>
            </a:extLst>
          </p:cNvPr>
          <p:cNvSpPr/>
          <p:nvPr/>
        </p:nvSpPr>
        <p:spPr>
          <a:xfrm>
            <a:off x="5921907" y="1032266"/>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2" name="直接箭头连接符 171">
            <a:extLst>
              <a:ext uri="{FF2B5EF4-FFF2-40B4-BE49-F238E27FC236}">
                <a16:creationId xmlns:a16="http://schemas.microsoft.com/office/drawing/2014/main" id="{CD597950-B815-A1D1-7874-02EA9D48F3AB}"/>
              </a:ext>
            </a:extLst>
          </p:cNvPr>
          <p:cNvCxnSpPr>
            <a:cxnSpLocks/>
            <a:stCxn id="147" idx="0"/>
            <a:endCxn id="170" idx="2"/>
          </p:cNvCxnSpPr>
          <p:nvPr/>
        </p:nvCxnSpPr>
        <p:spPr>
          <a:xfrm flipH="1" flipV="1">
            <a:off x="6153584" y="1133317"/>
            <a:ext cx="1" cy="1407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3" name="直接箭头连接符 172">
            <a:extLst>
              <a:ext uri="{FF2B5EF4-FFF2-40B4-BE49-F238E27FC236}">
                <a16:creationId xmlns:a16="http://schemas.microsoft.com/office/drawing/2014/main" id="{1393C6E1-F4E3-6F68-A43A-D7DD99063650}"/>
              </a:ext>
            </a:extLst>
          </p:cNvPr>
          <p:cNvCxnSpPr>
            <a:cxnSpLocks/>
            <a:stCxn id="170" idx="0"/>
            <a:endCxn id="144" idx="2"/>
          </p:cNvCxnSpPr>
          <p:nvPr/>
        </p:nvCxnSpPr>
        <p:spPr>
          <a:xfrm flipH="1" flipV="1">
            <a:off x="5406831" y="585260"/>
            <a:ext cx="746753" cy="4470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4" name="矩形 173">
            <a:extLst>
              <a:ext uri="{FF2B5EF4-FFF2-40B4-BE49-F238E27FC236}">
                <a16:creationId xmlns:a16="http://schemas.microsoft.com/office/drawing/2014/main" id="{D91DEC29-D44E-E0BA-8BAB-675091A98AF5}"/>
              </a:ext>
            </a:extLst>
          </p:cNvPr>
          <p:cNvSpPr/>
          <p:nvPr/>
        </p:nvSpPr>
        <p:spPr>
          <a:xfrm>
            <a:off x="5204036" y="1032266"/>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7" name="直接箭头连接符 176">
            <a:extLst>
              <a:ext uri="{FF2B5EF4-FFF2-40B4-BE49-F238E27FC236}">
                <a16:creationId xmlns:a16="http://schemas.microsoft.com/office/drawing/2014/main" id="{B31F1D00-CA5B-5F11-78DC-0B8CA522B8FA}"/>
              </a:ext>
            </a:extLst>
          </p:cNvPr>
          <p:cNvCxnSpPr>
            <a:stCxn id="146" idx="0"/>
            <a:endCxn id="174" idx="2"/>
          </p:cNvCxnSpPr>
          <p:nvPr/>
        </p:nvCxnSpPr>
        <p:spPr>
          <a:xfrm flipH="1" flipV="1">
            <a:off x="5435713" y="1133318"/>
            <a:ext cx="10580" cy="125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8" name="直接箭头连接符 177">
            <a:extLst>
              <a:ext uri="{FF2B5EF4-FFF2-40B4-BE49-F238E27FC236}">
                <a16:creationId xmlns:a16="http://schemas.microsoft.com/office/drawing/2014/main" id="{A37B302F-4007-93AC-8D88-19F77F3D0C69}"/>
              </a:ext>
            </a:extLst>
          </p:cNvPr>
          <p:cNvCxnSpPr>
            <a:stCxn id="174" idx="0"/>
            <a:endCxn id="144" idx="2"/>
          </p:cNvCxnSpPr>
          <p:nvPr/>
        </p:nvCxnSpPr>
        <p:spPr>
          <a:xfrm flipH="1" flipV="1">
            <a:off x="5406831" y="585260"/>
            <a:ext cx="28882" cy="4470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9" name="梯形 178">
            <a:extLst>
              <a:ext uri="{FF2B5EF4-FFF2-40B4-BE49-F238E27FC236}">
                <a16:creationId xmlns:a16="http://schemas.microsoft.com/office/drawing/2014/main" id="{9058FF1F-5B7A-405B-B129-686A73E619D9}"/>
              </a:ext>
            </a:extLst>
          </p:cNvPr>
          <p:cNvSpPr/>
          <p:nvPr/>
        </p:nvSpPr>
        <p:spPr>
          <a:xfrm>
            <a:off x="4527193" y="1774817"/>
            <a:ext cx="511463" cy="262507"/>
          </a:xfrm>
          <a:prstGeom prst="trapezoid">
            <a:avLst>
              <a:gd name="adj" fmla="val 44072"/>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80" name="矩形 179">
            <a:extLst>
              <a:ext uri="{FF2B5EF4-FFF2-40B4-BE49-F238E27FC236}">
                <a16:creationId xmlns:a16="http://schemas.microsoft.com/office/drawing/2014/main" id="{930202E2-D006-E8B7-32F4-45167BEB3CCF}"/>
              </a:ext>
            </a:extLst>
          </p:cNvPr>
          <p:cNvSpPr/>
          <p:nvPr/>
        </p:nvSpPr>
        <p:spPr>
          <a:xfrm>
            <a:off x="4564995" y="1454099"/>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a:extLst>
              <a:ext uri="{FF2B5EF4-FFF2-40B4-BE49-F238E27FC236}">
                <a16:creationId xmlns:a16="http://schemas.microsoft.com/office/drawing/2014/main" id="{E598BF92-41DE-F857-2EE3-7D8B61B8AB43}"/>
              </a:ext>
            </a:extLst>
          </p:cNvPr>
          <p:cNvSpPr/>
          <p:nvPr/>
        </p:nvSpPr>
        <p:spPr>
          <a:xfrm>
            <a:off x="4562082" y="1258335"/>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2" name="直接箭头连接符 181">
            <a:extLst>
              <a:ext uri="{FF2B5EF4-FFF2-40B4-BE49-F238E27FC236}">
                <a16:creationId xmlns:a16="http://schemas.microsoft.com/office/drawing/2014/main" id="{A84D14B4-FC86-1E0C-E7D0-EAE8C7A47F9C}"/>
              </a:ext>
            </a:extLst>
          </p:cNvPr>
          <p:cNvCxnSpPr>
            <a:stCxn id="180" idx="0"/>
            <a:endCxn id="181" idx="2"/>
          </p:cNvCxnSpPr>
          <p:nvPr/>
        </p:nvCxnSpPr>
        <p:spPr>
          <a:xfrm flipH="1" flipV="1">
            <a:off x="4793759" y="1352879"/>
            <a:ext cx="2913" cy="101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3" name="矩形 182">
            <a:extLst>
              <a:ext uri="{FF2B5EF4-FFF2-40B4-BE49-F238E27FC236}">
                <a16:creationId xmlns:a16="http://schemas.microsoft.com/office/drawing/2014/main" id="{6AF049D5-A202-84D1-682C-783FD24BBBE0}"/>
              </a:ext>
            </a:extLst>
          </p:cNvPr>
          <p:cNvSpPr/>
          <p:nvPr/>
        </p:nvSpPr>
        <p:spPr>
          <a:xfrm>
            <a:off x="4551502" y="1032266"/>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4" name="直接箭头连接符 183">
            <a:extLst>
              <a:ext uri="{FF2B5EF4-FFF2-40B4-BE49-F238E27FC236}">
                <a16:creationId xmlns:a16="http://schemas.microsoft.com/office/drawing/2014/main" id="{8F65285C-A19C-C9D5-214C-D4474B7FA302}"/>
              </a:ext>
            </a:extLst>
          </p:cNvPr>
          <p:cNvCxnSpPr>
            <a:stCxn id="181" idx="0"/>
            <a:endCxn id="183" idx="2"/>
          </p:cNvCxnSpPr>
          <p:nvPr/>
        </p:nvCxnSpPr>
        <p:spPr>
          <a:xfrm flipH="1" flipV="1">
            <a:off x="4783179" y="1133318"/>
            <a:ext cx="10580" cy="125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6" name="直接箭头连接符 185">
            <a:extLst>
              <a:ext uri="{FF2B5EF4-FFF2-40B4-BE49-F238E27FC236}">
                <a16:creationId xmlns:a16="http://schemas.microsoft.com/office/drawing/2014/main" id="{3EA2F651-9D13-0AEF-2082-06AF30735F7B}"/>
              </a:ext>
            </a:extLst>
          </p:cNvPr>
          <p:cNvCxnSpPr>
            <a:stCxn id="179" idx="0"/>
            <a:endCxn id="180" idx="2"/>
          </p:cNvCxnSpPr>
          <p:nvPr/>
        </p:nvCxnSpPr>
        <p:spPr>
          <a:xfrm flipV="1">
            <a:off x="4782925" y="1548643"/>
            <a:ext cx="13747" cy="2261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0" name="直接箭头连接符 189">
            <a:extLst>
              <a:ext uri="{FF2B5EF4-FFF2-40B4-BE49-F238E27FC236}">
                <a16:creationId xmlns:a16="http://schemas.microsoft.com/office/drawing/2014/main" id="{2286FE4A-370D-0520-1FD9-AC645858FEA2}"/>
              </a:ext>
            </a:extLst>
          </p:cNvPr>
          <p:cNvCxnSpPr>
            <a:stCxn id="183" idx="0"/>
            <a:endCxn id="144" idx="2"/>
          </p:cNvCxnSpPr>
          <p:nvPr/>
        </p:nvCxnSpPr>
        <p:spPr>
          <a:xfrm flipV="1">
            <a:off x="4783179" y="585260"/>
            <a:ext cx="623652" cy="4470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8" name="任意多边形: 形状 197">
            <a:extLst>
              <a:ext uri="{FF2B5EF4-FFF2-40B4-BE49-F238E27FC236}">
                <a16:creationId xmlns:a16="http://schemas.microsoft.com/office/drawing/2014/main" id="{5D4B4967-FB0A-C08A-148F-20D4BBBBC66A}"/>
              </a:ext>
            </a:extLst>
          </p:cNvPr>
          <p:cNvSpPr/>
          <p:nvPr/>
        </p:nvSpPr>
        <p:spPr>
          <a:xfrm>
            <a:off x="5615434" y="3117850"/>
            <a:ext cx="845381" cy="1257300"/>
          </a:xfrm>
          <a:custGeom>
            <a:avLst/>
            <a:gdLst>
              <a:gd name="connsiteX0" fmla="*/ 677416 w 845381"/>
              <a:gd name="connsiteY0" fmla="*/ 1257300 h 1257300"/>
              <a:gd name="connsiteX1" fmla="*/ 804416 w 845381"/>
              <a:gd name="connsiteY1" fmla="*/ 508000 h 1257300"/>
              <a:gd name="connsiteX2" fmla="*/ 48766 w 845381"/>
              <a:gd name="connsiteY2" fmla="*/ 228600 h 1257300"/>
              <a:gd name="connsiteX3" fmla="*/ 137666 w 845381"/>
              <a:gd name="connsiteY3" fmla="*/ 0 h 1257300"/>
            </a:gdLst>
            <a:ahLst/>
            <a:cxnLst>
              <a:cxn ang="0">
                <a:pos x="connsiteX0" y="connsiteY0"/>
              </a:cxn>
              <a:cxn ang="0">
                <a:pos x="connsiteX1" y="connsiteY1"/>
              </a:cxn>
              <a:cxn ang="0">
                <a:pos x="connsiteX2" y="connsiteY2"/>
              </a:cxn>
              <a:cxn ang="0">
                <a:pos x="connsiteX3" y="connsiteY3"/>
              </a:cxn>
            </a:cxnLst>
            <a:rect l="l" t="t" r="r" b="b"/>
            <a:pathLst>
              <a:path w="845381" h="1257300">
                <a:moveTo>
                  <a:pt x="677416" y="1257300"/>
                </a:moveTo>
                <a:cubicBezTo>
                  <a:pt x="793303" y="968375"/>
                  <a:pt x="909191" y="679450"/>
                  <a:pt x="804416" y="508000"/>
                </a:cubicBezTo>
                <a:cubicBezTo>
                  <a:pt x="699641" y="336550"/>
                  <a:pt x="159891" y="313267"/>
                  <a:pt x="48766" y="228600"/>
                </a:cubicBezTo>
                <a:cubicBezTo>
                  <a:pt x="-62359" y="143933"/>
                  <a:pt x="37653" y="71966"/>
                  <a:pt x="137666"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任意多边形: 形状 199">
            <a:extLst>
              <a:ext uri="{FF2B5EF4-FFF2-40B4-BE49-F238E27FC236}">
                <a16:creationId xmlns:a16="http://schemas.microsoft.com/office/drawing/2014/main" id="{EC3F3A74-D786-B56E-58D5-D4EC50B487C3}"/>
              </a:ext>
            </a:extLst>
          </p:cNvPr>
          <p:cNvSpPr/>
          <p:nvPr/>
        </p:nvSpPr>
        <p:spPr>
          <a:xfrm>
            <a:off x="2857500" y="2770941"/>
            <a:ext cx="2952750" cy="1629609"/>
          </a:xfrm>
          <a:custGeom>
            <a:avLst/>
            <a:gdLst>
              <a:gd name="connsiteX0" fmla="*/ 0 w 2952750"/>
              <a:gd name="connsiteY0" fmla="*/ 1629609 h 1629609"/>
              <a:gd name="connsiteX1" fmla="*/ 2190750 w 2952750"/>
              <a:gd name="connsiteY1" fmla="*/ 99259 h 1629609"/>
              <a:gd name="connsiteX2" fmla="*/ 2952750 w 2952750"/>
              <a:gd name="connsiteY2" fmla="*/ 277059 h 1629609"/>
            </a:gdLst>
            <a:ahLst/>
            <a:cxnLst>
              <a:cxn ang="0">
                <a:pos x="connsiteX0" y="connsiteY0"/>
              </a:cxn>
              <a:cxn ang="0">
                <a:pos x="connsiteX1" y="connsiteY1"/>
              </a:cxn>
              <a:cxn ang="0">
                <a:pos x="connsiteX2" y="connsiteY2"/>
              </a:cxn>
            </a:cxnLst>
            <a:rect l="l" t="t" r="r" b="b"/>
            <a:pathLst>
              <a:path w="2952750" h="1629609">
                <a:moveTo>
                  <a:pt x="0" y="1629609"/>
                </a:moveTo>
                <a:cubicBezTo>
                  <a:pt x="849312" y="977146"/>
                  <a:pt x="1698625" y="324684"/>
                  <a:pt x="2190750" y="99259"/>
                </a:cubicBezTo>
                <a:cubicBezTo>
                  <a:pt x="2682875" y="-126166"/>
                  <a:pt x="2817812" y="75446"/>
                  <a:pt x="2952750" y="27705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任意多边形: 形状 203">
            <a:extLst>
              <a:ext uri="{FF2B5EF4-FFF2-40B4-BE49-F238E27FC236}">
                <a16:creationId xmlns:a16="http://schemas.microsoft.com/office/drawing/2014/main" id="{AD8EE1C4-6E14-ED5C-0AE7-A2B667B84878}"/>
              </a:ext>
            </a:extLst>
          </p:cNvPr>
          <p:cNvSpPr/>
          <p:nvPr/>
        </p:nvSpPr>
        <p:spPr>
          <a:xfrm>
            <a:off x="5257507" y="2511089"/>
            <a:ext cx="3383573" cy="1801831"/>
          </a:xfrm>
          <a:custGeom>
            <a:avLst/>
            <a:gdLst>
              <a:gd name="connsiteX0" fmla="*/ 3383573 w 3383573"/>
              <a:gd name="connsiteY0" fmla="*/ 1801831 h 1801831"/>
              <a:gd name="connsiteX1" fmla="*/ 221273 w 3383573"/>
              <a:gd name="connsiteY1" fmla="*/ 155911 h 1801831"/>
              <a:gd name="connsiteX2" fmla="*/ 518453 w 3383573"/>
              <a:gd name="connsiteY2" fmla="*/ 163531 h 1801831"/>
            </a:gdLst>
            <a:ahLst/>
            <a:cxnLst>
              <a:cxn ang="0">
                <a:pos x="connsiteX0" y="connsiteY0"/>
              </a:cxn>
              <a:cxn ang="0">
                <a:pos x="connsiteX1" y="connsiteY1"/>
              </a:cxn>
              <a:cxn ang="0">
                <a:pos x="connsiteX2" y="connsiteY2"/>
              </a:cxn>
            </a:cxnLst>
            <a:rect l="l" t="t" r="r" b="b"/>
            <a:pathLst>
              <a:path w="3383573" h="1801831">
                <a:moveTo>
                  <a:pt x="3383573" y="1801831"/>
                </a:moveTo>
                <a:lnTo>
                  <a:pt x="221273" y="155911"/>
                </a:lnTo>
                <a:cubicBezTo>
                  <a:pt x="-256247" y="-117139"/>
                  <a:pt x="131103" y="23196"/>
                  <a:pt x="518453" y="16353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任意多边形: 形状 204">
            <a:extLst>
              <a:ext uri="{FF2B5EF4-FFF2-40B4-BE49-F238E27FC236}">
                <a16:creationId xmlns:a16="http://schemas.microsoft.com/office/drawing/2014/main" id="{F8C8755D-1815-31FE-0596-AE9AC1F2B002}"/>
              </a:ext>
            </a:extLst>
          </p:cNvPr>
          <p:cNvSpPr/>
          <p:nvPr/>
        </p:nvSpPr>
        <p:spPr>
          <a:xfrm>
            <a:off x="3859870" y="1074420"/>
            <a:ext cx="1588430" cy="1310640"/>
          </a:xfrm>
          <a:custGeom>
            <a:avLst/>
            <a:gdLst>
              <a:gd name="connsiteX0" fmla="*/ 1588430 w 1588430"/>
              <a:gd name="connsiteY0" fmla="*/ 1310640 h 1310640"/>
              <a:gd name="connsiteX1" fmla="*/ 18710 w 1588430"/>
              <a:gd name="connsiteY1" fmla="*/ 838200 h 1310640"/>
              <a:gd name="connsiteX2" fmla="*/ 681650 w 1588430"/>
              <a:gd name="connsiteY2" fmla="*/ 0 h 1310640"/>
              <a:gd name="connsiteX3" fmla="*/ 681650 w 1588430"/>
              <a:gd name="connsiteY3" fmla="*/ 0 h 1310640"/>
            </a:gdLst>
            <a:ahLst/>
            <a:cxnLst>
              <a:cxn ang="0">
                <a:pos x="connsiteX0" y="connsiteY0"/>
              </a:cxn>
              <a:cxn ang="0">
                <a:pos x="connsiteX1" y="connsiteY1"/>
              </a:cxn>
              <a:cxn ang="0">
                <a:pos x="connsiteX2" y="connsiteY2"/>
              </a:cxn>
              <a:cxn ang="0">
                <a:pos x="connsiteX3" y="connsiteY3"/>
              </a:cxn>
            </a:cxnLst>
            <a:rect l="l" t="t" r="r" b="b"/>
            <a:pathLst>
              <a:path w="1588430" h="1310640">
                <a:moveTo>
                  <a:pt x="1588430" y="1310640"/>
                </a:moveTo>
                <a:cubicBezTo>
                  <a:pt x="879135" y="1183640"/>
                  <a:pt x="169840" y="1056640"/>
                  <a:pt x="18710" y="838200"/>
                </a:cubicBezTo>
                <a:cubicBezTo>
                  <a:pt x="-132420" y="619760"/>
                  <a:pt x="681650" y="0"/>
                  <a:pt x="681650" y="0"/>
                </a:cubicBezTo>
                <a:lnTo>
                  <a:pt x="681650"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任意多边形: 形状 205">
            <a:extLst>
              <a:ext uri="{FF2B5EF4-FFF2-40B4-BE49-F238E27FC236}">
                <a16:creationId xmlns:a16="http://schemas.microsoft.com/office/drawing/2014/main" id="{85E38466-84E6-6FCF-7CBB-12B696AE0ADF}"/>
              </a:ext>
            </a:extLst>
          </p:cNvPr>
          <p:cNvSpPr/>
          <p:nvPr/>
        </p:nvSpPr>
        <p:spPr>
          <a:xfrm>
            <a:off x="5532120" y="1073663"/>
            <a:ext cx="320110" cy="1319017"/>
          </a:xfrm>
          <a:custGeom>
            <a:avLst/>
            <a:gdLst>
              <a:gd name="connsiteX0" fmla="*/ 22860 w 320110"/>
              <a:gd name="connsiteY0" fmla="*/ 1319017 h 1319017"/>
              <a:gd name="connsiteX1" fmla="*/ 320040 w 320110"/>
              <a:gd name="connsiteY1" fmla="*/ 214117 h 1319017"/>
              <a:gd name="connsiteX2" fmla="*/ 0 w 320110"/>
              <a:gd name="connsiteY2" fmla="*/ 757 h 1319017"/>
            </a:gdLst>
            <a:ahLst/>
            <a:cxnLst>
              <a:cxn ang="0">
                <a:pos x="connsiteX0" y="connsiteY0"/>
              </a:cxn>
              <a:cxn ang="0">
                <a:pos x="connsiteX1" y="connsiteY1"/>
              </a:cxn>
              <a:cxn ang="0">
                <a:pos x="connsiteX2" y="connsiteY2"/>
              </a:cxn>
            </a:cxnLst>
            <a:rect l="l" t="t" r="r" b="b"/>
            <a:pathLst>
              <a:path w="320110" h="1319017">
                <a:moveTo>
                  <a:pt x="22860" y="1319017"/>
                </a:moveTo>
                <a:cubicBezTo>
                  <a:pt x="173355" y="876422"/>
                  <a:pt x="323850" y="433827"/>
                  <a:pt x="320040" y="214117"/>
                </a:cubicBezTo>
                <a:cubicBezTo>
                  <a:pt x="316230" y="-5593"/>
                  <a:pt x="158115" y="-2418"/>
                  <a:pt x="0" y="75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任意多边形: 形状 206">
            <a:extLst>
              <a:ext uri="{FF2B5EF4-FFF2-40B4-BE49-F238E27FC236}">
                <a16:creationId xmlns:a16="http://schemas.microsoft.com/office/drawing/2014/main" id="{F9513F7C-F495-FCAF-648F-FFD8EB6C79DD}"/>
              </a:ext>
            </a:extLst>
          </p:cNvPr>
          <p:cNvSpPr/>
          <p:nvPr/>
        </p:nvSpPr>
        <p:spPr>
          <a:xfrm>
            <a:off x="5600700" y="1325880"/>
            <a:ext cx="1815533" cy="1066800"/>
          </a:xfrm>
          <a:custGeom>
            <a:avLst/>
            <a:gdLst>
              <a:gd name="connsiteX0" fmla="*/ 0 w 1815533"/>
              <a:gd name="connsiteY0" fmla="*/ 1066800 h 1066800"/>
              <a:gd name="connsiteX1" fmla="*/ 1798320 w 1815533"/>
              <a:gd name="connsiteY1" fmla="*/ 563880 h 1066800"/>
              <a:gd name="connsiteX2" fmla="*/ 754380 w 1815533"/>
              <a:gd name="connsiteY2" fmla="*/ 0 h 1066800"/>
            </a:gdLst>
            <a:ahLst/>
            <a:cxnLst>
              <a:cxn ang="0">
                <a:pos x="connsiteX0" y="connsiteY0"/>
              </a:cxn>
              <a:cxn ang="0">
                <a:pos x="connsiteX1" y="connsiteY1"/>
              </a:cxn>
              <a:cxn ang="0">
                <a:pos x="connsiteX2" y="connsiteY2"/>
              </a:cxn>
            </a:cxnLst>
            <a:rect l="l" t="t" r="r" b="b"/>
            <a:pathLst>
              <a:path w="1815533" h="1066800">
                <a:moveTo>
                  <a:pt x="0" y="1066800"/>
                </a:moveTo>
                <a:cubicBezTo>
                  <a:pt x="836295" y="904240"/>
                  <a:pt x="1672590" y="741680"/>
                  <a:pt x="1798320" y="563880"/>
                </a:cubicBezTo>
                <a:cubicBezTo>
                  <a:pt x="1924050" y="386080"/>
                  <a:pt x="1339215" y="193040"/>
                  <a:pt x="75438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文本框 208">
            <a:extLst>
              <a:ext uri="{FF2B5EF4-FFF2-40B4-BE49-F238E27FC236}">
                <a16:creationId xmlns:a16="http://schemas.microsoft.com/office/drawing/2014/main" id="{5BD54D72-25F5-1EAF-47E0-CD79C2799949}"/>
              </a:ext>
            </a:extLst>
          </p:cNvPr>
          <p:cNvSpPr txBox="1"/>
          <p:nvPr/>
        </p:nvSpPr>
        <p:spPr>
          <a:xfrm>
            <a:off x="9097185" y="285942"/>
            <a:ext cx="3078957" cy="3139321"/>
          </a:xfrm>
          <a:prstGeom prst="rect">
            <a:avLst/>
          </a:prstGeom>
          <a:noFill/>
        </p:spPr>
        <p:txBody>
          <a:bodyPr wrap="square">
            <a:spAutoFit/>
          </a:bodyPr>
          <a:lstStyle/>
          <a:p>
            <a:pPr>
              <a:buFont typeface="Arial" panose="020B0604020202020204" pitchFamily="34" charset="0"/>
              <a:buChar char="•"/>
            </a:pPr>
            <a:r>
              <a:rPr lang="zh-CN" altLang="en-US" b="1" dirty="0"/>
              <a:t>每个客户端的模型学习本地模态表征，并训练特定 </a:t>
            </a:r>
            <a:r>
              <a:rPr lang="en-US" altLang="zh-CN" b="1" dirty="0"/>
              <a:t>expert</a:t>
            </a:r>
            <a:r>
              <a:rPr lang="zh-CN" altLang="en-US" dirty="0"/>
              <a:t>。这些 </a:t>
            </a:r>
            <a:r>
              <a:rPr lang="en-US" altLang="zh-CN" dirty="0"/>
              <a:t>expert </a:t>
            </a:r>
            <a:r>
              <a:rPr lang="zh-CN" altLang="en-US" dirty="0"/>
              <a:t>代表该客户端特定模态的特征提取方式。</a:t>
            </a:r>
          </a:p>
          <a:p>
            <a:pPr>
              <a:buFont typeface="Arial" panose="020B0604020202020204" pitchFamily="34" charset="0"/>
              <a:buChar char="•"/>
            </a:pPr>
            <a:r>
              <a:rPr lang="zh-CN" altLang="en-US" b="1" dirty="0"/>
              <a:t>全局模型的某些关键层（例如 </a:t>
            </a:r>
            <a:r>
              <a:rPr lang="en-US" altLang="zh-CN" b="1" dirty="0"/>
              <a:t>Transformer </a:t>
            </a:r>
            <a:r>
              <a:rPr lang="zh-CN" altLang="en-US" b="1" dirty="0"/>
              <a:t>的 </a:t>
            </a:r>
            <a:r>
              <a:rPr lang="en-US" altLang="zh-CN" b="1" dirty="0"/>
              <a:t>MLP </a:t>
            </a:r>
            <a:r>
              <a:rPr lang="zh-CN" altLang="en-US" b="1" dirty="0"/>
              <a:t>层或者某些 </a:t>
            </a:r>
            <a:r>
              <a:rPr lang="en-US" altLang="zh-CN" b="1" dirty="0"/>
              <a:t>Attention </a:t>
            </a:r>
            <a:r>
              <a:rPr lang="zh-CN" altLang="en-US" b="1" dirty="0"/>
              <a:t>头）被设计成 </a:t>
            </a:r>
            <a:r>
              <a:rPr lang="en-US" altLang="zh-CN" b="1" dirty="0" err="1"/>
              <a:t>MoE</a:t>
            </a:r>
            <a:r>
              <a:rPr lang="en-US" altLang="zh-CN" b="1" dirty="0"/>
              <a:t> </a:t>
            </a:r>
            <a:r>
              <a:rPr lang="zh-CN" altLang="en-US" b="1" dirty="0"/>
              <a:t>结构</a:t>
            </a:r>
            <a:r>
              <a:rPr lang="zh-CN" altLang="en-US" dirty="0"/>
              <a:t>，并在聚合时动态选择合适的 </a:t>
            </a:r>
            <a:r>
              <a:rPr lang="en-US" altLang="zh-CN" dirty="0"/>
              <a:t>expert </a:t>
            </a:r>
            <a:r>
              <a:rPr lang="zh-CN" altLang="en-US" dirty="0"/>
              <a:t>来整合不同客户端的特征。</a:t>
            </a:r>
          </a:p>
        </p:txBody>
      </p:sp>
      <p:sp>
        <p:nvSpPr>
          <p:cNvPr id="210" name="矩形 209">
            <a:extLst>
              <a:ext uri="{FF2B5EF4-FFF2-40B4-BE49-F238E27FC236}">
                <a16:creationId xmlns:a16="http://schemas.microsoft.com/office/drawing/2014/main" id="{D908A32B-57C4-FAF3-6CF5-F7C35007C52F}"/>
              </a:ext>
            </a:extLst>
          </p:cNvPr>
          <p:cNvSpPr/>
          <p:nvPr/>
        </p:nvSpPr>
        <p:spPr>
          <a:xfrm>
            <a:off x="347424" y="1963368"/>
            <a:ext cx="291608" cy="289059"/>
          </a:xfrm>
          <a:prstGeom prst="rect">
            <a:avLst/>
          </a:prstGeom>
          <a:solidFill>
            <a:srgbClr val="969F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矩形 210">
            <a:extLst>
              <a:ext uri="{FF2B5EF4-FFF2-40B4-BE49-F238E27FC236}">
                <a16:creationId xmlns:a16="http://schemas.microsoft.com/office/drawing/2014/main" id="{28036B69-F453-3985-6E6B-AC60C0264E76}"/>
              </a:ext>
            </a:extLst>
          </p:cNvPr>
          <p:cNvSpPr/>
          <p:nvPr/>
        </p:nvSpPr>
        <p:spPr>
          <a:xfrm>
            <a:off x="997964" y="1963368"/>
            <a:ext cx="291608" cy="289059"/>
          </a:xfrm>
          <a:prstGeom prst="rect">
            <a:avLst/>
          </a:prstGeom>
          <a:solidFill>
            <a:srgbClr val="969F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矩形 212">
            <a:extLst>
              <a:ext uri="{FF2B5EF4-FFF2-40B4-BE49-F238E27FC236}">
                <a16:creationId xmlns:a16="http://schemas.microsoft.com/office/drawing/2014/main" id="{3FD2005D-737F-0446-9BF6-08A20BD60C65}"/>
              </a:ext>
            </a:extLst>
          </p:cNvPr>
          <p:cNvSpPr/>
          <p:nvPr/>
        </p:nvSpPr>
        <p:spPr>
          <a:xfrm>
            <a:off x="2210198" y="1956617"/>
            <a:ext cx="291608" cy="289059"/>
          </a:xfrm>
          <a:prstGeom prst="rect">
            <a:avLst/>
          </a:prstGeom>
          <a:solidFill>
            <a:srgbClr val="969F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8" name="组合 217">
            <a:extLst>
              <a:ext uri="{FF2B5EF4-FFF2-40B4-BE49-F238E27FC236}">
                <a16:creationId xmlns:a16="http://schemas.microsoft.com/office/drawing/2014/main" id="{2DF23828-E6C4-A7EB-6F41-930E1EF1546F}"/>
              </a:ext>
            </a:extLst>
          </p:cNvPr>
          <p:cNvGrpSpPr/>
          <p:nvPr/>
        </p:nvGrpSpPr>
        <p:grpSpPr>
          <a:xfrm>
            <a:off x="1468790" y="2086442"/>
            <a:ext cx="581025" cy="76200"/>
            <a:chOff x="3262313" y="2762250"/>
            <a:chExt cx="581025" cy="76200"/>
          </a:xfrm>
          <a:noFill/>
        </p:grpSpPr>
        <p:sp>
          <p:nvSpPr>
            <p:cNvPr id="215" name="椭圆 214">
              <a:extLst>
                <a:ext uri="{FF2B5EF4-FFF2-40B4-BE49-F238E27FC236}">
                  <a16:creationId xmlns:a16="http://schemas.microsoft.com/office/drawing/2014/main" id="{2E14DF8D-D18F-DBF8-E093-2143B067AD35}"/>
                </a:ext>
              </a:extLst>
            </p:cNvPr>
            <p:cNvSpPr/>
            <p:nvPr/>
          </p:nvSpPr>
          <p:spPr>
            <a:xfrm>
              <a:off x="3262313" y="2762250"/>
              <a:ext cx="71437" cy="71437"/>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a:extLst>
                <a:ext uri="{FF2B5EF4-FFF2-40B4-BE49-F238E27FC236}">
                  <a16:creationId xmlns:a16="http://schemas.microsoft.com/office/drawing/2014/main" id="{13C672CD-06C0-D292-E8A7-D5567DEE9E44}"/>
                </a:ext>
              </a:extLst>
            </p:cNvPr>
            <p:cNvSpPr/>
            <p:nvPr/>
          </p:nvSpPr>
          <p:spPr>
            <a:xfrm>
              <a:off x="3526818" y="2762251"/>
              <a:ext cx="71437" cy="71437"/>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椭圆 216">
              <a:extLst>
                <a:ext uri="{FF2B5EF4-FFF2-40B4-BE49-F238E27FC236}">
                  <a16:creationId xmlns:a16="http://schemas.microsoft.com/office/drawing/2014/main" id="{27A9F251-04ED-3279-423B-FF24645F1E7A}"/>
                </a:ext>
              </a:extLst>
            </p:cNvPr>
            <p:cNvSpPr/>
            <p:nvPr/>
          </p:nvSpPr>
          <p:spPr>
            <a:xfrm>
              <a:off x="3771901" y="2767013"/>
              <a:ext cx="71437" cy="71437"/>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20" name="直接箭头连接符 219">
            <a:extLst>
              <a:ext uri="{FF2B5EF4-FFF2-40B4-BE49-F238E27FC236}">
                <a16:creationId xmlns:a16="http://schemas.microsoft.com/office/drawing/2014/main" id="{C29FE54D-CC29-46C0-66D7-D2FCA4186741}"/>
              </a:ext>
            </a:extLst>
          </p:cNvPr>
          <p:cNvCxnSpPr>
            <a:stCxn id="200" idx="1"/>
            <a:endCxn id="213" idx="3"/>
          </p:cNvCxnSpPr>
          <p:nvPr/>
        </p:nvCxnSpPr>
        <p:spPr>
          <a:xfrm flipH="1" flipV="1">
            <a:off x="2501806" y="2101147"/>
            <a:ext cx="2546444" cy="7690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1" name="文本框 220">
            <a:extLst>
              <a:ext uri="{FF2B5EF4-FFF2-40B4-BE49-F238E27FC236}">
                <a16:creationId xmlns:a16="http://schemas.microsoft.com/office/drawing/2014/main" id="{353D8464-E100-D278-3D33-B86781418A47}"/>
              </a:ext>
            </a:extLst>
          </p:cNvPr>
          <p:cNvSpPr txBox="1"/>
          <p:nvPr/>
        </p:nvSpPr>
        <p:spPr>
          <a:xfrm>
            <a:off x="796043" y="2389180"/>
            <a:ext cx="1436425" cy="369332"/>
          </a:xfrm>
          <a:prstGeom prst="rect">
            <a:avLst/>
          </a:prstGeom>
          <a:noFill/>
        </p:spPr>
        <p:txBody>
          <a:bodyPr wrap="square" rtlCol="0">
            <a:spAutoFit/>
          </a:bodyPr>
          <a:lstStyle/>
          <a:p>
            <a:r>
              <a:rPr lang="en-US" altLang="zh-CN" dirty="0"/>
              <a:t>Experts</a:t>
            </a:r>
            <a:r>
              <a:rPr lang="zh-CN" altLang="en-US" dirty="0"/>
              <a:t>网络</a:t>
            </a:r>
          </a:p>
        </p:txBody>
      </p:sp>
      <p:sp>
        <p:nvSpPr>
          <p:cNvPr id="222" name="文本框 221">
            <a:extLst>
              <a:ext uri="{FF2B5EF4-FFF2-40B4-BE49-F238E27FC236}">
                <a16:creationId xmlns:a16="http://schemas.microsoft.com/office/drawing/2014/main" id="{91318E13-3A10-1A06-7CD3-54ECD62B2767}"/>
              </a:ext>
            </a:extLst>
          </p:cNvPr>
          <p:cNvSpPr txBox="1"/>
          <p:nvPr/>
        </p:nvSpPr>
        <p:spPr>
          <a:xfrm>
            <a:off x="858498" y="488626"/>
            <a:ext cx="4291730" cy="338554"/>
          </a:xfrm>
          <a:prstGeom prst="rect">
            <a:avLst/>
          </a:prstGeom>
          <a:noFill/>
        </p:spPr>
        <p:txBody>
          <a:bodyPr wrap="square" rtlCol="0">
            <a:spAutoFit/>
          </a:bodyPr>
          <a:lstStyle/>
          <a:p>
            <a:r>
              <a:rPr lang="zh-CN" altLang="en-US" sz="1600" b="1" dirty="0"/>
              <a:t>全局模型</a:t>
            </a:r>
            <a:r>
              <a:rPr lang="zh-CN" altLang="en-US" sz="1600" dirty="0"/>
              <a:t>：一个非常复杂的模型（比如</a:t>
            </a:r>
            <a:r>
              <a:rPr lang="en-US" altLang="zh-CN" sz="1600" dirty="0"/>
              <a:t>VLLM</a:t>
            </a:r>
            <a:r>
              <a:rPr lang="zh-CN" altLang="en-US" sz="1600" dirty="0"/>
              <a:t>）</a:t>
            </a:r>
          </a:p>
        </p:txBody>
      </p:sp>
    </p:spTree>
    <p:extLst>
      <p:ext uri="{BB962C8B-B14F-4D97-AF65-F5344CB8AC3E}">
        <p14:creationId xmlns:p14="http://schemas.microsoft.com/office/powerpoint/2010/main" val="848865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47228-A0B1-6904-1A92-28F65F8855B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6A0426A-44CE-90C1-BFEC-15B1AE5F346D}"/>
              </a:ext>
            </a:extLst>
          </p:cNvPr>
          <p:cNvSpPr/>
          <p:nvPr/>
        </p:nvSpPr>
        <p:spPr>
          <a:xfrm>
            <a:off x="3625348" y="285791"/>
            <a:ext cx="4303059" cy="335197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dirty="0"/>
          </a:p>
        </p:txBody>
      </p:sp>
      <p:sp>
        <p:nvSpPr>
          <p:cNvPr id="7" name="梯形 6">
            <a:extLst>
              <a:ext uri="{FF2B5EF4-FFF2-40B4-BE49-F238E27FC236}">
                <a16:creationId xmlns:a16="http://schemas.microsoft.com/office/drawing/2014/main" id="{8F4C888A-DB89-A72C-7D0D-1C65884B9A7C}"/>
              </a:ext>
            </a:extLst>
          </p:cNvPr>
          <p:cNvSpPr/>
          <p:nvPr/>
        </p:nvSpPr>
        <p:spPr>
          <a:xfrm>
            <a:off x="1776254" y="5110493"/>
            <a:ext cx="482207" cy="255373"/>
          </a:xfrm>
          <a:prstGeom prst="trapezoid">
            <a:avLst>
              <a:gd name="adj" fmla="val 44072"/>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94995D2D-C15F-BB27-A4B2-8291CA9EF635}"/>
              </a:ext>
            </a:extLst>
          </p:cNvPr>
          <p:cNvSpPr/>
          <p:nvPr/>
        </p:nvSpPr>
        <p:spPr>
          <a:xfrm>
            <a:off x="1781178" y="4848117"/>
            <a:ext cx="464103" cy="8352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摘录 9">
            <a:extLst>
              <a:ext uri="{FF2B5EF4-FFF2-40B4-BE49-F238E27FC236}">
                <a16:creationId xmlns:a16="http://schemas.microsoft.com/office/drawing/2014/main" id="{E8E64625-3237-FF02-3466-C7E782A2B2F2}"/>
              </a:ext>
            </a:extLst>
          </p:cNvPr>
          <p:cNvSpPr/>
          <p:nvPr/>
        </p:nvSpPr>
        <p:spPr>
          <a:xfrm>
            <a:off x="2049815" y="4011544"/>
            <a:ext cx="514034" cy="187215"/>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40D7ECF-7961-ADE4-4054-BCBBE25E809D}"/>
              </a:ext>
            </a:extLst>
          </p:cNvPr>
          <p:cNvSpPr/>
          <p:nvPr/>
        </p:nvSpPr>
        <p:spPr>
          <a:xfrm>
            <a:off x="1778259" y="4675166"/>
            <a:ext cx="464103" cy="8352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4BA4B8F-5D89-A791-7608-C1DFF6F73A72}"/>
              </a:ext>
            </a:extLst>
          </p:cNvPr>
          <p:cNvSpPr/>
          <p:nvPr/>
        </p:nvSpPr>
        <p:spPr>
          <a:xfrm>
            <a:off x="2385258" y="4675166"/>
            <a:ext cx="464103" cy="8352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FFB6FE06-1BEA-7A78-520C-2075B5BA12D9}"/>
              </a:ext>
            </a:extLst>
          </p:cNvPr>
          <p:cNvSpPr/>
          <p:nvPr/>
        </p:nvSpPr>
        <p:spPr>
          <a:xfrm>
            <a:off x="2389307" y="4842655"/>
            <a:ext cx="464103" cy="8352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梯形 47">
            <a:extLst>
              <a:ext uri="{FF2B5EF4-FFF2-40B4-BE49-F238E27FC236}">
                <a16:creationId xmlns:a16="http://schemas.microsoft.com/office/drawing/2014/main" id="{8E2537EF-9E95-D8D4-9615-B4B43D76A8EB}"/>
              </a:ext>
            </a:extLst>
          </p:cNvPr>
          <p:cNvSpPr/>
          <p:nvPr/>
        </p:nvSpPr>
        <p:spPr>
          <a:xfrm>
            <a:off x="2385258" y="5108003"/>
            <a:ext cx="482207" cy="255373"/>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 name="直接箭头连接符 52">
            <a:extLst>
              <a:ext uri="{FF2B5EF4-FFF2-40B4-BE49-F238E27FC236}">
                <a16:creationId xmlns:a16="http://schemas.microsoft.com/office/drawing/2014/main" id="{35A3589C-175E-C53E-C62A-BBF4E35BE8DA}"/>
              </a:ext>
            </a:extLst>
          </p:cNvPr>
          <p:cNvCxnSpPr>
            <a:stCxn id="7" idx="0"/>
            <a:endCxn id="8" idx="2"/>
          </p:cNvCxnSpPr>
          <p:nvPr/>
        </p:nvCxnSpPr>
        <p:spPr>
          <a:xfrm flipH="1" flipV="1">
            <a:off x="2013229" y="4931644"/>
            <a:ext cx="4128" cy="178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直接箭头连接符 54">
            <a:extLst>
              <a:ext uri="{FF2B5EF4-FFF2-40B4-BE49-F238E27FC236}">
                <a16:creationId xmlns:a16="http://schemas.microsoft.com/office/drawing/2014/main" id="{1E9D088F-CA45-DAC9-03B1-CC3B8E430BC4}"/>
              </a:ext>
            </a:extLst>
          </p:cNvPr>
          <p:cNvCxnSpPr>
            <a:stCxn id="8" idx="0"/>
            <a:endCxn id="3" idx="2"/>
          </p:cNvCxnSpPr>
          <p:nvPr/>
        </p:nvCxnSpPr>
        <p:spPr>
          <a:xfrm flipH="1" flipV="1">
            <a:off x="2010311" y="4758693"/>
            <a:ext cx="2918" cy="894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直接箭头连接符 56">
            <a:extLst>
              <a:ext uri="{FF2B5EF4-FFF2-40B4-BE49-F238E27FC236}">
                <a16:creationId xmlns:a16="http://schemas.microsoft.com/office/drawing/2014/main" id="{990C793A-1EEA-5FDD-1FB5-4D16D96B9FCD}"/>
              </a:ext>
            </a:extLst>
          </p:cNvPr>
          <p:cNvCxnSpPr>
            <a:stCxn id="48" idx="0"/>
            <a:endCxn id="5" idx="2"/>
          </p:cNvCxnSpPr>
          <p:nvPr/>
        </p:nvCxnSpPr>
        <p:spPr>
          <a:xfrm flipH="1" flipV="1">
            <a:off x="2621359" y="4926181"/>
            <a:ext cx="5003" cy="181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直接箭头连接符 58">
            <a:extLst>
              <a:ext uri="{FF2B5EF4-FFF2-40B4-BE49-F238E27FC236}">
                <a16:creationId xmlns:a16="http://schemas.microsoft.com/office/drawing/2014/main" id="{6446A683-618F-4188-CACB-FBC9A3DD7DE5}"/>
              </a:ext>
            </a:extLst>
          </p:cNvPr>
          <p:cNvCxnSpPr>
            <a:stCxn id="5" idx="0"/>
            <a:endCxn id="4" idx="2"/>
          </p:cNvCxnSpPr>
          <p:nvPr/>
        </p:nvCxnSpPr>
        <p:spPr>
          <a:xfrm flipH="1" flipV="1">
            <a:off x="2617309" y="4758693"/>
            <a:ext cx="4049" cy="83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矩形 61">
            <a:extLst>
              <a:ext uri="{FF2B5EF4-FFF2-40B4-BE49-F238E27FC236}">
                <a16:creationId xmlns:a16="http://schemas.microsoft.com/office/drawing/2014/main" id="{588E4C82-FC49-7CF4-C147-A3384E0050C7}"/>
              </a:ext>
            </a:extLst>
          </p:cNvPr>
          <p:cNvSpPr/>
          <p:nvPr/>
        </p:nvSpPr>
        <p:spPr>
          <a:xfrm>
            <a:off x="1772794" y="4377764"/>
            <a:ext cx="1076566" cy="8070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箭头连接符 63">
            <a:extLst>
              <a:ext uri="{FF2B5EF4-FFF2-40B4-BE49-F238E27FC236}">
                <a16:creationId xmlns:a16="http://schemas.microsoft.com/office/drawing/2014/main" id="{9470B8D9-4CE7-0789-5943-EAFDCBBC4C05}"/>
              </a:ext>
            </a:extLst>
          </p:cNvPr>
          <p:cNvCxnSpPr>
            <a:stCxn id="3" idx="0"/>
            <a:endCxn id="62" idx="2"/>
          </p:cNvCxnSpPr>
          <p:nvPr/>
        </p:nvCxnSpPr>
        <p:spPr>
          <a:xfrm flipV="1">
            <a:off x="2010311" y="4458466"/>
            <a:ext cx="300766" cy="216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直接箭头连接符 65">
            <a:extLst>
              <a:ext uri="{FF2B5EF4-FFF2-40B4-BE49-F238E27FC236}">
                <a16:creationId xmlns:a16="http://schemas.microsoft.com/office/drawing/2014/main" id="{3BC6BB70-AABF-6A05-8305-D9608C97A1A8}"/>
              </a:ext>
            </a:extLst>
          </p:cNvPr>
          <p:cNvCxnSpPr>
            <a:stCxn id="4" idx="0"/>
            <a:endCxn id="62" idx="2"/>
          </p:cNvCxnSpPr>
          <p:nvPr/>
        </p:nvCxnSpPr>
        <p:spPr>
          <a:xfrm flipH="1" flipV="1">
            <a:off x="2311077" y="4458466"/>
            <a:ext cx="306232" cy="216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直接箭头连接符 67">
            <a:extLst>
              <a:ext uri="{FF2B5EF4-FFF2-40B4-BE49-F238E27FC236}">
                <a16:creationId xmlns:a16="http://schemas.microsoft.com/office/drawing/2014/main" id="{5E13CDFE-DE1B-EB8B-E301-43C06999502A}"/>
              </a:ext>
            </a:extLst>
          </p:cNvPr>
          <p:cNvCxnSpPr>
            <a:stCxn id="62" idx="0"/>
            <a:endCxn id="10" idx="2"/>
          </p:cNvCxnSpPr>
          <p:nvPr/>
        </p:nvCxnSpPr>
        <p:spPr>
          <a:xfrm flipH="1" flipV="1">
            <a:off x="2306832" y="4198759"/>
            <a:ext cx="4245" cy="1790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1" name="文本框 70">
            <a:extLst>
              <a:ext uri="{FF2B5EF4-FFF2-40B4-BE49-F238E27FC236}">
                <a16:creationId xmlns:a16="http://schemas.microsoft.com/office/drawing/2014/main" id="{ACAEE286-D00E-D7F6-38C1-F462EEF2F698}"/>
              </a:ext>
            </a:extLst>
          </p:cNvPr>
          <p:cNvSpPr txBox="1"/>
          <p:nvPr/>
        </p:nvSpPr>
        <p:spPr>
          <a:xfrm>
            <a:off x="1866046" y="5519261"/>
            <a:ext cx="1182395" cy="369332"/>
          </a:xfrm>
          <a:prstGeom prst="rect">
            <a:avLst/>
          </a:prstGeom>
          <a:noFill/>
        </p:spPr>
        <p:txBody>
          <a:bodyPr wrap="square" rtlCol="0">
            <a:spAutoFit/>
          </a:bodyPr>
          <a:lstStyle/>
          <a:p>
            <a:r>
              <a:rPr lang="zh-CN" altLang="en-US" dirty="0"/>
              <a:t>客户端</a:t>
            </a:r>
            <a:r>
              <a:rPr lang="en-US" altLang="zh-CN" dirty="0"/>
              <a:t>A</a:t>
            </a:r>
            <a:endParaRPr lang="zh-CN" altLang="en-US" dirty="0"/>
          </a:p>
        </p:txBody>
      </p:sp>
      <p:sp>
        <p:nvSpPr>
          <p:cNvPr id="75" name="梯形 74">
            <a:extLst>
              <a:ext uri="{FF2B5EF4-FFF2-40B4-BE49-F238E27FC236}">
                <a16:creationId xmlns:a16="http://schemas.microsoft.com/office/drawing/2014/main" id="{6DC58E99-64B3-0CE9-1A08-B766080DE066}"/>
              </a:ext>
            </a:extLst>
          </p:cNvPr>
          <p:cNvSpPr/>
          <p:nvPr/>
        </p:nvSpPr>
        <p:spPr>
          <a:xfrm>
            <a:off x="8646714" y="5081820"/>
            <a:ext cx="500328" cy="281227"/>
          </a:xfrm>
          <a:prstGeom prst="trapezoid">
            <a:avLst>
              <a:gd name="adj" fmla="val 44072"/>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0CBBCC23-0494-FDB7-4578-429F5D20E7D1}"/>
              </a:ext>
            </a:extLst>
          </p:cNvPr>
          <p:cNvSpPr/>
          <p:nvPr/>
        </p:nvSpPr>
        <p:spPr>
          <a:xfrm>
            <a:off x="8651823" y="4792881"/>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B0362CEA-6631-FB5C-FCDF-B6A25B3F6DAC}"/>
              </a:ext>
            </a:extLst>
          </p:cNvPr>
          <p:cNvSpPr/>
          <p:nvPr/>
        </p:nvSpPr>
        <p:spPr>
          <a:xfrm>
            <a:off x="8648795" y="4602420"/>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a:extLst>
              <a:ext uri="{FF2B5EF4-FFF2-40B4-BE49-F238E27FC236}">
                <a16:creationId xmlns:a16="http://schemas.microsoft.com/office/drawing/2014/main" id="{16C93871-D107-E4DB-8437-EF37D5052028}"/>
              </a:ext>
            </a:extLst>
          </p:cNvPr>
          <p:cNvSpPr/>
          <p:nvPr/>
        </p:nvSpPr>
        <p:spPr>
          <a:xfrm>
            <a:off x="9278604" y="4602420"/>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a:extLst>
              <a:ext uri="{FF2B5EF4-FFF2-40B4-BE49-F238E27FC236}">
                <a16:creationId xmlns:a16="http://schemas.microsoft.com/office/drawing/2014/main" id="{3125EA26-A2D2-8FE7-33A2-DE2B6D11AE47}"/>
              </a:ext>
            </a:extLst>
          </p:cNvPr>
          <p:cNvSpPr/>
          <p:nvPr/>
        </p:nvSpPr>
        <p:spPr>
          <a:xfrm>
            <a:off x="9282805" y="4786866"/>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梯形 80">
            <a:extLst>
              <a:ext uri="{FF2B5EF4-FFF2-40B4-BE49-F238E27FC236}">
                <a16:creationId xmlns:a16="http://schemas.microsoft.com/office/drawing/2014/main" id="{468D3447-7D13-66B6-1727-C001A3EE7929}"/>
              </a:ext>
            </a:extLst>
          </p:cNvPr>
          <p:cNvSpPr/>
          <p:nvPr/>
        </p:nvSpPr>
        <p:spPr>
          <a:xfrm>
            <a:off x="9278604" y="5079078"/>
            <a:ext cx="500328" cy="281227"/>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2" name="直接箭头连接符 81">
            <a:extLst>
              <a:ext uri="{FF2B5EF4-FFF2-40B4-BE49-F238E27FC236}">
                <a16:creationId xmlns:a16="http://schemas.microsoft.com/office/drawing/2014/main" id="{347BE5EF-A690-CAE4-2641-3037FF9EA18F}"/>
              </a:ext>
            </a:extLst>
          </p:cNvPr>
          <p:cNvCxnSpPr>
            <a:stCxn id="75" idx="0"/>
            <a:endCxn id="76" idx="2"/>
          </p:cNvCxnSpPr>
          <p:nvPr/>
        </p:nvCxnSpPr>
        <p:spPr>
          <a:xfrm flipH="1" flipV="1">
            <a:off x="8892595" y="4884864"/>
            <a:ext cx="4284" cy="1969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直接箭头连接符 82">
            <a:extLst>
              <a:ext uri="{FF2B5EF4-FFF2-40B4-BE49-F238E27FC236}">
                <a16:creationId xmlns:a16="http://schemas.microsoft.com/office/drawing/2014/main" id="{DF7F7018-345B-D0F2-5686-B05407B11338}"/>
              </a:ext>
            </a:extLst>
          </p:cNvPr>
          <p:cNvCxnSpPr>
            <a:stCxn id="76" idx="0"/>
            <a:endCxn id="78" idx="2"/>
          </p:cNvCxnSpPr>
          <p:nvPr/>
        </p:nvCxnSpPr>
        <p:spPr>
          <a:xfrm flipH="1" flipV="1">
            <a:off x="8889567" y="4694403"/>
            <a:ext cx="3028" cy="984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直接箭头连接符 83">
            <a:extLst>
              <a:ext uri="{FF2B5EF4-FFF2-40B4-BE49-F238E27FC236}">
                <a16:creationId xmlns:a16="http://schemas.microsoft.com/office/drawing/2014/main" id="{A17ECEB7-0071-69D5-D45C-96949B0808F6}"/>
              </a:ext>
            </a:extLst>
          </p:cNvPr>
          <p:cNvCxnSpPr>
            <a:stCxn id="81" idx="0"/>
            <a:endCxn id="80" idx="2"/>
          </p:cNvCxnSpPr>
          <p:nvPr/>
        </p:nvCxnSpPr>
        <p:spPr>
          <a:xfrm flipH="1" flipV="1">
            <a:off x="9523577" y="4878848"/>
            <a:ext cx="5191" cy="2002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直接箭头连接符 84">
            <a:extLst>
              <a:ext uri="{FF2B5EF4-FFF2-40B4-BE49-F238E27FC236}">
                <a16:creationId xmlns:a16="http://schemas.microsoft.com/office/drawing/2014/main" id="{A6AFAB91-581F-AD7D-0A96-688E25AE5590}"/>
              </a:ext>
            </a:extLst>
          </p:cNvPr>
          <p:cNvCxnSpPr>
            <a:stCxn id="80" idx="0"/>
            <a:endCxn id="79" idx="2"/>
          </p:cNvCxnSpPr>
          <p:nvPr/>
        </p:nvCxnSpPr>
        <p:spPr>
          <a:xfrm flipH="1" flipV="1">
            <a:off x="9519376" y="4694403"/>
            <a:ext cx="4201" cy="924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矩形 85">
            <a:extLst>
              <a:ext uri="{FF2B5EF4-FFF2-40B4-BE49-F238E27FC236}">
                <a16:creationId xmlns:a16="http://schemas.microsoft.com/office/drawing/2014/main" id="{76D4C3F1-E224-E71F-1718-E6D6C7F29180}"/>
              </a:ext>
            </a:extLst>
          </p:cNvPr>
          <p:cNvSpPr/>
          <p:nvPr/>
        </p:nvSpPr>
        <p:spPr>
          <a:xfrm>
            <a:off x="8643124" y="4274909"/>
            <a:ext cx="1117023" cy="8887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直接箭头连接符 86">
            <a:extLst>
              <a:ext uri="{FF2B5EF4-FFF2-40B4-BE49-F238E27FC236}">
                <a16:creationId xmlns:a16="http://schemas.microsoft.com/office/drawing/2014/main" id="{3A9459CA-EF00-B20B-2B8D-0A1403F99941}"/>
              </a:ext>
            </a:extLst>
          </p:cNvPr>
          <p:cNvCxnSpPr>
            <a:stCxn id="78" idx="0"/>
            <a:endCxn id="86" idx="2"/>
          </p:cNvCxnSpPr>
          <p:nvPr/>
        </p:nvCxnSpPr>
        <p:spPr>
          <a:xfrm flipV="1">
            <a:off x="8889567" y="4363781"/>
            <a:ext cx="312069" cy="238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直接箭头连接符 87">
            <a:extLst>
              <a:ext uri="{FF2B5EF4-FFF2-40B4-BE49-F238E27FC236}">
                <a16:creationId xmlns:a16="http://schemas.microsoft.com/office/drawing/2014/main" id="{0D5BD6C6-0CD2-52F9-C055-320459590359}"/>
              </a:ext>
            </a:extLst>
          </p:cNvPr>
          <p:cNvCxnSpPr>
            <a:stCxn id="79" idx="0"/>
            <a:endCxn id="86" idx="2"/>
          </p:cNvCxnSpPr>
          <p:nvPr/>
        </p:nvCxnSpPr>
        <p:spPr>
          <a:xfrm flipH="1" flipV="1">
            <a:off x="9201636" y="4363781"/>
            <a:ext cx="317740" cy="238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直接箭头连接符 88">
            <a:extLst>
              <a:ext uri="{FF2B5EF4-FFF2-40B4-BE49-F238E27FC236}">
                <a16:creationId xmlns:a16="http://schemas.microsoft.com/office/drawing/2014/main" id="{6833137E-9AE6-6987-1E98-E4B3A2941D59}"/>
              </a:ext>
            </a:extLst>
          </p:cNvPr>
          <p:cNvCxnSpPr>
            <a:cxnSpLocks/>
            <a:stCxn id="86" idx="0"/>
            <a:endCxn id="94" idx="4"/>
          </p:cNvCxnSpPr>
          <p:nvPr/>
        </p:nvCxnSpPr>
        <p:spPr>
          <a:xfrm flipV="1">
            <a:off x="9201636" y="4103479"/>
            <a:ext cx="523666" cy="1714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梯形 89">
            <a:extLst>
              <a:ext uri="{FF2B5EF4-FFF2-40B4-BE49-F238E27FC236}">
                <a16:creationId xmlns:a16="http://schemas.microsoft.com/office/drawing/2014/main" id="{9D66378D-ED9D-7EAD-5216-70974E812906}"/>
              </a:ext>
            </a:extLst>
          </p:cNvPr>
          <p:cNvSpPr/>
          <p:nvPr/>
        </p:nvSpPr>
        <p:spPr>
          <a:xfrm>
            <a:off x="9910494" y="5077175"/>
            <a:ext cx="500328" cy="281227"/>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矩形 91">
            <a:extLst>
              <a:ext uri="{FF2B5EF4-FFF2-40B4-BE49-F238E27FC236}">
                <a16:creationId xmlns:a16="http://schemas.microsoft.com/office/drawing/2014/main" id="{06B94B0C-7117-FF2B-29AA-3CFB0CED912E}"/>
              </a:ext>
            </a:extLst>
          </p:cNvPr>
          <p:cNvSpPr/>
          <p:nvPr/>
        </p:nvSpPr>
        <p:spPr>
          <a:xfrm>
            <a:off x="9905385" y="4676980"/>
            <a:ext cx="481543" cy="91983"/>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7180FF55-DBBE-DFFB-019F-81E80A7769D8}"/>
              </a:ext>
            </a:extLst>
          </p:cNvPr>
          <p:cNvSpPr/>
          <p:nvPr/>
        </p:nvSpPr>
        <p:spPr>
          <a:xfrm>
            <a:off x="9545217" y="3851434"/>
            <a:ext cx="360168" cy="25204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箭头连接符 96">
            <a:extLst>
              <a:ext uri="{FF2B5EF4-FFF2-40B4-BE49-F238E27FC236}">
                <a16:creationId xmlns:a16="http://schemas.microsoft.com/office/drawing/2014/main" id="{B1AE720C-A61F-B4C1-F92F-D8906FD54483}"/>
              </a:ext>
            </a:extLst>
          </p:cNvPr>
          <p:cNvCxnSpPr>
            <a:stCxn id="92" idx="0"/>
            <a:endCxn id="94" idx="4"/>
          </p:cNvCxnSpPr>
          <p:nvPr/>
        </p:nvCxnSpPr>
        <p:spPr>
          <a:xfrm flipH="1" flipV="1">
            <a:off x="9725301" y="4103479"/>
            <a:ext cx="420856" cy="57350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9" name="直接箭头连接符 98">
            <a:extLst>
              <a:ext uri="{FF2B5EF4-FFF2-40B4-BE49-F238E27FC236}">
                <a16:creationId xmlns:a16="http://schemas.microsoft.com/office/drawing/2014/main" id="{321391ED-1D30-6B07-C945-5048F318F15C}"/>
              </a:ext>
            </a:extLst>
          </p:cNvPr>
          <p:cNvCxnSpPr>
            <a:stCxn id="90" idx="0"/>
            <a:endCxn id="92" idx="2"/>
          </p:cNvCxnSpPr>
          <p:nvPr/>
        </p:nvCxnSpPr>
        <p:spPr>
          <a:xfrm flipH="1" flipV="1">
            <a:off x="10146157" y="4768963"/>
            <a:ext cx="14501" cy="3082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4" name="梯形 103">
            <a:extLst>
              <a:ext uri="{FF2B5EF4-FFF2-40B4-BE49-F238E27FC236}">
                <a16:creationId xmlns:a16="http://schemas.microsoft.com/office/drawing/2014/main" id="{D86ADF00-49C1-329C-F32B-1CAF879D199B}"/>
              </a:ext>
            </a:extLst>
          </p:cNvPr>
          <p:cNvSpPr/>
          <p:nvPr/>
        </p:nvSpPr>
        <p:spPr>
          <a:xfrm>
            <a:off x="5063291" y="5076808"/>
            <a:ext cx="481430" cy="289058"/>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a:extLst>
              <a:ext uri="{FF2B5EF4-FFF2-40B4-BE49-F238E27FC236}">
                <a16:creationId xmlns:a16="http://schemas.microsoft.com/office/drawing/2014/main" id="{57BD0777-918F-8DD7-68E8-03C2E5C0B331}"/>
              </a:ext>
            </a:extLst>
          </p:cNvPr>
          <p:cNvSpPr/>
          <p:nvPr/>
        </p:nvSpPr>
        <p:spPr>
          <a:xfrm>
            <a:off x="5068206" y="4779822"/>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流程图: 摘录 105">
            <a:extLst>
              <a:ext uri="{FF2B5EF4-FFF2-40B4-BE49-F238E27FC236}">
                <a16:creationId xmlns:a16="http://schemas.microsoft.com/office/drawing/2014/main" id="{6B8B10C2-C6E7-2A8B-A87D-199805DC41DD}"/>
              </a:ext>
            </a:extLst>
          </p:cNvPr>
          <p:cNvSpPr/>
          <p:nvPr/>
        </p:nvSpPr>
        <p:spPr>
          <a:xfrm>
            <a:off x="5379209" y="3847029"/>
            <a:ext cx="513205" cy="211910"/>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a:extLst>
              <a:ext uri="{FF2B5EF4-FFF2-40B4-BE49-F238E27FC236}">
                <a16:creationId xmlns:a16="http://schemas.microsoft.com/office/drawing/2014/main" id="{757E763E-1A6B-C750-31B9-F5AC5CE96620}"/>
              </a:ext>
            </a:extLst>
          </p:cNvPr>
          <p:cNvSpPr/>
          <p:nvPr/>
        </p:nvSpPr>
        <p:spPr>
          <a:xfrm>
            <a:off x="5065293" y="4584058"/>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83F122E3-D2D0-74E6-4B73-EB2D47A41DAA}"/>
              </a:ext>
            </a:extLst>
          </p:cNvPr>
          <p:cNvSpPr/>
          <p:nvPr/>
        </p:nvSpPr>
        <p:spPr>
          <a:xfrm>
            <a:off x="5837216" y="4584058"/>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5B46D2C0-265A-EB95-BAC9-3D45D8CC218F}"/>
              </a:ext>
            </a:extLst>
          </p:cNvPr>
          <p:cNvSpPr/>
          <p:nvPr/>
        </p:nvSpPr>
        <p:spPr>
          <a:xfrm>
            <a:off x="5841259" y="4773639"/>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梯形 109">
            <a:extLst>
              <a:ext uri="{FF2B5EF4-FFF2-40B4-BE49-F238E27FC236}">
                <a16:creationId xmlns:a16="http://schemas.microsoft.com/office/drawing/2014/main" id="{E03AF464-BD03-AB41-AFF0-AF2035A38870}"/>
              </a:ext>
            </a:extLst>
          </p:cNvPr>
          <p:cNvSpPr/>
          <p:nvPr/>
        </p:nvSpPr>
        <p:spPr>
          <a:xfrm>
            <a:off x="5837216" y="5073989"/>
            <a:ext cx="481430" cy="289058"/>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1" name="直接箭头连接符 110">
            <a:extLst>
              <a:ext uri="{FF2B5EF4-FFF2-40B4-BE49-F238E27FC236}">
                <a16:creationId xmlns:a16="http://schemas.microsoft.com/office/drawing/2014/main" id="{1B30BDA7-1C8C-5E16-E090-566A73CA120F}"/>
              </a:ext>
            </a:extLst>
          </p:cNvPr>
          <p:cNvCxnSpPr>
            <a:stCxn id="104" idx="0"/>
            <a:endCxn id="105" idx="2"/>
          </p:cNvCxnSpPr>
          <p:nvPr/>
        </p:nvCxnSpPr>
        <p:spPr>
          <a:xfrm flipH="1" flipV="1">
            <a:off x="5299884" y="4874367"/>
            <a:ext cx="4122" cy="2024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2" name="直接箭头连接符 111">
            <a:extLst>
              <a:ext uri="{FF2B5EF4-FFF2-40B4-BE49-F238E27FC236}">
                <a16:creationId xmlns:a16="http://schemas.microsoft.com/office/drawing/2014/main" id="{7C7B7021-662A-3D5D-C17E-B5EDF8F91B53}"/>
              </a:ext>
            </a:extLst>
          </p:cNvPr>
          <p:cNvCxnSpPr>
            <a:stCxn id="105" idx="0"/>
            <a:endCxn id="107" idx="2"/>
          </p:cNvCxnSpPr>
          <p:nvPr/>
        </p:nvCxnSpPr>
        <p:spPr>
          <a:xfrm flipH="1" flipV="1">
            <a:off x="5296970" y="4678602"/>
            <a:ext cx="2913" cy="101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直接箭头连接符 112">
            <a:extLst>
              <a:ext uri="{FF2B5EF4-FFF2-40B4-BE49-F238E27FC236}">
                <a16:creationId xmlns:a16="http://schemas.microsoft.com/office/drawing/2014/main" id="{D02CDE29-3A25-B10B-95C0-9009080BAE1B}"/>
              </a:ext>
            </a:extLst>
          </p:cNvPr>
          <p:cNvCxnSpPr>
            <a:stCxn id="110" idx="0"/>
            <a:endCxn id="109" idx="2"/>
          </p:cNvCxnSpPr>
          <p:nvPr/>
        </p:nvCxnSpPr>
        <p:spPr>
          <a:xfrm flipH="1" flipV="1">
            <a:off x="6072936" y="4868183"/>
            <a:ext cx="4995" cy="205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4" name="直接箭头连接符 113">
            <a:extLst>
              <a:ext uri="{FF2B5EF4-FFF2-40B4-BE49-F238E27FC236}">
                <a16:creationId xmlns:a16="http://schemas.microsoft.com/office/drawing/2014/main" id="{F28F3B75-75A4-A436-1186-E0B468846A1F}"/>
              </a:ext>
            </a:extLst>
          </p:cNvPr>
          <p:cNvCxnSpPr>
            <a:stCxn id="109" idx="0"/>
            <a:endCxn id="108" idx="2"/>
          </p:cNvCxnSpPr>
          <p:nvPr/>
        </p:nvCxnSpPr>
        <p:spPr>
          <a:xfrm flipH="1" flipV="1">
            <a:off x="6068894" y="4678602"/>
            <a:ext cx="4043" cy="95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5" name="矩形 114">
            <a:extLst>
              <a:ext uri="{FF2B5EF4-FFF2-40B4-BE49-F238E27FC236}">
                <a16:creationId xmlns:a16="http://schemas.microsoft.com/office/drawing/2014/main" id="{540B34AF-5250-9521-C3D7-9EFC03011CF1}"/>
              </a:ext>
            </a:extLst>
          </p:cNvPr>
          <p:cNvSpPr/>
          <p:nvPr/>
        </p:nvSpPr>
        <p:spPr>
          <a:xfrm>
            <a:off x="5837216" y="4342272"/>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6" name="直接箭头连接符 115">
            <a:extLst>
              <a:ext uri="{FF2B5EF4-FFF2-40B4-BE49-F238E27FC236}">
                <a16:creationId xmlns:a16="http://schemas.microsoft.com/office/drawing/2014/main" id="{C9898107-F1CE-4CFF-5012-9B6C32DF5798}"/>
              </a:ext>
            </a:extLst>
          </p:cNvPr>
          <p:cNvCxnSpPr>
            <a:cxnSpLocks/>
            <a:stCxn id="107" idx="3"/>
            <a:endCxn id="108" idx="1"/>
          </p:cNvCxnSpPr>
          <p:nvPr/>
        </p:nvCxnSpPr>
        <p:spPr>
          <a:xfrm>
            <a:off x="5528647" y="4631330"/>
            <a:ext cx="30856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7" name="直接箭头连接符 116">
            <a:extLst>
              <a:ext uri="{FF2B5EF4-FFF2-40B4-BE49-F238E27FC236}">
                <a16:creationId xmlns:a16="http://schemas.microsoft.com/office/drawing/2014/main" id="{D4D8905D-003E-4B56-65B3-35CF6A69276A}"/>
              </a:ext>
            </a:extLst>
          </p:cNvPr>
          <p:cNvCxnSpPr>
            <a:cxnSpLocks/>
            <a:stCxn id="108" idx="0"/>
            <a:endCxn id="115" idx="2"/>
          </p:cNvCxnSpPr>
          <p:nvPr/>
        </p:nvCxnSpPr>
        <p:spPr>
          <a:xfrm flipH="1" flipV="1">
            <a:off x="6068893" y="4443323"/>
            <a:ext cx="1" cy="1407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8" name="直接箭头连接符 117">
            <a:extLst>
              <a:ext uri="{FF2B5EF4-FFF2-40B4-BE49-F238E27FC236}">
                <a16:creationId xmlns:a16="http://schemas.microsoft.com/office/drawing/2014/main" id="{6506B0FE-A3D1-315B-2E6D-B59A5D3030D1}"/>
              </a:ext>
            </a:extLst>
          </p:cNvPr>
          <p:cNvCxnSpPr>
            <a:cxnSpLocks/>
            <a:stCxn id="115" idx="0"/>
            <a:endCxn id="106" idx="2"/>
          </p:cNvCxnSpPr>
          <p:nvPr/>
        </p:nvCxnSpPr>
        <p:spPr>
          <a:xfrm flipH="1" flipV="1">
            <a:off x="5635812" y="4058939"/>
            <a:ext cx="433081" cy="2833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8" name="矩形 137">
            <a:extLst>
              <a:ext uri="{FF2B5EF4-FFF2-40B4-BE49-F238E27FC236}">
                <a16:creationId xmlns:a16="http://schemas.microsoft.com/office/drawing/2014/main" id="{DC7D1DF8-4AD9-0E7F-3E63-490177211B2A}"/>
              </a:ext>
            </a:extLst>
          </p:cNvPr>
          <p:cNvSpPr/>
          <p:nvPr/>
        </p:nvSpPr>
        <p:spPr>
          <a:xfrm>
            <a:off x="5054713" y="4357989"/>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箭头连接符 138">
            <a:extLst>
              <a:ext uri="{FF2B5EF4-FFF2-40B4-BE49-F238E27FC236}">
                <a16:creationId xmlns:a16="http://schemas.microsoft.com/office/drawing/2014/main" id="{92786E29-5DBE-82F7-2FE3-CCE161589217}"/>
              </a:ext>
            </a:extLst>
          </p:cNvPr>
          <p:cNvCxnSpPr>
            <a:cxnSpLocks/>
          </p:cNvCxnSpPr>
          <p:nvPr/>
        </p:nvCxnSpPr>
        <p:spPr>
          <a:xfrm>
            <a:off x="5518067" y="4392791"/>
            <a:ext cx="30856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40" name="直接箭头连接符 139">
            <a:extLst>
              <a:ext uri="{FF2B5EF4-FFF2-40B4-BE49-F238E27FC236}">
                <a16:creationId xmlns:a16="http://schemas.microsoft.com/office/drawing/2014/main" id="{6B70D840-25C4-04F3-92F7-57F66047AF8E}"/>
              </a:ext>
            </a:extLst>
          </p:cNvPr>
          <p:cNvCxnSpPr>
            <a:cxnSpLocks/>
          </p:cNvCxnSpPr>
          <p:nvPr/>
        </p:nvCxnSpPr>
        <p:spPr>
          <a:xfrm>
            <a:off x="5528646" y="4826959"/>
            <a:ext cx="30856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42" name="直接箭头连接符 141">
            <a:extLst>
              <a:ext uri="{FF2B5EF4-FFF2-40B4-BE49-F238E27FC236}">
                <a16:creationId xmlns:a16="http://schemas.microsoft.com/office/drawing/2014/main" id="{4B87BFEC-93A3-6273-1D95-E6112FD884D2}"/>
              </a:ext>
            </a:extLst>
          </p:cNvPr>
          <p:cNvCxnSpPr>
            <a:stCxn id="107" idx="0"/>
            <a:endCxn id="138" idx="2"/>
          </p:cNvCxnSpPr>
          <p:nvPr/>
        </p:nvCxnSpPr>
        <p:spPr>
          <a:xfrm flipH="1" flipV="1">
            <a:off x="5286390" y="4459041"/>
            <a:ext cx="10580" cy="125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5" name="直接箭头连接符 144">
            <a:extLst>
              <a:ext uri="{FF2B5EF4-FFF2-40B4-BE49-F238E27FC236}">
                <a16:creationId xmlns:a16="http://schemas.microsoft.com/office/drawing/2014/main" id="{C5035410-B1E0-A284-C24D-EA7D8A67115C}"/>
              </a:ext>
            </a:extLst>
          </p:cNvPr>
          <p:cNvCxnSpPr>
            <a:stCxn id="138" idx="0"/>
            <a:endCxn id="106" idx="2"/>
          </p:cNvCxnSpPr>
          <p:nvPr/>
        </p:nvCxnSpPr>
        <p:spPr>
          <a:xfrm flipV="1">
            <a:off x="5286390" y="4058939"/>
            <a:ext cx="349421" cy="2990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0" name="文本框 149">
            <a:extLst>
              <a:ext uri="{FF2B5EF4-FFF2-40B4-BE49-F238E27FC236}">
                <a16:creationId xmlns:a16="http://schemas.microsoft.com/office/drawing/2014/main" id="{880D3730-61DD-C02B-B915-52C471D52BE9}"/>
              </a:ext>
            </a:extLst>
          </p:cNvPr>
          <p:cNvSpPr txBox="1"/>
          <p:nvPr/>
        </p:nvSpPr>
        <p:spPr>
          <a:xfrm>
            <a:off x="5211405" y="5496348"/>
            <a:ext cx="1182395" cy="369332"/>
          </a:xfrm>
          <a:prstGeom prst="rect">
            <a:avLst/>
          </a:prstGeom>
          <a:noFill/>
        </p:spPr>
        <p:txBody>
          <a:bodyPr wrap="square" rtlCol="0">
            <a:spAutoFit/>
          </a:bodyPr>
          <a:lstStyle/>
          <a:p>
            <a:r>
              <a:rPr lang="zh-CN" altLang="en-US" dirty="0"/>
              <a:t>客户端</a:t>
            </a:r>
            <a:r>
              <a:rPr lang="en-US" altLang="zh-CN" dirty="0"/>
              <a:t>B</a:t>
            </a:r>
            <a:endParaRPr lang="zh-CN" altLang="en-US" dirty="0"/>
          </a:p>
        </p:txBody>
      </p:sp>
      <p:sp>
        <p:nvSpPr>
          <p:cNvPr id="151" name="文本框 150">
            <a:extLst>
              <a:ext uri="{FF2B5EF4-FFF2-40B4-BE49-F238E27FC236}">
                <a16:creationId xmlns:a16="http://schemas.microsoft.com/office/drawing/2014/main" id="{1066BDCC-BD4C-2B45-2401-8F0A3D5F0D1B}"/>
              </a:ext>
            </a:extLst>
          </p:cNvPr>
          <p:cNvSpPr txBox="1"/>
          <p:nvPr/>
        </p:nvSpPr>
        <p:spPr>
          <a:xfrm>
            <a:off x="9073851" y="5529323"/>
            <a:ext cx="1182395" cy="369332"/>
          </a:xfrm>
          <a:prstGeom prst="rect">
            <a:avLst/>
          </a:prstGeom>
          <a:noFill/>
        </p:spPr>
        <p:txBody>
          <a:bodyPr wrap="square" rtlCol="0">
            <a:spAutoFit/>
          </a:bodyPr>
          <a:lstStyle/>
          <a:p>
            <a:r>
              <a:rPr lang="zh-CN" altLang="en-US" dirty="0"/>
              <a:t>客户端</a:t>
            </a:r>
            <a:r>
              <a:rPr lang="en-US" altLang="zh-CN" dirty="0"/>
              <a:t>C</a:t>
            </a:r>
            <a:endParaRPr lang="zh-CN" altLang="en-US" dirty="0"/>
          </a:p>
        </p:txBody>
      </p:sp>
      <p:sp>
        <p:nvSpPr>
          <p:cNvPr id="9" name="梯形 8">
            <a:extLst>
              <a:ext uri="{FF2B5EF4-FFF2-40B4-BE49-F238E27FC236}">
                <a16:creationId xmlns:a16="http://schemas.microsoft.com/office/drawing/2014/main" id="{C572A5B8-D1CF-E331-9EBD-2AE32EE65A1D}"/>
              </a:ext>
            </a:extLst>
          </p:cNvPr>
          <p:cNvSpPr/>
          <p:nvPr/>
        </p:nvSpPr>
        <p:spPr>
          <a:xfrm>
            <a:off x="701075" y="6189769"/>
            <a:ext cx="511463" cy="262507"/>
          </a:xfrm>
          <a:prstGeom prst="trapezoid">
            <a:avLst>
              <a:gd name="adj" fmla="val 44072"/>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0" name="文本框 49">
            <a:extLst>
              <a:ext uri="{FF2B5EF4-FFF2-40B4-BE49-F238E27FC236}">
                <a16:creationId xmlns:a16="http://schemas.microsoft.com/office/drawing/2014/main" id="{078C2C8F-CAAB-2DC6-3C61-647429C12992}"/>
              </a:ext>
            </a:extLst>
          </p:cNvPr>
          <p:cNvSpPr txBox="1"/>
          <p:nvPr/>
        </p:nvSpPr>
        <p:spPr>
          <a:xfrm>
            <a:off x="302491" y="6478852"/>
            <a:ext cx="1489402" cy="307777"/>
          </a:xfrm>
          <a:prstGeom prst="rect">
            <a:avLst/>
          </a:prstGeom>
          <a:noFill/>
        </p:spPr>
        <p:txBody>
          <a:bodyPr wrap="square" rtlCol="0">
            <a:spAutoFit/>
          </a:bodyPr>
          <a:lstStyle/>
          <a:p>
            <a:r>
              <a:rPr lang="en-US" altLang="zh-CN" sz="1400" dirty="0"/>
              <a:t>Audio Encoder</a:t>
            </a:r>
            <a:endParaRPr lang="zh-CN" altLang="en-US" sz="1400" dirty="0"/>
          </a:p>
        </p:txBody>
      </p:sp>
      <p:sp>
        <p:nvSpPr>
          <p:cNvPr id="52" name="梯形 51">
            <a:extLst>
              <a:ext uri="{FF2B5EF4-FFF2-40B4-BE49-F238E27FC236}">
                <a16:creationId xmlns:a16="http://schemas.microsoft.com/office/drawing/2014/main" id="{3F2BF1CB-4049-0CC3-242E-820F18E1E731}"/>
              </a:ext>
            </a:extLst>
          </p:cNvPr>
          <p:cNvSpPr/>
          <p:nvPr/>
        </p:nvSpPr>
        <p:spPr>
          <a:xfrm>
            <a:off x="2356002" y="6173878"/>
            <a:ext cx="511463" cy="262507"/>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54" name="文本框 53">
            <a:extLst>
              <a:ext uri="{FF2B5EF4-FFF2-40B4-BE49-F238E27FC236}">
                <a16:creationId xmlns:a16="http://schemas.microsoft.com/office/drawing/2014/main" id="{2DA149D7-95F6-40B0-8728-31D64A53E68D}"/>
              </a:ext>
            </a:extLst>
          </p:cNvPr>
          <p:cNvSpPr txBox="1"/>
          <p:nvPr/>
        </p:nvSpPr>
        <p:spPr>
          <a:xfrm>
            <a:off x="1956973" y="6483807"/>
            <a:ext cx="1605564" cy="307777"/>
          </a:xfrm>
          <a:prstGeom prst="rect">
            <a:avLst/>
          </a:prstGeom>
          <a:noFill/>
        </p:spPr>
        <p:txBody>
          <a:bodyPr wrap="square" rtlCol="0">
            <a:spAutoFit/>
          </a:bodyPr>
          <a:lstStyle/>
          <a:p>
            <a:r>
              <a:rPr lang="en-US" altLang="zh-CN" sz="1400" dirty="0"/>
              <a:t>Visual Encoder</a:t>
            </a:r>
            <a:endParaRPr lang="zh-CN" altLang="en-US" sz="1400" dirty="0"/>
          </a:p>
        </p:txBody>
      </p:sp>
      <p:sp>
        <p:nvSpPr>
          <p:cNvPr id="56" name="梯形 55">
            <a:extLst>
              <a:ext uri="{FF2B5EF4-FFF2-40B4-BE49-F238E27FC236}">
                <a16:creationId xmlns:a16="http://schemas.microsoft.com/office/drawing/2014/main" id="{4AF30534-0C91-766D-D1DD-1A44B9FEEA52}"/>
              </a:ext>
            </a:extLst>
          </p:cNvPr>
          <p:cNvSpPr/>
          <p:nvPr/>
        </p:nvSpPr>
        <p:spPr>
          <a:xfrm>
            <a:off x="4059047" y="6206432"/>
            <a:ext cx="511463" cy="262507"/>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58" name="文本框 57">
            <a:extLst>
              <a:ext uri="{FF2B5EF4-FFF2-40B4-BE49-F238E27FC236}">
                <a16:creationId xmlns:a16="http://schemas.microsoft.com/office/drawing/2014/main" id="{90FC86A1-4442-8ACD-8356-16B5AEA7232B}"/>
              </a:ext>
            </a:extLst>
          </p:cNvPr>
          <p:cNvSpPr txBox="1"/>
          <p:nvPr/>
        </p:nvSpPr>
        <p:spPr>
          <a:xfrm>
            <a:off x="3711347" y="6492720"/>
            <a:ext cx="1263933" cy="307777"/>
          </a:xfrm>
          <a:prstGeom prst="rect">
            <a:avLst/>
          </a:prstGeom>
          <a:noFill/>
        </p:spPr>
        <p:txBody>
          <a:bodyPr wrap="square" rtlCol="0">
            <a:spAutoFit/>
          </a:bodyPr>
          <a:lstStyle/>
          <a:p>
            <a:r>
              <a:rPr lang="en-US" altLang="zh-CN" sz="1400" dirty="0"/>
              <a:t>Text Encoder</a:t>
            </a:r>
            <a:endParaRPr lang="zh-CN" altLang="en-US" sz="1400" dirty="0"/>
          </a:p>
        </p:txBody>
      </p:sp>
      <p:sp>
        <p:nvSpPr>
          <p:cNvPr id="60" name="流程图: 摘录 59">
            <a:extLst>
              <a:ext uri="{FF2B5EF4-FFF2-40B4-BE49-F238E27FC236}">
                <a16:creationId xmlns:a16="http://schemas.microsoft.com/office/drawing/2014/main" id="{29EF8B0D-8023-A5BA-1CBA-B1A2770B202F}"/>
              </a:ext>
            </a:extLst>
          </p:cNvPr>
          <p:cNvSpPr/>
          <p:nvPr/>
        </p:nvSpPr>
        <p:spPr>
          <a:xfrm>
            <a:off x="5504268" y="6259831"/>
            <a:ext cx="545221" cy="192445"/>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1" name="文本框 60">
            <a:extLst>
              <a:ext uri="{FF2B5EF4-FFF2-40B4-BE49-F238E27FC236}">
                <a16:creationId xmlns:a16="http://schemas.microsoft.com/office/drawing/2014/main" id="{E5155AA3-D724-CB45-DC09-36791890821E}"/>
              </a:ext>
            </a:extLst>
          </p:cNvPr>
          <p:cNvSpPr txBox="1"/>
          <p:nvPr/>
        </p:nvSpPr>
        <p:spPr>
          <a:xfrm>
            <a:off x="5268893" y="6512978"/>
            <a:ext cx="1263933" cy="307777"/>
          </a:xfrm>
          <a:prstGeom prst="rect">
            <a:avLst/>
          </a:prstGeom>
          <a:noFill/>
        </p:spPr>
        <p:txBody>
          <a:bodyPr wrap="square" rtlCol="0">
            <a:spAutoFit/>
          </a:bodyPr>
          <a:lstStyle/>
          <a:p>
            <a:r>
              <a:rPr lang="en-US" altLang="zh-CN" sz="1400" dirty="0"/>
              <a:t>Classifier</a:t>
            </a:r>
            <a:endParaRPr lang="zh-CN" altLang="en-US" sz="1400" dirty="0"/>
          </a:p>
        </p:txBody>
      </p:sp>
      <p:sp>
        <p:nvSpPr>
          <p:cNvPr id="63" name="椭圆 62">
            <a:extLst>
              <a:ext uri="{FF2B5EF4-FFF2-40B4-BE49-F238E27FC236}">
                <a16:creationId xmlns:a16="http://schemas.microsoft.com/office/drawing/2014/main" id="{4741761E-808F-BA9E-48A4-204883C64D81}"/>
              </a:ext>
            </a:extLst>
          </p:cNvPr>
          <p:cNvSpPr/>
          <p:nvPr/>
        </p:nvSpPr>
        <p:spPr>
          <a:xfrm>
            <a:off x="6973449" y="6251937"/>
            <a:ext cx="368183" cy="2352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5" name="文本框 64">
            <a:extLst>
              <a:ext uri="{FF2B5EF4-FFF2-40B4-BE49-F238E27FC236}">
                <a16:creationId xmlns:a16="http://schemas.microsoft.com/office/drawing/2014/main" id="{873DF731-4BAE-9C25-8A8D-861C354F0CA5}"/>
              </a:ext>
            </a:extLst>
          </p:cNvPr>
          <p:cNvSpPr txBox="1"/>
          <p:nvPr/>
        </p:nvSpPr>
        <p:spPr>
          <a:xfrm>
            <a:off x="6725142" y="6487205"/>
            <a:ext cx="1263933" cy="307777"/>
          </a:xfrm>
          <a:prstGeom prst="rect">
            <a:avLst/>
          </a:prstGeom>
          <a:noFill/>
        </p:spPr>
        <p:txBody>
          <a:bodyPr wrap="square" rtlCol="0">
            <a:spAutoFit/>
          </a:bodyPr>
          <a:lstStyle/>
          <a:p>
            <a:r>
              <a:rPr lang="en-US" altLang="zh-CN" sz="1400" dirty="0"/>
              <a:t>Regressor</a:t>
            </a:r>
            <a:endParaRPr lang="zh-CN" altLang="en-US" sz="1400" dirty="0"/>
          </a:p>
        </p:txBody>
      </p:sp>
      <p:sp>
        <p:nvSpPr>
          <p:cNvPr id="67" name="矩形 66">
            <a:extLst>
              <a:ext uri="{FF2B5EF4-FFF2-40B4-BE49-F238E27FC236}">
                <a16:creationId xmlns:a16="http://schemas.microsoft.com/office/drawing/2014/main" id="{204CBD1D-3C55-4DB6-966C-046DB46219CE}"/>
              </a:ext>
            </a:extLst>
          </p:cNvPr>
          <p:cNvSpPr/>
          <p:nvPr/>
        </p:nvSpPr>
        <p:spPr>
          <a:xfrm>
            <a:off x="8644331" y="6310169"/>
            <a:ext cx="492260" cy="9177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9" name="文本框 68">
            <a:extLst>
              <a:ext uri="{FF2B5EF4-FFF2-40B4-BE49-F238E27FC236}">
                <a16:creationId xmlns:a16="http://schemas.microsoft.com/office/drawing/2014/main" id="{A07D9162-789C-8E2E-B94E-C04632AD61A4}"/>
              </a:ext>
            </a:extLst>
          </p:cNvPr>
          <p:cNvSpPr txBox="1"/>
          <p:nvPr/>
        </p:nvSpPr>
        <p:spPr>
          <a:xfrm>
            <a:off x="8204729" y="6483658"/>
            <a:ext cx="1725174" cy="307777"/>
          </a:xfrm>
          <a:prstGeom prst="rect">
            <a:avLst/>
          </a:prstGeom>
          <a:noFill/>
        </p:spPr>
        <p:txBody>
          <a:bodyPr wrap="square" rtlCol="0">
            <a:spAutoFit/>
          </a:bodyPr>
          <a:lstStyle/>
          <a:p>
            <a:r>
              <a:rPr lang="en-US" altLang="zh-CN" sz="1400" dirty="0"/>
              <a:t>Representations</a:t>
            </a:r>
            <a:endParaRPr lang="zh-CN" altLang="en-US" sz="1400" dirty="0"/>
          </a:p>
        </p:txBody>
      </p:sp>
      <p:cxnSp>
        <p:nvCxnSpPr>
          <p:cNvPr id="72" name="直接箭头连接符 71">
            <a:extLst>
              <a:ext uri="{FF2B5EF4-FFF2-40B4-BE49-F238E27FC236}">
                <a16:creationId xmlns:a16="http://schemas.microsoft.com/office/drawing/2014/main" id="{660550B0-0F2A-E55D-D38F-83DEBC10DF89}"/>
              </a:ext>
            </a:extLst>
          </p:cNvPr>
          <p:cNvCxnSpPr>
            <a:cxnSpLocks/>
          </p:cNvCxnSpPr>
          <p:nvPr/>
        </p:nvCxnSpPr>
        <p:spPr>
          <a:xfrm>
            <a:off x="10472755" y="6391037"/>
            <a:ext cx="327819" cy="0"/>
          </a:xfrm>
          <a:prstGeom prst="straightConnector1">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77" name="文本框 76">
            <a:extLst>
              <a:ext uri="{FF2B5EF4-FFF2-40B4-BE49-F238E27FC236}">
                <a16:creationId xmlns:a16="http://schemas.microsoft.com/office/drawing/2014/main" id="{91C56992-C2BB-1FF8-E1EA-9CF05AD41C8B}"/>
              </a:ext>
            </a:extLst>
          </p:cNvPr>
          <p:cNvSpPr txBox="1"/>
          <p:nvPr/>
        </p:nvSpPr>
        <p:spPr>
          <a:xfrm>
            <a:off x="9921906" y="6511306"/>
            <a:ext cx="2393996" cy="307777"/>
          </a:xfrm>
          <a:prstGeom prst="rect">
            <a:avLst/>
          </a:prstGeom>
          <a:noFill/>
        </p:spPr>
        <p:txBody>
          <a:bodyPr wrap="square" rtlCol="0">
            <a:spAutoFit/>
          </a:bodyPr>
          <a:lstStyle/>
          <a:p>
            <a:r>
              <a:rPr lang="en-US" altLang="zh-CN" sz="1400" dirty="0"/>
              <a:t>Attention interaction</a:t>
            </a:r>
            <a:endParaRPr lang="zh-CN" altLang="en-US" sz="1400" dirty="0"/>
          </a:p>
        </p:txBody>
      </p:sp>
      <p:pic>
        <p:nvPicPr>
          <p:cNvPr id="93" name="图形 92" descr="门未关闭 轮廓">
            <a:extLst>
              <a:ext uri="{FF2B5EF4-FFF2-40B4-BE49-F238E27FC236}">
                <a16:creationId xmlns:a16="http://schemas.microsoft.com/office/drawing/2014/main" id="{4F8FCCB8-9109-D652-F13A-6CAFE7BBC0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75280" y="2291239"/>
            <a:ext cx="1171911" cy="1171911"/>
          </a:xfrm>
          <a:prstGeom prst="rect">
            <a:avLst/>
          </a:prstGeom>
        </p:spPr>
      </p:pic>
      <p:sp>
        <p:nvSpPr>
          <p:cNvPr id="141" name="梯形 140">
            <a:extLst>
              <a:ext uri="{FF2B5EF4-FFF2-40B4-BE49-F238E27FC236}">
                <a16:creationId xmlns:a16="http://schemas.microsoft.com/office/drawing/2014/main" id="{DC5903B0-1881-F174-2848-A7E38F9B8ECD}"/>
              </a:ext>
            </a:extLst>
          </p:cNvPr>
          <p:cNvSpPr/>
          <p:nvPr/>
        </p:nvSpPr>
        <p:spPr>
          <a:xfrm>
            <a:off x="5212614" y="1751085"/>
            <a:ext cx="481430" cy="289058"/>
          </a:xfrm>
          <a:prstGeom prst="trapezoid">
            <a:avLst>
              <a:gd name="adj" fmla="val 44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a:extLst>
              <a:ext uri="{FF2B5EF4-FFF2-40B4-BE49-F238E27FC236}">
                <a16:creationId xmlns:a16="http://schemas.microsoft.com/office/drawing/2014/main" id="{36F97E07-930E-31C7-7647-7FAD45C77371}"/>
              </a:ext>
            </a:extLst>
          </p:cNvPr>
          <p:cNvSpPr/>
          <p:nvPr/>
        </p:nvSpPr>
        <p:spPr>
          <a:xfrm>
            <a:off x="5217529" y="1454099"/>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流程图: 摘录 143">
            <a:extLst>
              <a:ext uri="{FF2B5EF4-FFF2-40B4-BE49-F238E27FC236}">
                <a16:creationId xmlns:a16="http://schemas.microsoft.com/office/drawing/2014/main" id="{F26F3CE7-7103-0906-C2C2-D791A8408A56}"/>
              </a:ext>
            </a:extLst>
          </p:cNvPr>
          <p:cNvSpPr/>
          <p:nvPr/>
        </p:nvSpPr>
        <p:spPr>
          <a:xfrm>
            <a:off x="5150228" y="373350"/>
            <a:ext cx="513205" cy="211910"/>
          </a:xfrm>
          <a:prstGeom prst="flowChartExtra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a:extLst>
              <a:ext uri="{FF2B5EF4-FFF2-40B4-BE49-F238E27FC236}">
                <a16:creationId xmlns:a16="http://schemas.microsoft.com/office/drawing/2014/main" id="{9196E3C0-5019-1FB6-D599-931A87102959}"/>
              </a:ext>
            </a:extLst>
          </p:cNvPr>
          <p:cNvSpPr/>
          <p:nvPr/>
        </p:nvSpPr>
        <p:spPr>
          <a:xfrm>
            <a:off x="5214616" y="1258335"/>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a:extLst>
              <a:ext uri="{FF2B5EF4-FFF2-40B4-BE49-F238E27FC236}">
                <a16:creationId xmlns:a16="http://schemas.microsoft.com/office/drawing/2014/main" id="{F63D7B04-C4B0-0526-6CB8-30C0C52ABD32}"/>
              </a:ext>
            </a:extLst>
          </p:cNvPr>
          <p:cNvSpPr/>
          <p:nvPr/>
        </p:nvSpPr>
        <p:spPr>
          <a:xfrm>
            <a:off x="5921907" y="1274052"/>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a:extLst>
              <a:ext uri="{FF2B5EF4-FFF2-40B4-BE49-F238E27FC236}">
                <a16:creationId xmlns:a16="http://schemas.microsoft.com/office/drawing/2014/main" id="{3BAFCFC0-7145-E8A2-4262-27F810668DF5}"/>
              </a:ext>
            </a:extLst>
          </p:cNvPr>
          <p:cNvSpPr/>
          <p:nvPr/>
        </p:nvSpPr>
        <p:spPr>
          <a:xfrm>
            <a:off x="5925950" y="1463633"/>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梯形 148">
            <a:extLst>
              <a:ext uri="{FF2B5EF4-FFF2-40B4-BE49-F238E27FC236}">
                <a16:creationId xmlns:a16="http://schemas.microsoft.com/office/drawing/2014/main" id="{2EBBF87B-5FAF-FC35-E2BA-AA6E9F2861BA}"/>
              </a:ext>
            </a:extLst>
          </p:cNvPr>
          <p:cNvSpPr/>
          <p:nvPr/>
        </p:nvSpPr>
        <p:spPr>
          <a:xfrm>
            <a:off x="5921907" y="1763983"/>
            <a:ext cx="481430" cy="289058"/>
          </a:xfrm>
          <a:prstGeom prst="trapezoid">
            <a:avLst>
              <a:gd name="adj" fmla="val 44072"/>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66" name="直接箭头连接符 165">
            <a:extLst>
              <a:ext uri="{FF2B5EF4-FFF2-40B4-BE49-F238E27FC236}">
                <a16:creationId xmlns:a16="http://schemas.microsoft.com/office/drawing/2014/main" id="{96F31017-990B-833E-16BD-510937C65B24}"/>
              </a:ext>
            </a:extLst>
          </p:cNvPr>
          <p:cNvCxnSpPr>
            <a:stCxn id="141" idx="0"/>
            <a:endCxn id="143" idx="2"/>
          </p:cNvCxnSpPr>
          <p:nvPr/>
        </p:nvCxnSpPr>
        <p:spPr>
          <a:xfrm flipH="1" flipV="1">
            <a:off x="5449207" y="1548644"/>
            <a:ext cx="4122" cy="2024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7" name="直接箭头连接符 166">
            <a:extLst>
              <a:ext uri="{FF2B5EF4-FFF2-40B4-BE49-F238E27FC236}">
                <a16:creationId xmlns:a16="http://schemas.microsoft.com/office/drawing/2014/main" id="{75E2E59E-6882-C3A4-4F0E-D37D9A57D606}"/>
              </a:ext>
            </a:extLst>
          </p:cNvPr>
          <p:cNvCxnSpPr>
            <a:stCxn id="143" idx="0"/>
            <a:endCxn id="146" idx="2"/>
          </p:cNvCxnSpPr>
          <p:nvPr/>
        </p:nvCxnSpPr>
        <p:spPr>
          <a:xfrm flipH="1" flipV="1">
            <a:off x="5446293" y="1352879"/>
            <a:ext cx="2913" cy="101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8" name="直接箭头连接符 167">
            <a:extLst>
              <a:ext uri="{FF2B5EF4-FFF2-40B4-BE49-F238E27FC236}">
                <a16:creationId xmlns:a16="http://schemas.microsoft.com/office/drawing/2014/main" id="{B49EE947-B290-AC57-44DD-2F0B0FDBF4BB}"/>
              </a:ext>
            </a:extLst>
          </p:cNvPr>
          <p:cNvCxnSpPr>
            <a:stCxn id="149" idx="0"/>
            <a:endCxn id="148" idx="2"/>
          </p:cNvCxnSpPr>
          <p:nvPr/>
        </p:nvCxnSpPr>
        <p:spPr>
          <a:xfrm flipH="1" flipV="1">
            <a:off x="6157627" y="1558177"/>
            <a:ext cx="4995" cy="205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9" name="直接箭头连接符 168">
            <a:extLst>
              <a:ext uri="{FF2B5EF4-FFF2-40B4-BE49-F238E27FC236}">
                <a16:creationId xmlns:a16="http://schemas.microsoft.com/office/drawing/2014/main" id="{004E8D16-0222-00C3-9EAC-9A87EF3295D7}"/>
              </a:ext>
            </a:extLst>
          </p:cNvPr>
          <p:cNvCxnSpPr>
            <a:stCxn id="148" idx="0"/>
            <a:endCxn id="147" idx="2"/>
          </p:cNvCxnSpPr>
          <p:nvPr/>
        </p:nvCxnSpPr>
        <p:spPr>
          <a:xfrm flipH="1" flipV="1">
            <a:off x="6153585" y="1368596"/>
            <a:ext cx="4043" cy="95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0" name="矩形 169">
            <a:extLst>
              <a:ext uri="{FF2B5EF4-FFF2-40B4-BE49-F238E27FC236}">
                <a16:creationId xmlns:a16="http://schemas.microsoft.com/office/drawing/2014/main" id="{73DFC2A5-A7B7-10F9-7C8F-7A8DE6CE3D9A}"/>
              </a:ext>
            </a:extLst>
          </p:cNvPr>
          <p:cNvSpPr/>
          <p:nvPr/>
        </p:nvSpPr>
        <p:spPr>
          <a:xfrm>
            <a:off x="5921907" y="1032266"/>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2" name="直接箭头连接符 171">
            <a:extLst>
              <a:ext uri="{FF2B5EF4-FFF2-40B4-BE49-F238E27FC236}">
                <a16:creationId xmlns:a16="http://schemas.microsoft.com/office/drawing/2014/main" id="{3FFAD22A-EFE3-0854-D839-41BFA11591DA}"/>
              </a:ext>
            </a:extLst>
          </p:cNvPr>
          <p:cNvCxnSpPr>
            <a:cxnSpLocks/>
            <a:stCxn id="147" idx="0"/>
            <a:endCxn id="170" idx="2"/>
          </p:cNvCxnSpPr>
          <p:nvPr/>
        </p:nvCxnSpPr>
        <p:spPr>
          <a:xfrm flipH="1" flipV="1">
            <a:off x="6153584" y="1133317"/>
            <a:ext cx="1" cy="1407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3" name="直接箭头连接符 172">
            <a:extLst>
              <a:ext uri="{FF2B5EF4-FFF2-40B4-BE49-F238E27FC236}">
                <a16:creationId xmlns:a16="http://schemas.microsoft.com/office/drawing/2014/main" id="{02BA6699-EC5D-1252-39A9-FD1C094D7D65}"/>
              </a:ext>
            </a:extLst>
          </p:cNvPr>
          <p:cNvCxnSpPr>
            <a:cxnSpLocks/>
            <a:stCxn id="170" idx="0"/>
            <a:endCxn id="144" idx="2"/>
          </p:cNvCxnSpPr>
          <p:nvPr/>
        </p:nvCxnSpPr>
        <p:spPr>
          <a:xfrm flipH="1" flipV="1">
            <a:off x="5406831" y="585260"/>
            <a:ext cx="746753" cy="4470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4" name="矩形 173">
            <a:extLst>
              <a:ext uri="{FF2B5EF4-FFF2-40B4-BE49-F238E27FC236}">
                <a16:creationId xmlns:a16="http://schemas.microsoft.com/office/drawing/2014/main" id="{5E0FF45D-998F-468E-B43B-2C47EC54E501}"/>
              </a:ext>
            </a:extLst>
          </p:cNvPr>
          <p:cNvSpPr/>
          <p:nvPr/>
        </p:nvSpPr>
        <p:spPr>
          <a:xfrm>
            <a:off x="5204036" y="1032266"/>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7" name="直接箭头连接符 176">
            <a:extLst>
              <a:ext uri="{FF2B5EF4-FFF2-40B4-BE49-F238E27FC236}">
                <a16:creationId xmlns:a16="http://schemas.microsoft.com/office/drawing/2014/main" id="{3DE560A3-1F4E-B214-EB2B-8B549272B9D0}"/>
              </a:ext>
            </a:extLst>
          </p:cNvPr>
          <p:cNvCxnSpPr>
            <a:stCxn id="146" idx="0"/>
            <a:endCxn id="174" idx="2"/>
          </p:cNvCxnSpPr>
          <p:nvPr/>
        </p:nvCxnSpPr>
        <p:spPr>
          <a:xfrm flipH="1" flipV="1">
            <a:off x="5435713" y="1133318"/>
            <a:ext cx="10580" cy="125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8" name="直接箭头连接符 177">
            <a:extLst>
              <a:ext uri="{FF2B5EF4-FFF2-40B4-BE49-F238E27FC236}">
                <a16:creationId xmlns:a16="http://schemas.microsoft.com/office/drawing/2014/main" id="{A2B62334-B6D3-E6BF-523D-F3711C57C800}"/>
              </a:ext>
            </a:extLst>
          </p:cNvPr>
          <p:cNvCxnSpPr>
            <a:stCxn id="174" idx="0"/>
            <a:endCxn id="144" idx="2"/>
          </p:cNvCxnSpPr>
          <p:nvPr/>
        </p:nvCxnSpPr>
        <p:spPr>
          <a:xfrm flipH="1" flipV="1">
            <a:off x="5406831" y="585260"/>
            <a:ext cx="28882" cy="4470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9" name="梯形 178">
            <a:extLst>
              <a:ext uri="{FF2B5EF4-FFF2-40B4-BE49-F238E27FC236}">
                <a16:creationId xmlns:a16="http://schemas.microsoft.com/office/drawing/2014/main" id="{D837B928-BC55-43E2-9E58-4C41218DFFFD}"/>
              </a:ext>
            </a:extLst>
          </p:cNvPr>
          <p:cNvSpPr/>
          <p:nvPr/>
        </p:nvSpPr>
        <p:spPr>
          <a:xfrm>
            <a:off x="4527193" y="1774817"/>
            <a:ext cx="511463" cy="262507"/>
          </a:xfrm>
          <a:prstGeom prst="trapezoid">
            <a:avLst>
              <a:gd name="adj" fmla="val 44072"/>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80" name="矩形 179">
            <a:extLst>
              <a:ext uri="{FF2B5EF4-FFF2-40B4-BE49-F238E27FC236}">
                <a16:creationId xmlns:a16="http://schemas.microsoft.com/office/drawing/2014/main" id="{FF0126D9-32EE-BFED-ACF2-477C7AA25157}"/>
              </a:ext>
            </a:extLst>
          </p:cNvPr>
          <p:cNvSpPr/>
          <p:nvPr/>
        </p:nvSpPr>
        <p:spPr>
          <a:xfrm>
            <a:off x="4564995" y="1454099"/>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a:extLst>
              <a:ext uri="{FF2B5EF4-FFF2-40B4-BE49-F238E27FC236}">
                <a16:creationId xmlns:a16="http://schemas.microsoft.com/office/drawing/2014/main" id="{2804DB52-BB61-A906-C63E-BBF55A5A25EF}"/>
              </a:ext>
            </a:extLst>
          </p:cNvPr>
          <p:cNvSpPr/>
          <p:nvPr/>
        </p:nvSpPr>
        <p:spPr>
          <a:xfrm>
            <a:off x="4562082" y="1258335"/>
            <a:ext cx="463354" cy="94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2" name="直接箭头连接符 181">
            <a:extLst>
              <a:ext uri="{FF2B5EF4-FFF2-40B4-BE49-F238E27FC236}">
                <a16:creationId xmlns:a16="http://schemas.microsoft.com/office/drawing/2014/main" id="{4143A66D-2806-1C38-801A-BA9FE5DABDFF}"/>
              </a:ext>
            </a:extLst>
          </p:cNvPr>
          <p:cNvCxnSpPr>
            <a:stCxn id="180" idx="0"/>
            <a:endCxn id="181" idx="2"/>
          </p:cNvCxnSpPr>
          <p:nvPr/>
        </p:nvCxnSpPr>
        <p:spPr>
          <a:xfrm flipH="1" flipV="1">
            <a:off x="4793759" y="1352879"/>
            <a:ext cx="2913" cy="101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3" name="矩形 182">
            <a:extLst>
              <a:ext uri="{FF2B5EF4-FFF2-40B4-BE49-F238E27FC236}">
                <a16:creationId xmlns:a16="http://schemas.microsoft.com/office/drawing/2014/main" id="{2C88BDFB-3FDB-6750-5DEA-F7161F6FA08A}"/>
              </a:ext>
            </a:extLst>
          </p:cNvPr>
          <p:cNvSpPr/>
          <p:nvPr/>
        </p:nvSpPr>
        <p:spPr>
          <a:xfrm>
            <a:off x="4551502" y="1032266"/>
            <a:ext cx="463354" cy="10105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4" name="直接箭头连接符 183">
            <a:extLst>
              <a:ext uri="{FF2B5EF4-FFF2-40B4-BE49-F238E27FC236}">
                <a16:creationId xmlns:a16="http://schemas.microsoft.com/office/drawing/2014/main" id="{8F779AF6-BC78-4558-9161-B34B23203C76}"/>
              </a:ext>
            </a:extLst>
          </p:cNvPr>
          <p:cNvCxnSpPr>
            <a:stCxn id="181" idx="0"/>
            <a:endCxn id="183" idx="2"/>
          </p:cNvCxnSpPr>
          <p:nvPr/>
        </p:nvCxnSpPr>
        <p:spPr>
          <a:xfrm flipH="1" flipV="1">
            <a:off x="4783179" y="1133318"/>
            <a:ext cx="10580" cy="125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6" name="直接箭头连接符 185">
            <a:extLst>
              <a:ext uri="{FF2B5EF4-FFF2-40B4-BE49-F238E27FC236}">
                <a16:creationId xmlns:a16="http://schemas.microsoft.com/office/drawing/2014/main" id="{EE0A4323-4B42-0F15-4B42-0F94FFE09DBB}"/>
              </a:ext>
            </a:extLst>
          </p:cNvPr>
          <p:cNvCxnSpPr>
            <a:stCxn id="179" idx="0"/>
            <a:endCxn id="180" idx="2"/>
          </p:cNvCxnSpPr>
          <p:nvPr/>
        </p:nvCxnSpPr>
        <p:spPr>
          <a:xfrm flipV="1">
            <a:off x="4782925" y="1548643"/>
            <a:ext cx="13747" cy="2261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0" name="直接箭头连接符 189">
            <a:extLst>
              <a:ext uri="{FF2B5EF4-FFF2-40B4-BE49-F238E27FC236}">
                <a16:creationId xmlns:a16="http://schemas.microsoft.com/office/drawing/2014/main" id="{4BC526EB-0BA0-F222-EDE0-DF37FE04F7C5}"/>
              </a:ext>
            </a:extLst>
          </p:cNvPr>
          <p:cNvCxnSpPr>
            <a:stCxn id="183" idx="0"/>
            <a:endCxn id="144" idx="2"/>
          </p:cNvCxnSpPr>
          <p:nvPr/>
        </p:nvCxnSpPr>
        <p:spPr>
          <a:xfrm flipV="1">
            <a:off x="4783179" y="585260"/>
            <a:ext cx="623652" cy="4470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8" name="任意多边形: 形状 197">
            <a:extLst>
              <a:ext uri="{FF2B5EF4-FFF2-40B4-BE49-F238E27FC236}">
                <a16:creationId xmlns:a16="http://schemas.microsoft.com/office/drawing/2014/main" id="{9E4212D8-310F-9CD6-A1F6-B138DB069EAA}"/>
              </a:ext>
            </a:extLst>
          </p:cNvPr>
          <p:cNvSpPr/>
          <p:nvPr/>
        </p:nvSpPr>
        <p:spPr>
          <a:xfrm>
            <a:off x="5615434" y="3117850"/>
            <a:ext cx="845381" cy="1257300"/>
          </a:xfrm>
          <a:custGeom>
            <a:avLst/>
            <a:gdLst>
              <a:gd name="connsiteX0" fmla="*/ 677416 w 845381"/>
              <a:gd name="connsiteY0" fmla="*/ 1257300 h 1257300"/>
              <a:gd name="connsiteX1" fmla="*/ 804416 w 845381"/>
              <a:gd name="connsiteY1" fmla="*/ 508000 h 1257300"/>
              <a:gd name="connsiteX2" fmla="*/ 48766 w 845381"/>
              <a:gd name="connsiteY2" fmla="*/ 228600 h 1257300"/>
              <a:gd name="connsiteX3" fmla="*/ 137666 w 845381"/>
              <a:gd name="connsiteY3" fmla="*/ 0 h 1257300"/>
            </a:gdLst>
            <a:ahLst/>
            <a:cxnLst>
              <a:cxn ang="0">
                <a:pos x="connsiteX0" y="connsiteY0"/>
              </a:cxn>
              <a:cxn ang="0">
                <a:pos x="connsiteX1" y="connsiteY1"/>
              </a:cxn>
              <a:cxn ang="0">
                <a:pos x="connsiteX2" y="connsiteY2"/>
              </a:cxn>
              <a:cxn ang="0">
                <a:pos x="connsiteX3" y="connsiteY3"/>
              </a:cxn>
            </a:cxnLst>
            <a:rect l="l" t="t" r="r" b="b"/>
            <a:pathLst>
              <a:path w="845381" h="1257300">
                <a:moveTo>
                  <a:pt x="677416" y="1257300"/>
                </a:moveTo>
                <a:cubicBezTo>
                  <a:pt x="793303" y="968375"/>
                  <a:pt x="909191" y="679450"/>
                  <a:pt x="804416" y="508000"/>
                </a:cubicBezTo>
                <a:cubicBezTo>
                  <a:pt x="699641" y="336550"/>
                  <a:pt x="159891" y="313267"/>
                  <a:pt x="48766" y="228600"/>
                </a:cubicBezTo>
                <a:cubicBezTo>
                  <a:pt x="-62359" y="143933"/>
                  <a:pt x="37653" y="71966"/>
                  <a:pt x="137666"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任意多边形: 形状 199">
            <a:extLst>
              <a:ext uri="{FF2B5EF4-FFF2-40B4-BE49-F238E27FC236}">
                <a16:creationId xmlns:a16="http://schemas.microsoft.com/office/drawing/2014/main" id="{27CD4A8A-7F0D-06FD-05F8-27DD94B4D04F}"/>
              </a:ext>
            </a:extLst>
          </p:cNvPr>
          <p:cNvSpPr/>
          <p:nvPr/>
        </p:nvSpPr>
        <p:spPr>
          <a:xfrm>
            <a:off x="2857500" y="2770941"/>
            <a:ext cx="2952750" cy="1629609"/>
          </a:xfrm>
          <a:custGeom>
            <a:avLst/>
            <a:gdLst>
              <a:gd name="connsiteX0" fmla="*/ 0 w 2952750"/>
              <a:gd name="connsiteY0" fmla="*/ 1629609 h 1629609"/>
              <a:gd name="connsiteX1" fmla="*/ 2190750 w 2952750"/>
              <a:gd name="connsiteY1" fmla="*/ 99259 h 1629609"/>
              <a:gd name="connsiteX2" fmla="*/ 2952750 w 2952750"/>
              <a:gd name="connsiteY2" fmla="*/ 277059 h 1629609"/>
            </a:gdLst>
            <a:ahLst/>
            <a:cxnLst>
              <a:cxn ang="0">
                <a:pos x="connsiteX0" y="connsiteY0"/>
              </a:cxn>
              <a:cxn ang="0">
                <a:pos x="connsiteX1" y="connsiteY1"/>
              </a:cxn>
              <a:cxn ang="0">
                <a:pos x="connsiteX2" y="connsiteY2"/>
              </a:cxn>
            </a:cxnLst>
            <a:rect l="l" t="t" r="r" b="b"/>
            <a:pathLst>
              <a:path w="2952750" h="1629609">
                <a:moveTo>
                  <a:pt x="0" y="1629609"/>
                </a:moveTo>
                <a:cubicBezTo>
                  <a:pt x="849312" y="977146"/>
                  <a:pt x="1698625" y="324684"/>
                  <a:pt x="2190750" y="99259"/>
                </a:cubicBezTo>
                <a:cubicBezTo>
                  <a:pt x="2682875" y="-126166"/>
                  <a:pt x="2817812" y="75446"/>
                  <a:pt x="2952750" y="27705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任意多边形: 形状 203">
            <a:extLst>
              <a:ext uri="{FF2B5EF4-FFF2-40B4-BE49-F238E27FC236}">
                <a16:creationId xmlns:a16="http://schemas.microsoft.com/office/drawing/2014/main" id="{CA4A525A-6C5A-B205-FA8D-4785E1AAB36A}"/>
              </a:ext>
            </a:extLst>
          </p:cNvPr>
          <p:cNvSpPr/>
          <p:nvPr/>
        </p:nvSpPr>
        <p:spPr>
          <a:xfrm>
            <a:off x="5257507" y="2511089"/>
            <a:ext cx="3383573" cy="1801831"/>
          </a:xfrm>
          <a:custGeom>
            <a:avLst/>
            <a:gdLst>
              <a:gd name="connsiteX0" fmla="*/ 3383573 w 3383573"/>
              <a:gd name="connsiteY0" fmla="*/ 1801831 h 1801831"/>
              <a:gd name="connsiteX1" fmla="*/ 221273 w 3383573"/>
              <a:gd name="connsiteY1" fmla="*/ 155911 h 1801831"/>
              <a:gd name="connsiteX2" fmla="*/ 518453 w 3383573"/>
              <a:gd name="connsiteY2" fmla="*/ 163531 h 1801831"/>
            </a:gdLst>
            <a:ahLst/>
            <a:cxnLst>
              <a:cxn ang="0">
                <a:pos x="connsiteX0" y="connsiteY0"/>
              </a:cxn>
              <a:cxn ang="0">
                <a:pos x="connsiteX1" y="connsiteY1"/>
              </a:cxn>
              <a:cxn ang="0">
                <a:pos x="connsiteX2" y="connsiteY2"/>
              </a:cxn>
            </a:cxnLst>
            <a:rect l="l" t="t" r="r" b="b"/>
            <a:pathLst>
              <a:path w="3383573" h="1801831">
                <a:moveTo>
                  <a:pt x="3383573" y="1801831"/>
                </a:moveTo>
                <a:lnTo>
                  <a:pt x="221273" y="155911"/>
                </a:lnTo>
                <a:cubicBezTo>
                  <a:pt x="-256247" y="-117139"/>
                  <a:pt x="131103" y="23196"/>
                  <a:pt x="518453" y="16353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任意多边形: 形状 204">
            <a:extLst>
              <a:ext uri="{FF2B5EF4-FFF2-40B4-BE49-F238E27FC236}">
                <a16:creationId xmlns:a16="http://schemas.microsoft.com/office/drawing/2014/main" id="{16443349-B71D-E88F-FC86-C67CBA5C6635}"/>
              </a:ext>
            </a:extLst>
          </p:cNvPr>
          <p:cNvSpPr/>
          <p:nvPr/>
        </p:nvSpPr>
        <p:spPr>
          <a:xfrm>
            <a:off x="3859870" y="1074420"/>
            <a:ext cx="1588430" cy="1310640"/>
          </a:xfrm>
          <a:custGeom>
            <a:avLst/>
            <a:gdLst>
              <a:gd name="connsiteX0" fmla="*/ 1588430 w 1588430"/>
              <a:gd name="connsiteY0" fmla="*/ 1310640 h 1310640"/>
              <a:gd name="connsiteX1" fmla="*/ 18710 w 1588430"/>
              <a:gd name="connsiteY1" fmla="*/ 838200 h 1310640"/>
              <a:gd name="connsiteX2" fmla="*/ 681650 w 1588430"/>
              <a:gd name="connsiteY2" fmla="*/ 0 h 1310640"/>
              <a:gd name="connsiteX3" fmla="*/ 681650 w 1588430"/>
              <a:gd name="connsiteY3" fmla="*/ 0 h 1310640"/>
            </a:gdLst>
            <a:ahLst/>
            <a:cxnLst>
              <a:cxn ang="0">
                <a:pos x="connsiteX0" y="connsiteY0"/>
              </a:cxn>
              <a:cxn ang="0">
                <a:pos x="connsiteX1" y="connsiteY1"/>
              </a:cxn>
              <a:cxn ang="0">
                <a:pos x="connsiteX2" y="connsiteY2"/>
              </a:cxn>
              <a:cxn ang="0">
                <a:pos x="connsiteX3" y="connsiteY3"/>
              </a:cxn>
            </a:cxnLst>
            <a:rect l="l" t="t" r="r" b="b"/>
            <a:pathLst>
              <a:path w="1588430" h="1310640">
                <a:moveTo>
                  <a:pt x="1588430" y="1310640"/>
                </a:moveTo>
                <a:cubicBezTo>
                  <a:pt x="879135" y="1183640"/>
                  <a:pt x="169840" y="1056640"/>
                  <a:pt x="18710" y="838200"/>
                </a:cubicBezTo>
                <a:cubicBezTo>
                  <a:pt x="-132420" y="619760"/>
                  <a:pt x="681650" y="0"/>
                  <a:pt x="681650" y="0"/>
                </a:cubicBezTo>
                <a:lnTo>
                  <a:pt x="681650"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任意多边形: 形状 205">
            <a:extLst>
              <a:ext uri="{FF2B5EF4-FFF2-40B4-BE49-F238E27FC236}">
                <a16:creationId xmlns:a16="http://schemas.microsoft.com/office/drawing/2014/main" id="{5DE52189-FEDB-197E-315D-9BDEA9CF5F11}"/>
              </a:ext>
            </a:extLst>
          </p:cNvPr>
          <p:cNvSpPr/>
          <p:nvPr/>
        </p:nvSpPr>
        <p:spPr>
          <a:xfrm>
            <a:off x="5532120" y="1073663"/>
            <a:ext cx="320110" cy="1319017"/>
          </a:xfrm>
          <a:custGeom>
            <a:avLst/>
            <a:gdLst>
              <a:gd name="connsiteX0" fmla="*/ 22860 w 320110"/>
              <a:gd name="connsiteY0" fmla="*/ 1319017 h 1319017"/>
              <a:gd name="connsiteX1" fmla="*/ 320040 w 320110"/>
              <a:gd name="connsiteY1" fmla="*/ 214117 h 1319017"/>
              <a:gd name="connsiteX2" fmla="*/ 0 w 320110"/>
              <a:gd name="connsiteY2" fmla="*/ 757 h 1319017"/>
            </a:gdLst>
            <a:ahLst/>
            <a:cxnLst>
              <a:cxn ang="0">
                <a:pos x="connsiteX0" y="connsiteY0"/>
              </a:cxn>
              <a:cxn ang="0">
                <a:pos x="connsiteX1" y="connsiteY1"/>
              </a:cxn>
              <a:cxn ang="0">
                <a:pos x="connsiteX2" y="connsiteY2"/>
              </a:cxn>
            </a:cxnLst>
            <a:rect l="l" t="t" r="r" b="b"/>
            <a:pathLst>
              <a:path w="320110" h="1319017">
                <a:moveTo>
                  <a:pt x="22860" y="1319017"/>
                </a:moveTo>
                <a:cubicBezTo>
                  <a:pt x="173355" y="876422"/>
                  <a:pt x="323850" y="433827"/>
                  <a:pt x="320040" y="214117"/>
                </a:cubicBezTo>
                <a:cubicBezTo>
                  <a:pt x="316230" y="-5593"/>
                  <a:pt x="158115" y="-2418"/>
                  <a:pt x="0" y="75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任意多边形: 形状 206">
            <a:extLst>
              <a:ext uri="{FF2B5EF4-FFF2-40B4-BE49-F238E27FC236}">
                <a16:creationId xmlns:a16="http://schemas.microsoft.com/office/drawing/2014/main" id="{6854FE51-F98A-8FAB-98F9-FF97A43DDB3E}"/>
              </a:ext>
            </a:extLst>
          </p:cNvPr>
          <p:cNvSpPr/>
          <p:nvPr/>
        </p:nvSpPr>
        <p:spPr>
          <a:xfrm>
            <a:off x="5600700" y="1325880"/>
            <a:ext cx="1815533" cy="1066800"/>
          </a:xfrm>
          <a:custGeom>
            <a:avLst/>
            <a:gdLst>
              <a:gd name="connsiteX0" fmla="*/ 0 w 1815533"/>
              <a:gd name="connsiteY0" fmla="*/ 1066800 h 1066800"/>
              <a:gd name="connsiteX1" fmla="*/ 1798320 w 1815533"/>
              <a:gd name="connsiteY1" fmla="*/ 563880 h 1066800"/>
              <a:gd name="connsiteX2" fmla="*/ 754380 w 1815533"/>
              <a:gd name="connsiteY2" fmla="*/ 0 h 1066800"/>
            </a:gdLst>
            <a:ahLst/>
            <a:cxnLst>
              <a:cxn ang="0">
                <a:pos x="connsiteX0" y="connsiteY0"/>
              </a:cxn>
              <a:cxn ang="0">
                <a:pos x="connsiteX1" y="connsiteY1"/>
              </a:cxn>
              <a:cxn ang="0">
                <a:pos x="connsiteX2" y="connsiteY2"/>
              </a:cxn>
            </a:cxnLst>
            <a:rect l="l" t="t" r="r" b="b"/>
            <a:pathLst>
              <a:path w="1815533" h="1066800">
                <a:moveTo>
                  <a:pt x="0" y="1066800"/>
                </a:moveTo>
                <a:cubicBezTo>
                  <a:pt x="836295" y="904240"/>
                  <a:pt x="1672590" y="741680"/>
                  <a:pt x="1798320" y="563880"/>
                </a:cubicBezTo>
                <a:cubicBezTo>
                  <a:pt x="1924050" y="386080"/>
                  <a:pt x="1339215" y="193040"/>
                  <a:pt x="75438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矩形 209">
            <a:extLst>
              <a:ext uri="{FF2B5EF4-FFF2-40B4-BE49-F238E27FC236}">
                <a16:creationId xmlns:a16="http://schemas.microsoft.com/office/drawing/2014/main" id="{23A8AC6D-42A9-F877-CA75-30D13C251618}"/>
              </a:ext>
            </a:extLst>
          </p:cNvPr>
          <p:cNvSpPr/>
          <p:nvPr/>
        </p:nvSpPr>
        <p:spPr>
          <a:xfrm>
            <a:off x="347424" y="1963368"/>
            <a:ext cx="291608" cy="289059"/>
          </a:xfrm>
          <a:prstGeom prst="rect">
            <a:avLst/>
          </a:prstGeom>
          <a:solidFill>
            <a:srgbClr val="969F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矩形 210">
            <a:extLst>
              <a:ext uri="{FF2B5EF4-FFF2-40B4-BE49-F238E27FC236}">
                <a16:creationId xmlns:a16="http://schemas.microsoft.com/office/drawing/2014/main" id="{F0DED5CC-5DE3-8AC2-FE6F-314C23F3909C}"/>
              </a:ext>
            </a:extLst>
          </p:cNvPr>
          <p:cNvSpPr/>
          <p:nvPr/>
        </p:nvSpPr>
        <p:spPr>
          <a:xfrm>
            <a:off x="997964" y="1963368"/>
            <a:ext cx="291608" cy="289059"/>
          </a:xfrm>
          <a:prstGeom prst="rect">
            <a:avLst/>
          </a:prstGeom>
          <a:solidFill>
            <a:srgbClr val="969F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矩形 212">
            <a:extLst>
              <a:ext uri="{FF2B5EF4-FFF2-40B4-BE49-F238E27FC236}">
                <a16:creationId xmlns:a16="http://schemas.microsoft.com/office/drawing/2014/main" id="{27A345B6-2743-FB0F-808E-324CC523B13C}"/>
              </a:ext>
            </a:extLst>
          </p:cNvPr>
          <p:cNvSpPr/>
          <p:nvPr/>
        </p:nvSpPr>
        <p:spPr>
          <a:xfrm>
            <a:off x="2210198" y="1956617"/>
            <a:ext cx="291608" cy="289059"/>
          </a:xfrm>
          <a:prstGeom prst="rect">
            <a:avLst/>
          </a:prstGeom>
          <a:solidFill>
            <a:srgbClr val="969F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8" name="组合 217">
            <a:extLst>
              <a:ext uri="{FF2B5EF4-FFF2-40B4-BE49-F238E27FC236}">
                <a16:creationId xmlns:a16="http://schemas.microsoft.com/office/drawing/2014/main" id="{1BF864B3-AFE3-706B-6D28-2B0EEA76CBCD}"/>
              </a:ext>
            </a:extLst>
          </p:cNvPr>
          <p:cNvGrpSpPr/>
          <p:nvPr/>
        </p:nvGrpSpPr>
        <p:grpSpPr>
          <a:xfrm>
            <a:off x="1468790" y="2086442"/>
            <a:ext cx="581025" cy="76200"/>
            <a:chOff x="3262313" y="2762250"/>
            <a:chExt cx="581025" cy="76200"/>
          </a:xfrm>
          <a:noFill/>
        </p:grpSpPr>
        <p:sp>
          <p:nvSpPr>
            <p:cNvPr id="215" name="椭圆 214">
              <a:extLst>
                <a:ext uri="{FF2B5EF4-FFF2-40B4-BE49-F238E27FC236}">
                  <a16:creationId xmlns:a16="http://schemas.microsoft.com/office/drawing/2014/main" id="{B8CAD525-51DC-A627-9532-BBF0FE2B08C6}"/>
                </a:ext>
              </a:extLst>
            </p:cNvPr>
            <p:cNvSpPr/>
            <p:nvPr/>
          </p:nvSpPr>
          <p:spPr>
            <a:xfrm>
              <a:off x="3262313" y="2762250"/>
              <a:ext cx="71437" cy="71437"/>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a:extLst>
                <a:ext uri="{FF2B5EF4-FFF2-40B4-BE49-F238E27FC236}">
                  <a16:creationId xmlns:a16="http://schemas.microsoft.com/office/drawing/2014/main" id="{3E1869D1-D1EC-96F3-B9E7-F199D9549B70}"/>
                </a:ext>
              </a:extLst>
            </p:cNvPr>
            <p:cNvSpPr/>
            <p:nvPr/>
          </p:nvSpPr>
          <p:spPr>
            <a:xfrm>
              <a:off x="3526818" y="2762251"/>
              <a:ext cx="71437" cy="71437"/>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椭圆 216">
              <a:extLst>
                <a:ext uri="{FF2B5EF4-FFF2-40B4-BE49-F238E27FC236}">
                  <a16:creationId xmlns:a16="http://schemas.microsoft.com/office/drawing/2014/main" id="{69A11B0E-61DE-2C55-B108-937B4F68D525}"/>
                </a:ext>
              </a:extLst>
            </p:cNvPr>
            <p:cNvSpPr/>
            <p:nvPr/>
          </p:nvSpPr>
          <p:spPr>
            <a:xfrm>
              <a:off x="3771901" y="2767013"/>
              <a:ext cx="71437" cy="71437"/>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20" name="直接箭头连接符 219">
            <a:extLst>
              <a:ext uri="{FF2B5EF4-FFF2-40B4-BE49-F238E27FC236}">
                <a16:creationId xmlns:a16="http://schemas.microsoft.com/office/drawing/2014/main" id="{36CCE9E0-BDAE-8E8B-2CD1-01400A4EC82D}"/>
              </a:ext>
            </a:extLst>
          </p:cNvPr>
          <p:cNvCxnSpPr>
            <a:stCxn id="200" idx="1"/>
            <a:endCxn id="213" idx="3"/>
          </p:cNvCxnSpPr>
          <p:nvPr/>
        </p:nvCxnSpPr>
        <p:spPr>
          <a:xfrm flipH="1" flipV="1">
            <a:off x="2501806" y="2101147"/>
            <a:ext cx="2546444" cy="7690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1" name="文本框 220">
            <a:extLst>
              <a:ext uri="{FF2B5EF4-FFF2-40B4-BE49-F238E27FC236}">
                <a16:creationId xmlns:a16="http://schemas.microsoft.com/office/drawing/2014/main" id="{41D40B3D-54AE-8821-832F-80E3F0923E55}"/>
              </a:ext>
            </a:extLst>
          </p:cNvPr>
          <p:cNvSpPr txBox="1"/>
          <p:nvPr/>
        </p:nvSpPr>
        <p:spPr>
          <a:xfrm>
            <a:off x="796043" y="2389180"/>
            <a:ext cx="1436425" cy="369332"/>
          </a:xfrm>
          <a:prstGeom prst="rect">
            <a:avLst/>
          </a:prstGeom>
          <a:noFill/>
        </p:spPr>
        <p:txBody>
          <a:bodyPr wrap="square" rtlCol="0">
            <a:spAutoFit/>
          </a:bodyPr>
          <a:lstStyle/>
          <a:p>
            <a:r>
              <a:rPr lang="en-US" altLang="zh-CN" dirty="0"/>
              <a:t>Experts</a:t>
            </a:r>
            <a:r>
              <a:rPr lang="zh-CN" altLang="en-US" dirty="0"/>
              <a:t>网络</a:t>
            </a:r>
          </a:p>
        </p:txBody>
      </p:sp>
      <p:sp>
        <p:nvSpPr>
          <p:cNvPr id="222" name="文本框 221">
            <a:extLst>
              <a:ext uri="{FF2B5EF4-FFF2-40B4-BE49-F238E27FC236}">
                <a16:creationId xmlns:a16="http://schemas.microsoft.com/office/drawing/2014/main" id="{03A5CED5-6944-638A-CEF9-B767FC015865}"/>
              </a:ext>
            </a:extLst>
          </p:cNvPr>
          <p:cNvSpPr txBox="1"/>
          <p:nvPr/>
        </p:nvSpPr>
        <p:spPr>
          <a:xfrm>
            <a:off x="858498" y="488626"/>
            <a:ext cx="4291730" cy="338554"/>
          </a:xfrm>
          <a:prstGeom prst="rect">
            <a:avLst/>
          </a:prstGeom>
          <a:noFill/>
        </p:spPr>
        <p:txBody>
          <a:bodyPr wrap="square" rtlCol="0">
            <a:spAutoFit/>
          </a:bodyPr>
          <a:lstStyle/>
          <a:p>
            <a:r>
              <a:rPr lang="zh-CN" altLang="en-US" sz="1600" b="1" dirty="0"/>
              <a:t>全局模型</a:t>
            </a:r>
            <a:r>
              <a:rPr lang="zh-CN" altLang="en-US" sz="1600" dirty="0"/>
              <a:t>：一个非常复杂的模型（比如</a:t>
            </a:r>
            <a:r>
              <a:rPr lang="en-US" altLang="zh-CN" sz="1600" dirty="0"/>
              <a:t>VLLM</a:t>
            </a:r>
            <a:r>
              <a:rPr lang="zh-CN" altLang="en-US" sz="1600" dirty="0"/>
              <a:t>）</a:t>
            </a:r>
          </a:p>
        </p:txBody>
      </p:sp>
      <p:sp>
        <p:nvSpPr>
          <p:cNvPr id="6" name="文本框 5">
            <a:extLst>
              <a:ext uri="{FF2B5EF4-FFF2-40B4-BE49-F238E27FC236}">
                <a16:creationId xmlns:a16="http://schemas.microsoft.com/office/drawing/2014/main" id="{98382FF0-1759-486C-25D8-302DD7177332}"/>
              </a:ext>
            </a:extLst>
          </p:cNvPr>
          <p:cNvSpPr txBox="1"/>
          <p:nvPr/>
        </p:nvSpPr>
        <p:spPr>
          <a:xfrm>
            <a:off x="6532826" y="2581835"/>
            <a:ext cx="4830378" cy="923330"/>
          </a:xfrm>
          <a:prstGeom prst="rect">
            <a:avLst/>
          </a:prstGeom>
          <a:noFill/>
        </p:spPr>
        <p:txBody>
          <a:bodyPr wrap="square" rtlCol="0">
            <a:spAutoFit/>
          </a:bodyPr>
          <a:lstStyle/>
          <a:p>
            <a:r>
              <a:rPr lang="zh-CN" altLang="en-US" dirty="0"/>
              <a:t>门控网络作为 </a:t>
            </a:r>
            <a:r>
              <a:rPr lang="en-US" altLang="zh-CN" dirty="0" err="1"/>
              <a:t>MoE</a:t>
            </a:r>
            <a:r>
              <a:rPr lang="en-US" altLang="zh-CN" dirty="0"/>
              <a:t> </a:t>
            </a:r>
            <a:r>
              <a:rPr lang="zh-CN" altLang="en-US" dirty="0"/>
              <a:t>层的一部分存在于全局模型中，用于在推理和全局聚合时根据输入动态选择合适的专家。</a:t>
            </a:r>
          </a:p>
        </p:txBody>
      </p:sp>
    </p:spTree>
    <p:extLst>
      <p:ext uri="{BB962C8B-B14F-4D97-AF65-F5344CB8AC3E}">
        <p14:creationId xmlns:p14="http://schemas.microsoft.com/office/powerpoint/2010/main" val="1540615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7366</TotalTime>
  <Words>1724</Words>
  <Application>Microsoft Office PowerPoint</Application>
  <PresentationFormat>宽屏</PresentationFormat>
  <Paragraphs>120</Paragraphs>
  <Slides>10</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Aptos</vt:lpstr>
      <vt:lpstr>Aptos Display</vt:lpstr>
      <vt:lpstr>Arial</vt:lpstr>
      <vt:lpstr>Cambria Math</vt:lpstr>
      <vt:lpstr>Roboto</vt:lpstr>
      <vt:lpstr>等线</vt:lpstr>
      <vt:lpstr>新宋体</vt:lpstr>
      <vt:lpstr>Office Theme</vt:lpstr>
      <vt:lpstr>模态异构场景描述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Chang Dong</dc:creator>
  <cp:lastModifiedBy>畅 刘</cp:lastModifiedBy>
  <cp:revision>214</cp:revision>
  <dcterms:created xsi:type="dcterms:W3CDTF">2024-10-14T09:54:31Z</dcterms:created>
  <dcterms:modified xsi:type="dcterms:W3CDTF">2025-04-22T15:42:48Z</dcterms:modified>
</cp:coreProperties>
</file>